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7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4842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715"/>
  </p:normalViewPr>
  <p:slideViewPr>
    <p:cSldViewPr snapToGrid="0">
      <p:cViewPr varScale="1">
        <p:scale>
          <a:sx n="122" d="100"/>
          <a:sy n="122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6C936-A573-4A1D-8E28-9F83C49DAD5A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8346C-2E7F-40E5-B3E7-463CCE25369A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8346C-2E7F-40E5-B3E7-463CCE25369A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-form: Shape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ree-form: Shape 5"/>
          <p:cNvSpPr/>
          <p:nvPr/>
        </p:nvSpPr>
        <p:spPr>
          <a:xfrm>
            <a:off x="952200" y="100944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0"/>
                </a:moveTo>
                <a:lnTo>
                  <a:pt x="2118" y="0"/>
                </a:lnTo>
                <a:lnTo>
                  <a:pt x="211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2560" y="1469160"/>
            <a:ext cx="4673160" cy="63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5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Exploring Molecular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60" y="2183400"/>
            <a:ext cx="6346440" cy="63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Crossroads Between 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60" y="2898000"/>
            <a:ext cx="5355720" cy="63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and Neurodegenerative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60" y="3612240"/>
            <a:ext cx="2221560" cy="63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Disorders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60" y="4538520"/>
            <a:ext cx="4708212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1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Through R-Driven Omics Data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60" y="4843440"/>
            <a:ext cx="3211007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1" u="none" strike="noStrike" dirty="0">
                <a:solidFill>
                  <a:srgbClr val="0070C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and Biomarker Identification</a:t>
            </a:r>
          </a:p>
        </p:txBody>
      </p:sp>
      <p:sp>
        <p:nvSpPr>
          <p:cNvPr id="15" name="Free-form: Shape 14"/>
          <p:cNvSpPr/>
          <p:nvPr/>
        </p:nvSpPr>
        <p:spPr>
          <a:xfrm>
            <a:off x="952200" y="5895720"/>
            <a:ext cx="10287360" cy="10080"/>
          </a:xfrm>
          <a:custGeom>
            <a:avLst/>
            <a:gdLst/>
            <a:ahLst/>
            <a:cxnLst/>
            <a:rect l="0" t="0" r="r" b="b"/>
            <a:pathLst>
              <a:path w="28576" h="28">
                <a:moveTo>
                  <a:pt x="0" y="0"/>
                </a:moveTo>
                <a:lnTo>
                  <a:pt x="28576" y="0"/>
                </a:lnTo>
                <a:lnTo>
                  <a:pt x="285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2200" y="5539881"/>
            <a:ext cx="975497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Anupama Satyarthi, Amit Kumar, 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Rihab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Bensalek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, Hammed 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Sheriffdeen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Oladimeji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, Esha Shahbaz, Yusuf Munir Aliyu</a:t>
            </a:r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02760" y="60832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AED5-8503-CD4E-95E8-B0C197353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159" y="3232944"/>
            <a:ext cx="3510601" cy="20405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CC73B2-4358-8444-8662-859300A13B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9" t="6758" r="5075" b="5529"/>
          <a:stretch/>
        </p:blipFill>
        <p:spPr>
          <a:xfrm>
            <a:off x="7592159" y="615752"/>
            <a:ext cx="3510602" cy="22822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CBDA60-0461-6D4E-B0DE-744D5578393A}"/>
              </a:ext>
            </a:extLst>
          </p:cNvPr>
          <p:cNvSpPr txBox="1"/>
          <p:nvPr/>
        </p:nvSpPr>
        <p:spPr>
          <a:xfrm>
            <a:off x="9774620" y="2131948"/>
            <a:ext cx="118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Neurodegenerative Disorders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-form: Shape 18"/>
          <p:cNvSpPr/>
          <p:nvPr/>
        </p:nvSpPr>
        <p:spPr>
          <a:xfrm>
            <a:off x="8280" y="15375"/>
            <a:ext cx="12192120" cy="637385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Free-form: Shape 20"/>
          <p:cNvSpPr/>
          <p:nvPr/>
        </p:nvSpPr>
        <p:spPr>
          <a:xfrm>
            <a:off x="571320" y="110484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Free-form: Shape 21"/>
          <p:cNvSpPr/>
          <p:nvPr>
            <p:custDataLst>
              <p:tags r:id="rId1"/>
            </p:custDataLst>
          </p:nvPr>
        </p:nvSpPr>
        <p:spPr>
          <a:xfrm>
            <a:off x="571320" y="1902937"/>
            <a:ext cx="609840" cy="609840"/>
          </a:xfrm>
          <a:custGeom>
            <a:avLst/>
            <a:gdLst/>
            <a:ahLst/>
            <a:cxnLst/>
            <a:rect l="0" t="0" r="r" b="b"/>
            <a:pathLst>
              <a:path w="1694" h="1694">
                <a:moveTo>
                  <a:pt x="0" y="1483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483" y="0"/>
                </a:lnTo>
                <a:cubicBezTo>
                  <a:pt x="1497" y="0"/>
                  <a:pt x="1510" y="1"/>
                  <a:pt x="1524" y="4"/>
                </a:cubicBezTo>
                <a:cubicBezTo>
                  <a:pt x="1538" y="7"/>
                  <a:pt x="1551" y="11"/>
                  <a:pt x="1564" y="16"/>
                </a:cubicBezTo>
                <a:cubicBezTo>
                  <a:pt x="1577" y="22"/>
                  <a:pt x="1589" y="28"/>
                  <a:pt x="1600" y="36"/>
                </a:cubicBezTo>
                <a:cubicBezTo>
                  <a:pt x="1612" y="44"/>
                  <a:pt x="1623" y="52"/>
                  <a:pt x="1632" y="62"/>
                </a:cubicBezTo>
                <a:cubicBezTo>
                  <a:pt x="1642" y="72"/>
                  <a:pt x="1651" y="83"/>
                  <a:pt x="1659" y="94"/>
                </a:cubicBezTo>
                <a:cubicBezTo>
                  <a:pt x="1666" y="106"/>
                  <a:pt x="1673" y="118"/>
                  <a:pt x="1678" y="131"/>
                </a:cubicBezTo>
                <a:cubicBezTo>
                  <a:pt x="1684" y="144"/>
                  <a:pt x="1688" y="157"/>
                  <a:pt x="1690" y="170"/>
                </a:cubicBezTo>
                <a:cubicBezTo>
                  <a:pt x="1693" y="184"/>
                  <a:pt x="1694" y="198"/>
                  <a:pt x="1694" y="212"/>
                </a:cubicBezTo>
                <a:lnTo>
                  <a:pt x="1694" y="1483"/>
                </a:lnTo>
                <a:cubicBezTo>
                  <a:pt x="1694" y="1497"/>
                  <a:pt x="1693" y="1510"/>
                  <a:pt x="1690" y="1524"/>
                </a:cubicBezTo>
                <a:cubicBezTo>
                  <a:pt x="1688" y="1538"/>
                  <a:pt x="1684" y="1551"/>
                  <a:pt x="1678" y="1564"/>
                </a:cubicBezTo>
                <a:cubicBezTo>
                  <a:pt x="1673" y="1577"/>
                  <a:pt x="1666" y="1589"/>
                  <a:pt x="1659" y="1600"/>
                </a:cubicBezTo>
                <a:cubicBezTo>
                  <a:pt x="1651" y="1612"/>
                  <a:pt x="1642" y="1623"/>
                  <a:pt x="1632" y="1632"/>
                </a:cubicBezTo>
                <a:cubicBezTo>
                  <a:pt x="1623" y="1642"/>
                  <a:pt x="1612" y="1651"/>
                  <a:pt x="1600" y="1659"/>
                </a:cubicBezTo>
                <a:cubicBezTo>
                  <a:pt x="1589" y="1667"/>
                  <a:pt x="1577" y="1673"/>
                  <a:pt x="1564" y="1678"/>
                </a:cubicBezTo>
                <a:cubicBezTo>
                  <a:pt x="1551" y="1684"/>
                  <a:pt x="1538" y="1688"/>
                  <a:pt x="1524" y="1690"/>
                </a:cubicBezTo>
                <a:cubicBezTo>
                  <a:pt x="1510" y="1693"/>
                  <a:pt x="1497" y="1694"/>
                  <a:pt x="1483" y="1694"/>
                </a:cubicBezTo>
                <a:lnTo>
                  <a:pt x="212" y="1694"/>
                </a:lnTo>
                <a:cubicBezTo>
                  <a:pt x="198" y="1694"/>
                  <a:pt x="184" y="1693"/>
                  <a:pt x="170" y="1690"/>
                </a:cubicBezTo>
                <a:cubicBezTo>
                  <a:pt x="157" y="1688"/>
                  <a:pt x="144" y="1684"/>
                  <a:pt x="131" y="1678"/>
                </a:cubicBezTo>
                <a:cubicBezTo>
                  <a:pt x="118" y="1673"/>
                  <a:pt x="106" y="1667"/>
                  <a:pt x="94" y="1659"/>
                </a:cubicBezTo>
                <a:cubicBezTo>
                  <a:pt x="83" y="1651"/>
                  <a:pt x="72" y="1642"/>
                  <a:pt x="62" y="1632"/>
                </a:cubicBezTo>
                <a:cubicBezTo>
                  <a:pt x="52" y="1623"/>
                  <a:pt x="43" y="1612"/>
                  <a:pt x="36" y="1600"/>
                </a:cubicBezTo>
                <a:cubicBezTo>
                  <a:pt x="28" y="1589"/>
                  <a:pt x="21" y="1577"/>
                  <a:pt x="16" y="1564"/>
                </a:cubicBezTo>
                <a:cubicBezTo>
                  <a:pt x="11" y="1551"/>
                  <a:pt x="7" y="1538"/>
                  <a:pt x="4" y="1524"/>
                </a:cubicBezTo>
                <a:cubicBezTo>
                  <a:pt x="1" y="1510"/>
                  <a:pt x="0" y="1497"/>
                  <a:pt x="0" y="1483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1320" y="569160"/>
            <a:ext cx="2912849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Table of Contents</a:t>
            </a:r>
          </a:p>
        </p:txBody>
      </p:sp>
      <p:sp>
        <p:nvSpPr>
          <p:cNvPr id="24" name="TextBox 23"/>
          <p:cNvSpPr txBox="1"/>
          <p:nvPr>
            <p:custDataLst>
              <p:tags r:id="rId2"/>
            </p:custDataLst>
          </p:nvPr>
        </p:nvSpPr>
        <p:spPr>
          <a:xfrm>
            <a:off x="763920" y="2079337"/>
            <a:ext cx="256480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01</a:t>
            </a:r>
          </a:p>
        </p:txBody>
      </p:sp>
      <p:sp>
        <p:nvSpPr>
          <p:cNvPr id="25" name="TextBox 24"/>
          <p:cNvSpPr txBox="1"/>
          <p:nvPr>
            <p:custDataLst>
              <p:tags r:id="rId3"/>
            </p:custDataLst>
          </p:nvPr>
        </p:nvSpPr>
        <p:spPr>
          <a:xfrm>
            <a:off x="1409760" y="1900080"/>
            <a:ext cx="3956596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1" u="none" strike="noStrike" dirty="0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Introduction &amp; Disease Background</a:t>
            </a:r>
          </a:p>
        </p:txBody>
      </p:sp>
      <p:sp>
        <p:nvSpPr>
          <p:cNvPr id="26" name="Free-form: Shape 25"/>
          <p:cNvSpPr/>
          <p:nvPr>
            <p:custDataLst>
              <p:tags r:id="rId4"/>
            </p:custDataLst>
          </p:nvPr>
        </p:nvSpPr>
        <p:spPr>
          <a:xfrm>
            <a:off x="567000" y="2838217"/>
            <a:ext cx="609840" cy="609840"/>
          </a:xfrm>
          <a:custGeom>
            <a:avLst/>
            <a:gdLst/>
            <a:ahLst/>
            <a:cxnLst/>
            <a:rect l="0" t="0" r="r" b="b"/>
            <a:pathLst>
              <a:path w="1694" h="1694">
                <a:moveTo>
                  <a:pt x="0" y="1483"/>
                </a:moveTo>
                <a:lnTo>
                  <a:pt x="0" y="213"/>
                </a:ln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5"/>
                  <a:pt x="16" y="132"/>
                </a:cubicBezTo>
                <a:cubicBezTo>
                  <a:pt x="21" y="119"/>
                  <a:pt x="28" y="107"/>
                  <a:pt x="36" y="95"/>
                </a:cubicBezTo>
                <a:cubicBezTo>
                  <a:pt x="43" y="84"/>
                  <a:pt x="52" y="73"/>
                  <a:pt x="62" y="63"/>
                </a:cubicBezTo>
                <a:cubicBezTo>
                  <a:pt x="72" y="53"/>
                  <a:pt x="83" y="44"/>
                  <a:pt x="94" y="37"/>
                </a:cubicBezTo>
                <a:cubicBezTo>
                  <a:pt x="106" y="29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483" y="0"/>
                </a:lnTo>
                <a:cubicBezTo>
                  <a:pt x="1497" y="0"/>
                  <a:pt x="1510" y="1"/>
                  <a:pt x="1524" y="4"/>
                </a:cubicBezTo>
                <a:cubicBezTo>
                  <a:pt x="1538" y="7"/>
                  <a:pt x="1551" y="11"/>
                  <a:pt x="1564" y="16"/>
                </a:cubicBezTo>
                <a:cubicBezTo>
                  <a:pt x="1577" y="21"/>
                  <a:pt x="1589" y="29"/>
                  <a:pt x="1600" y="37"/>
                </a:cubicBezTo>
                <a:cubicBezTo>
                  <a:pt x="1612" y="44"/>
                  <a:pt x="1623" y="53"/>
                  <a:pt x="1632" y="63"/>
                </a:cubicBezTo>
                <a:cubicBezTo>
                  <a:pt x="1642" y="73"/>
                  <a:pt x="1651" y="84"/>
                  <a:pt x="1659" y="95"/>
                </a:cubicBezTo>
                <a:cubicBezTo>
                  <a:pt x="1666" y="107"/>
                  <a:pt x="1673" y="119"/>
                  <a:pt x="1678" y="132"/>
                </a:cubicBezTo>
                <a:cubicBezTo>
                  <a:pt x="1684" y="145"/>
                  <a:pt x="1688" y="158"/>
                  <a:pt x="1690" y="171"/>
                </a:cubicBezTo>
                <a:cubicBezTo>
                  <a:pt x="1693" y="185"/>
                  <a:pt x="1694" y="199"/>
                  <a:pt x="1694" y="213"/>
                </a:cubicBezTo>
                <a:lnTo>
                  <a:pt x="1694" y="1483"/>
                </a:lnTo>
                <a:cubicBezTo>
                  <a:pt x="1694" y="1497"/>
                  <a:pt x="1693" y="1510"/>
                  <a:pt x="1690" y="1524"/>
                </a:cubicBezTo>
                <a:cubicBezTo>
                  <a:pt x="1688" y="1538"/>
                  <a:pt x="1684" y="1551"/>
                  <a:pt x="1678" y="1564"/>
                </a:cubicBezTo>
                <a:cubicBezTo>
                  <a:pt x="1673" y="1577"/>
                  <a:pt x="1666" y="1589"/>
                  <a:pt x="1659" y="1600"/>
                </a:cubicBezTo>
                <a:cubicBezTo>
                  <a:pt x="1651" y="1612"/>
                  <a:pt x="1642" y="1623"/>
                  <a:pt x="1632" y="1632"/>
                </a:cubicBezTo>
                <a:cubicBezTo>
                  <a:pt x="1623" y="1642"/>
                  <a:pt x="1612" y="1651"/>
                  <a:pt x="1600" y="1659"/>
                </a:cubicBezTo>
                <a:cubicBezTo>
                  <a:pt x="1589" y="1666"/>
                  <a:pt x="1577" y="1673"/>
                  <a:pt x="1564" y="1678"/>
                </a:cubicBezTo>
                <a:cubicBezTo>
                  <a:pt x="1551" y="1684"/>
                  <a:pt x="1538" y="1688"/>
                  <a:pt x="1524" y="1690"/>
                </a:cubicBezTo>
                <a:cubicBezTo>
                  <a:pt x="1510" y="1693"/>
                  <a:pt x="1497" y="1694"/>
                  <a:pt x="1483" y="1694"/>
                </a:cubicBezTo>
                <a:lnTo>
                  <a:pt x="212" y="1694"/>
                </a:lnTo>
                <a:cubicBezTo>
                  <a:pt x="198" y="1694"/>
                  <a:pt x="184" y="1693"/>
                  <a:pt x="170" y="1690"/>
                </a:cubicBezTo>
                <a:cubicBezTo>
                  <a:pt x="157" y="1688"/>
                  <a:pt x="144" y="1684"/>
                  <a:pt x="131" y="1678"/>
                </a:cubicBezTo>
                <a:cubicBezTo>
                  <a:pt x="118" y="1673"/>
                  <a:pt x="106" y="1666"/>
                  <a:pt x="94" y="1659"/>
                </a:cubicBezTo>
                <a:cubicBezTo>
                  <a:pt x="83" y="1651"/>
                  <a:pt x="72" y="1642"/>
                  <a:pt x="62" y="1632"/>
                </a:cubicBezTo>
                <a:cubicBezTo>
                  <a:pt x="52" y="1623"/>
                  <a:pt x="43" y="1612"/>
                  <a:pt x="36" y="1600"/>
                </a:cubicBezTo>
                <a:cubicBezTo>
                  <a:pt x="28" y="1589"/>
                  <a:pt x="21" y="1577"/>
                  <a:pt x="16" y="1564"/>
                </a:cubicBezTo>
                <a:cubicBezTo>
                  <a:pt x="11" y="1551"/>
                  <a:pt x="7" y="1538"/>
                  <a:pt x="4" y="1524"/>
                </a:cubicBezTo>
                <a:cubicBezTo>
                  <a:pt x="1" y="1510"/>
                  <a:pt x="0" y="1497"/>
                  <a:pt x="0" y="1483"/>
                </a:cubicBez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>
            <p:custDataLst>
              <p:tags r:id="rId5"/>
            </p:custDataLst>
          </p:nvPr>
        </p:nvSpPr>
        <p:spPr>
          <a:xfrm>
            <a:off x="1409760" y="2292480"/>
            <a:ext cx="9114675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Research context, lung cancer anatomy and mechanisms, Huntington's disease pathology</a:t>
            </a:r>
          </a:p>
        </p:txBody>
      </p:sp>
      <p:sp>
        <p:nvSpPr>
          <p:cNvPr id="28" name="TextBox 27"/>
          <p:cNvSpPr txBox="1"/>
          <p:nvPr>
            <p:custDataLst>
              <p:tags r:id="rId6"/>
            </p:custDataLst>
          </p:nvPr>
        </p:nvSpPr>
        <p:spPr>
          <a:xfrm>
            <a:off x="745200" y="3014617"/>
            <a:ext cx="256480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02</a:t>
            </a:r>
          </a:p>
        </p:txBody>
      </p:sp>
      <p:sp>
        <p:nvSpPr>
          <p:cNvPr id="29" name="TextBox 28"/>
          <p:cNvSpPr txBox="1"/>
          <p:nvPr>
            <p:custDataLst>
              <p:tags r:id="rId7"/>
            </p:custDataLst>
          </p:nvPr>
        </p:nvSpPr>
        <p:spPr>
          <a:xfrm>
            <a:off x="1409760" y="2833560"/>
            <a:ext cx="2660985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1" u="none" strike="noStrike" dirty="0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Methodology &amp; Pipeline</a:t>
            </a:r>
          </a:p>
        </p:txBody>
      </p:sp>
      <p:sp>
        <p:nvSpPr>
          <p:cNvPr id="30" name="Free-form: Shape 29"/>
          <p:cNvSpPr/>
          <p:nvPr>
            <p:custDataLst>
              <p:tags r:id="rId8"/>
            </p:custDataLst>
          </p:nvPr>
        </p:nvSpPr>
        <p:spPr>
          <a:xfrm>
            <a:off x="572040" y="3771697"/>
            <a:ext cx="609840" cy="609840"/>
          </a:xfrm>
          <a:custGeom>
            <a:avLst/>
            <a:gdLst/>
            <a:ahLst/>
            <a:cxnLst/>
            <a:rect l="0" t="0" r="r" b="b"/>
            <a:pathLst>
              <a:path w="1694" h="1694">
                <a:moveTo>
                  <a:pt x="0" y="1483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483" y="0"/>
                </a:lnTo>
                <a:cubicBezTo>
                  <a:pt x="1497" y="0"/>
                  <a:pt x="1510" y="1"/>
                  <a:pt x="1524" y="4"/>
                </a:cubicBezTo>
                <a:cubicBezTo>
                  <a:pt x="1538" y="7"/>
                  <a:pt x="1551" y="11"/>
                  <a:pt x="1564" y="16"/>
                </a:cubicBezTo>
                <a:cubicBezTo>
                  <a:pt x="1577" y="21"/>
                  <a:pt x="1589" y="28"/>
                  <a:pt x="1600" y="36"/>
                </a:cubicBezTo>
                <a:cubicBezTo>
                  <a:pt x="1612" y="43"/>
                  <a:pt x="1623" y="52"/>
                  <a:pt x="1632" y="62"/>
                </a:cubicBezTo>
                <a:cubicBezTo>
                  <a:pt x="1642" y="72"/>
                  <a:pt x="1651" y="82"/>
                  <a:pt x="1659" y="94"/>
                </a:cubicBezTo>
                <a:cubicBezTo>
                  <a:pt x="1666" y="106"/>
                  <a:pt x="1673" y="118"/>
                  <a:pt x="1678" y="131"/>
                </a:cubicBezTo>
                <a:cubicBezTo>
                  <a:pt x="1684" y="143"/>
                  <a:pt x="1688" y="157"/>
                  <a:pt x="1690" y="170"/>
                </a:cubicBezTo>
                <a:cubicBezTo>
                  <a:pt x="1693" y="184"/>
                  <a:pt x="1694" y="198"/>
                  <a:pt x="1694" y="212"/>
                </a:cubicBezTo>
                <a:lnTo>
                  <a:pt x="1694" y="1483"/>
                </a:lnTo>
                <a:cubicBezTo>
                  <a:pt x="1694" y="1497"/>
                  <a:pt x="1693" y="1510"/>
                  <a:pt x="1690" y="1524"/>
                </a:cubicBezTo>
                <a:cubicBezTo>
                  <a:pt x="1688" y="1538"/>
                  <a:pt x="1684" y="1551"/>
                  <a:pt x="1678" y="1564"/>
                </a:cubicBezTo>
                <a:cubicBezTo>
                  <a:pt x="1673" y="1576"/>
                  <a:pt x="1666" y="1589"/>
                  <a:pt x="1659" y="1600"/>
                </a:cubicBezTo>
                <a:cubicBezTo>
                  <a:pt x="1651" y="1612"/>
                  <a:pt x="1642" y="1622"/>
                  <a:pt x="1632" y="1632"/>
                </a:cubicBezTo>
                <a:cubicBezTo>
                  <a:pt x="1623" y="1642"/>
                  <a:pt x="1612" y="1651"/>
                  <a:pt x="1600" y="1659"/>
                </a:cubicBezTo>
                <a:cubicBezTo>
                  <a:pt x="1589" y="1666"/>
                  <a:pt x="1577" y="1673"/>
                  <a:pt x="1564" y="1678"/>
                </a:cubicBezTo>
                <a:cubicBezTo>
                  <a:pt x="1551" y="1683"/>
                  <a:pt x="1538" y="1688"/>
                  <a:pt x="1524" y="1690"/>
                </a:cubicBezTo>
                <a:cubicBezTo>
                  <a:pt x="1510" y="1693"/>
                  <a:pt x="1497" y="1694"/>
                  <a:pt x="1483" y="1694"/>
                </a:cubicBezTo>
                <a:lnTo>
                  <a:pt x="212" y="1694"/>
                </a:lnTo>
                <a:cubicBezTo>
                  <a:pt x="198" y="1694"/>
                  <a:pt x="184" y="1693"/>
                  <a:pt x="170" y="1690"/>
                </a:cubicBezTo>
                <a:cubicBezTo>
                  <a:pt x="157" y="1688"/>
                  <a:pt x="144" y="1683"/>
                  <a:pt x="131" y="1678"/>
                </a:cubicBezTo>
                <a:cubicBezTo>
                  <a:pt x="118" y="1673"/>
                  <a:pt x="106" y="1666"/>
                  <a:pt x="94" y="1659"/>
                </a:cubicBezTo>
                <a:cubicBezTo>
                  <a:pt x="83" y="1651"/>
                  <a:pt x="72" y="1642"/>
                  <a:pt x="62" y="1632"/>
                </a:cubicBezTo>
                <a:cubicBezTo>
                  <a:pt x="52" y="1622"/>
                  <a:pt x="43" y="1612"/>
                  <a:pt x="36" y="1600"/>
                </a:cubicBezTo>
                <a:cubicBezTo>
                  <a:pt x="28" y="1589"/>
                  <a:pt x="21" y="1576"/>
                  <a:pt x="16" y="1564"/>
                </a:cubicBezTo>
                <a:cubicBezTo>
                  <a:pt x="11" y="1551"/>
                  <a:pt x="7" y="1538"/>
                  <a:pt x="4" y="1524"/>
                </a:cubicBezTo>
                <a:cubicBezTo>
                  <a:pt x="1" y="1510"/>
                  <a:pt x="0" y="1497"/>
                  <a:pt x="0" y="1483"/>
                </a:cubicBez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>
            <p:custDataLst>
              <p:tags r:id="rId9"/>
            </p:custDataLst>
          </p:nvPr>
        </p:nvSpPr>
        <p:spPr>
          <a:xfrm>
            <a:off x="1409760" y="3225600"/>
            <a:ext cx="8841523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Automated bioinformatics workflow, data processing steps, quality control procedures</a:t>
            </a:r>
          </a:p>
        </p:txBody>
      </p:sp>
      <p:sp>
        <p:nvSpPr>
          <p:cNvPr id="32" name="TextBox 31"/>
          <p:cNvSpPr txBox="1"/>
          <p:nvPr>
            <p:custDataLst>
              <p:tags r:id="rId10"/>
            </p:custDataLst>
          </p:nvPr>
        </p:nvSpPr>
        <p:spPr>
          <a:xfrm>
            <a:off x="753480" y="3948097"/>
            <a:ext cx="256480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03</a:t>
            </a:r>
          </a:p>
        </p:txBody>
      </p:sp>
      <p:sp>
        <p:nvSpPr>
          <p:cNvPr id="33" name="TextBox 32"/>
          <p:cNvSpPr txBox="1"/>
          <p:nvPr>
            <p:custDataLst>
              <p:tags r:id="rId11"/>
            </p:custDataLst>
          </p:nvPr>
        </p:nvSpPr>
        <p:spPr>
          <a:xfrm>
            <a:off x="1409760" y="3767040"/>
            <a:ext cx="2048894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1" u="none" strike="noStrike" dirty="0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Results &amp; Analysis</a:t>
            </a:r>
          </a:p>
        </p:txBody>
      </p:sp>
      <p:sp>
        <p:nvSpPr>
          <p:cNvPr id="34" name="Free-form: Shape 33"/>
          <p:cNvSpPr/>
          <p:nvPr>
            <p:custDataLst>
              <p:tags r:id="rId12"/>
            </p:custDataLst>
          </p:nvPr>
        </p:nvSpPr>
        <p:spPr>
          <a:xfrm>
            <a:off x="567000" y="4755504"/>
            <a:ext cx="609840" cy="609840"/>
          </a:xfrm>
          <a:custGeom>
            <a:avLst/>
            <a:gdLst/>
            <a:ahLst/>
            <a:cxnLst/>
            <a:rect l="0" t="0" r="r" b="b"/>
            <a:pathLst>
              <a:path w="1694" h="1694">
                <a:moveTo>
                  <a:pt x="0" y="1482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483" y="0"/>
                </a:lnTo>
                <a:cubicBezTo>
                  <a:pt x="1497" y="0"/>
                  <a:pt x="1510" y="1"/>
                  <a:pt x="1524" y="4"/>
                </a:cubicBezTo>
                <a:cubicBezTo>
                  <a:pt x="1538" y="7"/>
                  <a:pt x="1551" y="11"/>
                  <a:pt x="1564" y="16"/>
                </a:cubicBezTo>
                <a:cubicBezTo>
                  <a:pt x="1577" y="21"/>
                  <a:pt x="1589" y="28"/>
                  <a:pt x="1600" y="36"/>
                </a:cubicBezTo>
                <a:cubicBezTo>
                  <a:pt x="1612" y="43"/>
                  <a:pt x="1623" y="52"/>
                  <a:pt x="1632" y="62"/>
                </a:cubicBezTo>
                <a:cubicBezTo>
                  <a:pt x="1642" y="72"/>
                  <a:pt x="1651" y="82"/>
                  <a:pt x="1659" y="94"/>
                </a:cubicBezTo>
                <a:cubicBezTo>
                  <a:pt x="1666" y="105"/>
                  <a:pt x="1673" y="118"/>
                  <a:pt x="1678" y="131"/>
                </a:cubicBezTo>
                <a:cubicBezTo>
                  <a:pt x="1684" y="143"/>
                  <a:pt x="1688" y="157"/>
                  <a:pt x="1690" y="170"/>
                </a:cubicBezTo>
                <a:cubicBezTo>
                  <a:pt x="1693" y="184"/>
                  <a:pt x="1694" y="198"/>
                  <a:pt x="1694" y="212"/>
                </a:cubicBezTo>
                <a:lnTo>
                  <a:pt x="1694" y="1482"/>
                </a:lnTo>
                <a:cubicBezTo>
                  <a:pt x="1694" y="1495"/>
                  <a:pt x="1693" y="1509"/>
                  <a:pt x="1690" y="1523"/>
                </a:cubicBezTo>
                <a:cubicBezTo>
                  <a:pt x="1688" y="1536"/>
                  <a:pt x="1684" y="1550"/>
                  <a:pt x="1678" y="1563"/>
                </a:cubicBezTo>
                <a:cubicBezTo>
                  <a:pt x="1673" y="1575"/>
                  <a:pt x="1666" y="1588"/>
                  <a:pt x="1659" y="1599"/>
                </a:cubicBezTo>
                <a:cubicBezTo>
                  <a:pt x="1651" y="1611"/>
                  <a:pt x="1642" y="1622"/>
                  <a:pt x="1632" y="1632"/>
                </a:cubicBezTo>
                <a:cubicBezTo>
                  <a:pt x="1623" y="1642"/>
                  <a:pt x="1612" y="1651"/>
                  <a:pt x="1600" y="1659"/>
                </a:cubicBezTo>
                <a:cubicBezTo>
                  <a:pt x="1589" y="1666"/>
                  <a:pt x="1577" y="1673"/>
                  <a:pt x="1564" y="1678"/>
                </a:cubicBezTo>
                <a:cubicBezTo>
                  <a:pt x="1551" y="1683"/>
                  <a:pt x="1538" y="1687"/>
                  <a:pt x="1524" y="1690"/>
                </a:cubicBezTo>
                <a:cubicBezTo>
                  <a:pt x="1510" y="1693"/>
                  <a:pt x="1497" y="1694"/>
                  <a:pt x="1483" y="1694"/>
                </a:cubicBezTo>
                <a:lnTo>
                  <a:pt x="212" y="1694"/>
                </a:lnTo>
                <a:cubicBezTo>
                  <a:pt x="198" y="1694"/>
                  <a:pt x="184" y="1693"/>
                  <a:pt x="170" y="1690"/>
                </a:cubicBezTo>
                <a:cubicBezTo>
                  <a:pt x="157" y="1687"/>
                  <a:pt x="144" y="1683"/>
                  <a:pt x="131" y="1678"/>
                </a:cubicBezTo>
                <a:cubicBezTo>
                  <a:pt x="118" y="1673"/>
                  <a:pt x="106" y="1666"/>
                  <a:pt x="94" y="1659"/>
                </a:cubicBezTo>
                <a:cubicBezTo>
                  <a:pt x="83" y="1651"/>
                  <a:pt x="72" y="1642"/>
                  <a:pt x="62" y="1632"/>
                </a:cubicBezTo>
                <a:cubicBezTo>
                  <a:pt x="52" y="1622"/>
                  <a:pt x="43" y="1611"/>
                  <a:pt x="36" y="1599"/>
                </a:cubicBezTo>
                <a:cubicBezTo>
                  <a:pt x="28" y="1588"/>
                  <a:pt x="21" y="1575"/>
                  <a:pt x="16" y="1563"/>
                </a:cubicBezTo>
                <a:cubicBezTo>
                  <a:pt x="11" y="1550"/>
                  <a:pt x="7" y="1536"/>
                  <a:pt x="4" y="1523"/>
                </a:cubicBezTo>
                <a:cubicBezTo>
                  <a:pt x="1" y="1509"/>
                  <a:pt x="0" y="1495"/>
                  <a:pt x="0" y="1482"/>
                </a:cubicBezTo>
                <a:close/>
              </a:path>
            </a:pathLst>
          </a:custGeom>
          <a:solidFill>
            <a:srgbClr val="2E5C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>
            <p:custDataLst>
              <p:tags r:id="rId13"/>
            </p:custDataLst>
          </p:nvPr>
        </p:nvSpPr>
        <p:spPr>
          <a:xfrm>
            <a:off x="1409760" y="4159080"/>
            <a:ext cx="9278630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Quality control metrics, PCA analysis, differential expression results, pathway comparison</a:t>
            </a:r>
          </a:p>
        </p:txBody>
      </p:sp>
      <p:sp>
        <p:nvSpPr>
          <p:cNvPr id="36" name="TextBox 35"/>
          <p:cNvSpPr txBox="1"/>
          <p:nvPr>
            <p:custDataLst>
              <p:tags r:id="rId14"/>
            </p:custDataLst>
          </p:nvPr>
        </p:nvSpPr>
        <p:spPr>
          <a:xfrm>
            <a:off x="740880" y="4931904"/>
            <a:ext cx="256480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04</a:t>
            </a:r>
          </a:p>
        </p:txBody>
      </p:sp>
      <p:sp>
        <p:nvSpPr>
          <p:cNvPr id="37" name="TextBox 36"/>
          <p:cNvSpPr txBox="1"/>
          <p:nvPr>
            <p:custDataLst>
              <p:tags r:id="rId15"/>
            </p:custDataLst>
          </p:nvPr>
        </p:nvSpPr>
        <p:spPr>
          <a:xfrm>
            <a:off x="1409760" y="4700520"/>
            <a:ext cx="3427605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1" u="none" strike="noStrike" dirty="0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Discussion &amp; Future Directions</a:t>
            </a:r>
          </a:p>
        </p:txBody>
      </p:sp>
      <p:sp>
        <p:nvSpPr>
          <p:cNvPr id="38" name="Free-form: Shape 37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>
            <p:custDataLst>
              <p:tags r:id="rId16"/>
            </p:custDataLst>
          </p:nvPr>
        </p:nvSpPr>
        <p:spPr>
          <a:xfrm>
            <a:off x="1409760" y="5092560"/>
            <a:ext cx="9257342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Pipeline performance, cross-disease insights, limitations, and future research opportunities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63120" y="6083280"/>
            <a:ext cx="159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-form: Shape 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Free-form: Shape 43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Free-form: Shape 44"/>
          <p:cNvSpPr/>
          <p:nvPr/>
        </p:nvSpPr>
        <p:spPr>
          <a:xfrm>
            <a:off x="222270" y="5225940"/>
            <a:ext cx="11747460" cy="933480"/>
          </a:xfrm>
          <a:custGeom>
            <a:avLst/>
            <a:gdLst/>
            <a:ahLst/>
            <a:cxnLst/>
            <a:rect l="0" t="0" r="r" b="b"/>
            <a:pathLst>
              <a:path w="26459" h="2593">
                <a:moveTo>
                  <a:pt x="0" y="2275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7" y="78"/>
                  <a:pt x="123" y="65"/>
                  <a:pt x="141" y="53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26141" y="0"/>
                </a:lnTo>
                <a:cubicBezTo>
                  <a:pt x="26162" y="0"/>
                  <a:pt x="26183" y="2"/>
                  <a:pt x="26203" y="6"/>
                </a:cubicBezTo>
                <a:cubicBezTo>
                  <a:pt x="26224" y="10"/>
                  <a:pt x="26244" y="16"/>
                  <a:pt x="26263" y="24"/>
                </a:cubicBezTo>
                <a:cubicBezTo>
                  <a:pt x="26282" y="32"/>
                  <a:pt x="26301" y="42"/>
                  <a:pt x="26318" y="53"/>
                </a:cubicBezTo>
                <a:cubicBezTo>
                  <a:pt x="26335" y="65"/>
                  <a:pt x="26351" y="78"/>
                  <a:pt x="26366" y="93"/>
                </a:cubicBezTo>
                <a:cubicBezTo>
                  <a:pt x="26381" y="107"/>
                  <a:pt x="26394" y="123"/>
                  <a:pt x="26405" y="141"/>
                </a:cubicBezTo>
                <a:cubicBezTo>
                  <a:pt x="26417" y="158"/>
                  <a:pt x="26427" y="176"/>
                  <a:pt x="26435" y="196"/>
                </a:cubicBezTo>
                <a:cubicBezTo>
                  <a:pt x="26443" y="215"/>
                  <a:pt x="26449" y="235"/>
                  <a:pt x="26453" y="255"/>
                </a:cubicBezTo>
                <a:cubicBezTo>
                  <a:pt x="26457" y="276"/>
                  <a:pt x="26459" y="296"/>
                  <a:pt x="26459" y="317"/>
                </a:cubicBezTo>
                <a:lnTo>
                  <a:pt x="26459" y="2275"/>
                </a:lnTo>
                <a:cubicBezTo>
                  <a:pt x="26459" y="2297"/>
                  <a:pt x="26457" y="2317"/>
                  <a:pt x="26453" y="2338"/>
                </a:cubicBezTo>
                <a:cubicBezTo>
                  <a:pt x="26449" y="2358"/>
                  <a:pt x="26443" y="2378"/>
                  <a:pt x="26435" y="2397"/>
                </a:cubicBezTo>
                <a:cubicBezTo>
                  <a:pt x="26427" y="2417"/>
                  <a:pt x="26417" y="2435"/>
                  <a:pt x="26405" y="2452"/>
                </a:cubicBezTo>
                <a:cubicBezTo>
                  <a:pt x="26394" y="2470"/>
                  <a:pt x="26381" y="2486"/>
                  <a:pt x="26366" y="2501"/>
                </a:cubicBezTo>
                <a:cubicBezTo>
                  <a:pt x="26351" y="2515"/>
                  <a:pt x="26335" y="2528"/>
                  <a:pt x="26318" y="2540"/>
                </a:cubicBezTo>
                <a:cubicBezTo>
                  <a:pt x="26301" y="2552"/>
                  <a:pt x="26282" y="2561"/>
                  <a:pt x="26263" y="2569"/>
                </a:cubicBezTo>
                <a:cubicBezTo>
                  <a:pt x="26244" y="2577"/>
                  <a:pt x="26224" y="2583"/>
                  <a:pt x="26203" y="2587"/>
                </a:cubicBezTo>
                <a:cubicBezTo>
                  <a:pt x="26183" y="2591"/>
                  <a:pt x="26162" y="2593"/>
                  <a:pt x="26141" y="2593"/>
                </a:cubicBezTo>
                <a:lnTo>
                  <a:pt x="317" y="2593"/>
                </a:lnTo>
                <a:cubicBezTo>
                  <a:pt x="296" y="2593"/>
                  <a:pt x="276" y="2591"/>
                  <a:pt x="255" y="2587"/>
                </a:cubicBezTo>
                <a:cubicBezTo>
                  <a:pt x="235" y="2583"/>
                  <a:pt x="215" y="2577"/>
                  <a:pt x="196" y="2569"/>
                </a:cubicBezTo>
                <a:cubicBezTo>
                  <a:pt x="176" y="2561"/>
                  <a:pt x="158" y="2552"/>
                  <a:pt x="141" y="2540"/>
                </a:cubicBezTo>
                <a:cubicBezTo>
                  <a:pt x="123" y="2528"/>
                  <a:pt x="107" y="2515"/>
                  <a:pt x="93" y="2501"/>
                </a:cubicBezTo>
                <a:cubicBezTo>
                  <a:pt x="78" y="2486"/>
                  <a:pt x="65" y="2470"/>
                  <a:pt x="53" y="2452"/>
                </a:cubicBezTo>
                <a:cubicBezTo>
                  <a:pt x="42" y="2435"/>
                  <a:pt x="32" y="2417"/>
                  <a:pt x="24" y="2397"/>
                </a:cubicBezTo>
                <a:cubicBezTo>
                  <a:pt x="16" y="2378"/>
                  <a:pt x="10" y="2358"/>
                  <a:pt x="6" y="2338"/>
                </a:cubicBezTo>
                <a:cubicBezTo>
                  <a:pt x="2" y="2317"/>
                  <a:pt x="0" y="2297"/>
                  <a:pt x="0" y="2275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1320" y="569160"/>
            <a:ext cx="5278689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Introduction - Research 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5650" y="1261401"/>
            <a:ext cx="328295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CORE RESEARCH QUESTION</a:t>
            </a:r>
          </a:p>
        </p:txBody>
      </p:sp>
      <p:sp>
        <p:nvSpPr>
          <p:cNvPr id="48" name="Free-form: Shape 47"/>
          <p:cNvSpPr/>
          <p:nvPr/>
        </p:nvSpPr>
        <p:spPr>
          <a:xfrm>
            <a:off x="241350" y="2270990"/>
            <a:ext cx="3688410" cy="2686320"/>
          </a:xfrm>
          <a:custGeom>
            <a:avLst/>
            <a:gdLst/>
            <a:ahLst/>
            <a:cxnLst/>
            <a:rect l="0" t="0" r="r" b="b"/>
            <a:pathLst>
              <a:path w="8335" h="7462">
                <a:moveTo>
                  <a:pt x="0" y="7250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6" y="94"/>
                </a:cubicBezTo>
                <a:cubicBezTo>
                  <a:pt x="32" y="82"/>
                  <a:pt x="39" y="71"/>
                  <a:pt x="46" y="62"/>
                </a:cubicBezTo>
                <a:cubicBezTo>
                  <a:pt x="53" y="52"/>
                  <a:pt x="61" y="43"/>
                  <a:pt x="70" y="35"/>
                </a:cubicBezTo>
                <a:cubicBezTo>
                  <a:pt x="79" y="28"/>
                  <a:pt x="88" y="21"/>
                  <a:pt x="98" y="16"/>
                </a:cubicBezTo>
                <a:cubicBezTo>
                  <a:pt x="107" y="10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8123" y="0"/>
                </a:lnTo>
                <a:cubicBezTo>
                  <a:pt x="8137" y="0"/>
                  <a:pt x="8151" y="1"/>
                  <a:pt x="8165" y="4"/>
                </a:cubicBezTo>
                <a:cubicBezTo>
                  <a:pt x="8178" y="6"/>
                  <a:pt x="8191" y="10"/>
                  <a:pt x="8204" y="16"/>
                </a:cubicBezTo>
                <a:cubicBezTo>
                  <a:pt x="8217" y="21"/>
                  <a:pt x="8229" y="28"/>
                  <a:pt x="8241" y="35"/>
                </a:cubicBezTo>
                <a:cubicBezTo>
                  <a:pt x="8252" y="43"/>
                  <a:pt x="8263" y="52"/>
                  <a:pt x="8273" y="62"/>
                </a:cubicBezTo>
                <a:cubicBezTo>
                  <a:pt x="8283" y="71"/>
                  <a:pt x="8292" y="82"/>
                  <a:pt x="8299" y="94"/>
                </a:cubicBezTo>
                <a:cubicBezTo>
                  <a:pt x="8307" y="105"/>
                  <a:pt x="8314" y="117"/>
                  <a:pt x="8319" y="130"/>
                </a:cubicBezTo>
                <a:cubicBezTo>
                  <a:pt x="8324" y="143"/>
                  <a:pt x="8328" y="156"/>
                  <a:pt x="8331" y="170"/>
                </a:cubicBezTo>
                <a:cubicBezTo>
                  <a:pt x="8334" y="184"/>
                  <a:pt x="8335" y="197"/>
                  <a:pt x="8335" y="211"/>
                </a:cubicBezTo>
                <a:lnTo>
                  <a:pt x="8335" y="7250"/>
                </a:lnTo>
                <a:cubicBezTo>
                  <a:pt x="8335" y="7264"/>
                  <a:pt x="8334" y="7278"/>
                  <a:pt x="8331" y="7292"/>
                </a:cubicBezTo>
                <a:cubicBezTo>
                  <a:pt x="8328" y="7305"/>
                  <a:pt x="8324" y="7318"/>
                  <a:pt x="8319" y="7331"/>
                </a:cubicBezTo>
                <a:cubicBezTo>
                  <a:pt x="8314" y="7344"/>
                  <a:pt x="8307" y="7356"/>
                  <a:pt x="8299" y="7368"/>
                </a:cubicBezTo>
                <a:cubicBezTo>
                  <a:pt x="8292" y="7379"/>
                  <a:pt x="8283" y="7390"/>
                  <a:pt x="8273" y="7400"/>
                </a:cubicBezTo>
                <a:cubicBezTo>
                  <a:pt x="8263" y="7410"/>
                  <a:pt x="8252" y="7419"/>
                  <a:pt x="8241" y="7426"/>
                </a:cubicBezTo>
                <a:cubicBezTo>
                  <a:pt x="8229" y="7434"/>
                  <a:pt x="8217" y="7440"/>
                  <a:pt x="8204" y="7446"/>
                </a:cubicBezTo>
                <a:cubicBezTo>
                  <a:pt x="8191" y="7451"/>
                  <a:pt x="8178" y="7455"/>
                  <a:pt x="8165" y="7458"/>
                </a:cubicBezTo>
                <a:cubicBezTo>
                  <a:pt x="8151" y="7461"/>
                  <a:pt x="8137" y="7462"/>
                  <a:pt x="8123" y="7462"/>
                </a:cubicBezTo>
                <a:lnTo>
                  <a:pt x="158" y="7462"/>
                </a:lnTo>
                <a:cubicBezTo>
                  <a:pt x="148" y="7462"/>
                  <a:pt x="138" y="7461"/>
                  <a:pt x="127" y="7458"/>
                </a:cubicBezTo>
                <a:cubicBezTo>
                  <a:pt x="117" y="7455"/>
                  <a:pt x="107" y="7451"/>
                  <a:pt x="98" y="7446"/>
                </a:cubicBezTo>
                <a:cubicBezTo>
                  <a:pt x="88" y="7440"/>
                  <a:pt x="79" y="7434"/>
                  <a:pt x="70" y="7426"/>
                </a:cubicBezTo>
                <a:cubicBezTo>
                  <a:pt x="61" y="7419"/>
                  <a:pt x="53" y="7410"/>
                  <a:pt x="46" y="7400"/>
                </a:cubicBezTo>
                <a:cubicBezTo>
                  <a:pt x="39" y="7390"/>
                  <a:pt x="32" y="7379"/>
                  <a:pt x="26" y="7368"/>
                </a:cubicBezTo>
                <a:cubicBezTo>
                  <a:pt x="21" y="7356"/>
                  <a:pt x="16" y="7344"/>
                  <a:pt x="12" y="7331"/>
                </a:cubicBezTo>
                <a:cubicBezTo>
                  <a:pt x="8" y="7318"/>
                  <a:pt x="5" y="7305"/>
                  <a:pt x="3" y="7292"/>
                </a:cubicBezTo>
                <a:cubicBezTo>
                  <a:pt x="1" y="7278"/>
                  <a:pt x="0" y="7264"/>
                  <a:pt x="0" y="72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Free-form: Shape 48"/>
          <p:cNvSpPr/>
          <p:nvPr/>
        </p:nvSpPr>
        <p:spPr>
          <a:xfrm>
            <a:off x="222270" y="2270990"/>
            <a:ext cx="76320" cy="2686320"/>
          </a:xfrm>
          <a:custGeom>
            <a:avLst/>
            <a:gdLst/>
            <a:ahLst/>
            <a:cxnLst/>
            <a:rect l="0" t="0" r="r" b="b"/>
            <a:pathLst>
              <a:path w="212" h="7462">
                <a:moveTo>
                  <a:pt x="0" y="0"/>
                </a:moveTo>
                <a:lnTo>
                  <a:pt x="212" y="0"/>
                </a:lnTo>
                <a:lnTo>
                  <a:pt x="212" y="7462"/>
                </a:lnTo>
                <a:lnTo>
                  <a:pt x="0" y="7462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Free-form: Shape 49"/>
          <p:cNvSpPr/>
          <p:nvPr/>
        </p:nvSpPr>
        <p:spPr>
          <a:xfrm>
            <a:off x="488670" y="249959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2"/>
                </a:lnTo>
                <a:cubicBezTo>
                  <a:pt x="0" y="198"/>
                  <a:pt x="2" y="185"/>
                  <a:pt x="5" y="171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2"/>
                  <a:pt x="53" y="71"/>
                  <a:pt x="62" y="62"/>
                </a:cubicBezTo>
                <a:cubicBezTo>
                  <a:pt x="72" y="52"/>
                  <a:pt x="83" y="43"/>
                  <a:pt x="95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1" y="4"/>
                </a:cubicBezTo>
                <a:cubicBezTo>
                  <a:pt x="185" y="1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6" y="1"/>
                  <a:pt x="1100" y="4"/>
                </a:cubicBezTo>
                <a:cubicBezTo>
                  <a:pt x="1114" y="6"/>
                  <a:pt x="1127" y="10"/>
                  <a:pt x="1140" y="16"/>
                </a:cubicBezTo>
                <a:cubicBezTo>
                  <a:pt x="1153" y="21"/>
                  <a:pt x="1165" y="28"/>
                  <a:pt x="1176" y="35"/>
                </a:cubicBezTo>
                <a:cubicBezTo>
                  <a:pt x="1188" y="43"/>
                  <a:pt x="1199" y="52"/>
                  <a:pt x="1209" y="62"/>
                </a:cubicBezTo>
                <a:cubicBezTo>
                  <a:pt x="1218" y="71"/>
                  <a:pt x="1227" y="82"/>
                  <a:pt x="1235" y="94"/>
                </a:cubicBezTo>
                <a:cubicBezTo>
                  <a:pt x="1243" y="106"/>
                  <a:pt x="1249" y="118"/>
                  <a:pt x="1254" y="131"/>
                </a:cubicBezTo>
                <a:cubicBezTo>
                  <a:pt x="1260" y="144"/>
                  <a:pt x="1264" y="157"/>
                  <a:pt x="1266" y="171"/>
                </a:cubicBezTo>
                <a:cubicBezTo>
                  <a:pt x="1270" y="185"/>
                  <a:pt x="1271" y="198"/>
                  <a:pt x="1271" y="212"/>
                </a:cubicBezTo>
                <a:lnTo>
                  <a:pt x="1271" y="1059"/>
                </a:lnTo>
                <a:cubicBezTo>
                  <a:pt x="1271" y="1073"/>
                  <a:pt x="1270" y="1087"/>
                  <a:pt x="1266" y="1100"/>
                </a:cubicBezTo>
                <a:cubicBezTo>
                  <a:pt x="1264" y="1114"/>
                  <a:pt x="1260" y="1127"/>
                  <a:pt x="1254" y="1140"/>
                </a:cubicBezTo>
                <a:cubicBezTo>
                  <a:pt x="1249" y="1153"/>
                  <a:pt x="1243" y="1165"/>
                  <a:pt x="1235" y="1177"/>
                </a:cubicBezTo>
                <a:cubicBezTo>
                  <a:pt x="1227" y="1188"/>
                  <a:pt x="1218" y="1199"/>
                  <a:pt x="1209" y="1209"/>
                </a:cubicBezTo>
                <a:cubicBezTo>
                  <a:pt x="1199" y="1218"/>
                  <a:pt x="1188" y="1227"/>
                  <a:pt x="1176" y="1235"/>
                </a:cubicBezTo>
                <a:cubicBezTo>
                  <a:pt x="1165" y="1243"/>
                  <a:pt x="1153" y="1249"/>
                  <a:pt x="1140" y="1255"/>
                </a:cubicBezTo>
                <a:cubicBezTo>
                  <a:pt x="1127" y="1260"/>
                  <a:pt x="1114" y="1264"/>
                  <a:pt x="1100" y="1267"/>
                </a:cubicBezTo>
                <a:cubicBezTo>
                  <a:pt x="1086" y="1269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5" y="1269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49"/>
                  <a:pt x="106" y="1243"/>
                  <a:pt x="95" y="1235"/>
                </a:cubicBezTo>
                <a:cubicBezTo>
                  <a:pt x="83" y="1227"/>
                  <a:pt x="72" y="1218"/>
                  <a:pt x="62" y="1209"/>
                </a:cubicBezTo>
                <a:cubicBezTo>
                  <a:pt x="53" y="1199"/>
                  <a:pt x="44" y="1188"/>
                  <a:pt x="36" y="1177"/>
                </a:cubicBezTo>
                <a:cubicBezTo>
                  <a:pt x="28" y="1165"/>
                  <a:pt x="22" y="1153"/>
                  <a:pt x="17" y="1140"/>
                </a:cubicBezTo>
                <a:cubicBezTo>
                  <a:pt x="11" y="1127"/>
                  <a:pt x="7" y="1114"/>
                  <a:pt x="5" y="1100"/>
                </a:cubicBezTo>
                <a:cubicBezTo>
                  <a:pt x="2" y="1087"/>
                  <a:pt x="0" y="1073"/>
                  <a:pt x="0" y="1059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989979" y="1623570"/>
            <a:ext cx="6158737" cy="3077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Why study cancer and neurodegenerative diseases together?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774" y="2578499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DA775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030" y="3146150"/>
            <a:ext cx="193488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Molecular Crossroads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030" y="3525230"/>
            <a:ext cx="334976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Despite different clinical manifestations,</a:t>
            </a:r>
          </a:p>
        </p:txBody>
      </p:sp>
      <p:sp>
        <p:nvSpPr>
          <p:cNvPr id="55" name="Free-form: Shape 54"/>
          <p:cNvSpPr/>
          <p:nvPr/>
        </p:nvSpPr>
        <p:spPr>
          <a:xfrm>
            <a:off x="1599840" y="4000320"/>
            <a:ext cx="1877040" cy="162360"/>
          </a:xfrm>
          <a:custGeom>
            <a:avLst/>
            <a:gdLst/>
            <a:ahLst/>
            <a:cxnLst/>
            <a:rect l="0" t="0" r="r" b="b"/>
            <a:pathLst>
              <a:path w="5214" h="451">
                <a:moveTo>
                  <a:pt x="0" y="0"/>
                </a:moveTo>
                <a:lnTo>
                  <a:pt x="5214" y="0"/>
                </a:lnTo>
                <a:lnTo>
                  <a:pt x="5214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9030" y="3772910"/>
            <a:ext cx="295273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cancer and neurodegeneration share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030" y="4020590"/>
            <a:ext cx="326211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common molecular pathways involving</a:t>
            </a:r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9030" y="4268270"/>
            <a:ext cx="315631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cell survival, protein homeostasis, and</a:t>
            </a:r>
          </a:p>
        </p:txBody>
      </p:sp>
      <p:sp>
        <p:nvSpPr>
          <p:cNvPr id="59" name="Free-form: Shape 58"/>
          <p:cNvSpPr/>
          <p:nvPr/>
        </p:nvSpPr>
        <p:spPr>
          <a:xfrm>
            <a:off x="4079568" y="2247840"/>
            <a:ext cx="3568991" cy="2686320"/>
          </a:xfrm>
          <a:custGeom>
            <a:avLst/>
            <a:gdLst/>
            <a:ahLst/>
            <a:cxnLst/>
            <a:rect l="0" t="0" r="r" b="b"/>
            <a:pathLst>
              <a:path w="8362" h="7462">
                <a:moveTo>
                  <a:pt x="0" y="7250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7" y="94"/>
                </a:cubicBezTo>
                <a:cubicBezTo>
                  <a:pt x="32" y="82"/>
                  <a:pt x="39" y="71"/>
                  <a:pt x="46" y="62"/>
                </a:cubicBezTo>
                <a:cubicBezTo>
                  <a:pt x="54" y="52"/>
                  <a:pt x="62" y="43"/>
                  <a:pt x="70" y="35"/>
                </a:cubicBezTo>
                <a:cubicBezTo>
                  <a:pt x="79" y="28"/>
                  <a:pt x="88" y="21"/>
                  <a:pt x="98" y="16"/>
                </a:cubicBezTo>
                <a:cubicBezTo>
                  <a:pt x="108" y="10"/>
                  <a:pt x="117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8150" y="0"/>
                </a:lnTo>
                <a:cubicBezTo>
                  <a:pt x="8164" y="0"/>
                  <a:pt x="8178" y="1"/>
                  <a:pt x="8191" y="4"/>
                </a:cubicBezTo>
                <a:cubicBezTo>
                  <a:pt x="8205" y="6"/>
                  <a:pt x="8218" y="10"/>
                  <a:pt x="8231" y="16"/>
                </a:cubicBezTo>
                <a:cubicBezTo>
                  <a:pt x="8244" y="21"/>
                  <a:pt x="8256" y="28"/>
                  <a:pt x="8268" y="35"/>
                </a:cubicBezTo>
                <a:cubicBezTo>
                  <a:pt x="8279" y="43"/>
                  <a:pt x="8290" y="52"/>
                  <a:pt x="8300" y="62"/>
                </a:cubicBezTo>
                <a:cubicBezTo>
                  <a:pt x="8310" y="71"/>
                  <a:pt x="8318" y="82"/>
                  <a:pt x="8326" y="94"/>
                </a:cubicBezTo>
                <a:cubicBezTo>
                  <a:pt x="8334" y="105"/>
                  <a:pt x="8340" y="117"/>
                  <a:pt x="8346" y="130"/>
                </a:cubicBezTo>
                <a:cubicBezTo>
                  <a:pt x="8351" y="143"/>
                  <a:pt x="8355" y="156"/>
                  <a:pt x="8358" y="170"/>
                </a:cubicBezTo>
                <a:cubicBezTo>
                  <a:pt x="8360" y="184"/>
                  <a:pt x="8362" y="197"/>
                  <a:pt x="8362" y="211"/>
                </a:cubicBezTo>
                <a:lnTo>
                  <a:pt x="8362" y="7250"/>
                </a:lnTo>
                <a:cubicBezTo>
                  <a:pt x="8362" y="7264"/>
                  <a:pt x="8360" y="7278"/>
                  <a:pt x="8358" y="7292"/>
                </a:cubicBezTo>
                <a:cubicBezTo>
                  <a:pt x="8355" y="7305"/>
                  <a:pt x="8351" y="7318"/>
                  <a:pt x="8346" y="7331"/>
                </a:cubicBezTo>
                <a:cubicBezTo>
                  <a:pt x="8340" y="7344"/>
                  <a:pt x="8334" y="7356"/>
                  <a:pt x="8326" y="7368"/>
                </a:cubicBezTo>
                <a:cubicBezTo>
                  <a:pt x="8318" y="7379"/>
                  <a:pt x="8310" y="7390"/>
                  <a:pt x="8300" y="7400"/>
                </a:cubicBezTo>
                <a:cubicBezTo>
                  <a:pt x="8290" y="7410"/>
                  <a:pt x="8279" y="7419"/>
                  <a:pt x="8268" y="7426"/>
                </a:cubicBezTo>
                <a:cubicBezTo>
                  <a:pt x="8256" y="7434"/>
                  <a:pt x="8244" y="7440"/>
                  <a:pt x="8231" y="7446"/>
                </a:cubicBezTo>
                <a:cubicBezTo>
                  <a:pt x="8218" y="7451"/>
                  <a:pt x="8205" y="7455"/>
                  <a:pt x="8191" y="7458"/>
                </a:cubicBezTo>
                <a:cubicBezTo>
                  <a:pt x="8178" y="7461"/>
                  <a:pt x="8164" y="7462"/>
                  <a:pt x="8150" y="7462"/>
                </a:cubicBezTo>
                <a:lnTo>
                  <a:pt x="159" y="7462"/>
                </a:lnTo>
                <a:cubicBezTo>
                  <a:pt x="148" y="7462"/>
                  <a:pt x="138" y="7461"/>
                  <a:pt x="128" y="7458"/>
                </a:cubicBezTo>
                <a:cubicBezTo>
                  <a:pt x="117" y="7455"/>
                  <a:pt x="108" y="7451"/>
                  <a:pt x="98" y="7446"/>
                </a:cubicBezTo>
                <a:cubicBezTo>
                  <a:pt x="88" y="7440"/>
                  <a:pt x="79" y="7434"/>
                  <a:pt x="70" y="7426"/>
                </a:cubicBezTo>
                <a:cubicBezTo>
                  <a:pt x="62" y="7419"/>
                  <a:pt x="54" y="7410"/>
                  <a:pt x="46" y="7400"/>
                </a:cubicBezTo>
                <a:cubicBezTo>
                  <a:pt x="39" y="7390"/>
                  <a:pt x="32" y="7379"/>
                  <a:pt x="27" y="7368"/>
                </a:cubicBezTo>
                <a:cubicBezTo>
                  <a:pt x="21" y="7356"/>
                  <a:pt x="16" y="7344"/>
                  <a:pt x="12" y="7331"/>
                </a:cubicBezTo>
                <a:cubicBezTo>
                  <a:pt x="8" y="7318"/>
                  <a:pt x="5" y="7305"/>
                  <a:pt x="3" y="7292"/>
                </a:cubicBezTo>
                <a:cubicBezTo>
                  <a:pt x="1" y="7278"/>
                  <a:pt x="0" y="7264"/>
                  <a:pt x="0" y="72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Free-form: Shape 59"/>
          <p:cNvSpPr/>
          <p:nvPr/>
        </p:nvSpPr>
        <p:spPr>
          <a:xfrm>
            <a:off x="4060489" y="2247840"/>
            <a:ext cx="76680" cy="2686320"/>
          </a:xfrm>
          <a:custGeom>
            <a:avLst/>
            <a:gdLst/>
            <a:ahLst/>
            <a:cxnLst/>
            <a:rect l="0" t="0" r="r" b="b"/>
            <a:pathLst>
              <a:path w="213" h="7462">
                <a:moveTo>
                  <a:pt x="0" y="0"/>
                </a:moveTo>
                <a:lnTo>
                  <a:pt x="213" y="0"/>
                </a:lnTo>
                <a:lnTo>
                  <a:pt x="213" y="7462"/>
                </a:lnTo>
                <a:lnTo>
                  <a:pt x="0" y="7462"/>
                </a:lnTo>
                <a:lnTo>
                  <a:pt x="0" y="0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Free-form: Shape 60"/>
          <p:cNvSpPr/>
          <p:nvPr/>
        </p:nvSpPr>
        <p:spPr>
          <a:xfrm>
            <a:off x="4327249" y="24764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2" y="52"/>
                  <a:pt x="82" y="43"/>
                  <a:pt x="94" y="35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0"/>
                  <a:pt x="157" y="6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058" y="0"/>
                </a:lnTo>
                <a:cubicBezTo>
                  <a:pt x="1072" y="0"/>
                  <a:pt x="1086" y="1"/>
                  <a:pt x="1099" y="4"/>
                </a:cubicBezTo>
                <a:cubicBezTo>
                  <a:pt x="1113" y="6"/>
                  <a:pt x="1126" y="10"/>
                  <a:pt x="1140" y="16"/>
                </a:cubicBezTo>
                <a:cubicBezTo>
                  <a:pt x="1153" y="21"/>
                  <a:pt x="1165" y="28"/>
                  <a:pt x="1177" y="35"/>
                </a:cubicBezTo>
                <a:cubicBezTo>
                  <a:pt x="1188" y="43"/>
                  <a:pt x="1199" y="52"/>
                  <a:pt x="1209" y="62"/>
                </a:cubicBezTo>
                <a:cubicBezTo>
                  <a:pt x="1219" y="71"/>
                  <a:pt x="1227" y="82"/>
                  <a:pt x="1235" y="94"/>
                </a:cubicBezTo>
                <a:cubicBezTo>
                  <a:pt x="1243" y="106"/>
                  <a:pt x="1249" y="118"/>
                  <a:pt x="1255" y="131"/>
                </a:cubicBezTo>
                <a:cubicBezTo>
                  <a:pt x="1260" y="144"/>
                  <a:pt x="1264" y="157"/>
                  <a:pt x="1267" y="171"/>
                </a:cubicBezTo>
                <a:cubicBezTo>
                  <a:pt x="1269" y="185"/>
                  <a:pt x="1271" y="198"/>
                  <a:pt x="1271" y="212"/>
                </a:cubicBezTo>
                <a:lnTo>
                  <a:pt x="1271" y="1059"/>
                </a:lnTo>
                <a:cubicBezTo>
                  <a:pt x="1271" y="1073"/>
                  <a:pt x="1269" y="1087"/>
                  <a:pt x="1267" y="1100"/>
                </a:cubicBezTo>
                <a:cubicBezTo>
                  <a:pt x="1264" y="1114"/>
                  <a:pt x="1260" y="1127"/>
                  <a:pt x="1255" y="1140"/>
                </a:cubicBezTo>
                <a:cubicBezTo>
                  <a:pt x="1249" y="1153"/>
                  <a:pt x="1243" y="1165"/>
                  <a:pt x="1235" y="1177"/>
                </a:cubicBezTo>
                <a:cubicBezTo>
                  <a:pt x="1227" y="1188"/>
                  <a:pt x="1219" y="1199"/>
                  <a:pt x="1209" y="1209"/>
                </a:cubicBezTo>
                <a:cubicBezTo>
                  <a:pt x="1199" y="1218"/>
                  <a:pt x="1188" y="1227"/>
                  <a:pt x="1177" y="1235"/>
                </a:cubicBezTo>
                <a:cubicBezTo>
                  <a:pt x="1165" y="1243"/>
                  <a:pt x="1153" y="1249"/>
                  <a:pt x="1140" y="1255"/>
                </a:cubicBezTo>
                <a:cubicBezTo>
                  <a:pt x="1126" y="1260"/>
                  <a:pt x="1113" y="1264"/>
                  <a:pt x="1099" y="1267"/>
                </a:cubicBezTo>
                <a:cubicBezTo>
                  <a:pt x="1086" y="1269"/>
                  <a:pt x="1072" y="1271"/>
                  <a:pt x="1058" y="1271"/>
                </a:cubicBezTo>
                <a:lnTo>
                  <a:pt x="211" y="1271"/>
                </a:lnTo>
                <a:cubicBezTo>
                  <a:pt x="198" y="1271"/>
                  <a:pt x="184" y="1269"/>
                  <a:pt x="170" y="1267"/>
                </a:cubicBezTo>
                <a:cubicBezTo>
                  <a:pt x="157" y="1264"/>
                  <a:pt x="143" y="1260"/>
                  <a:pt x="130" y="1255"/>
                </a:cubicBezTo>
                <a:cubicBezTo>
                  <a:pt x="118" y="1249"/>
                  <a:pt x="105" y="1243"/>
                  <a:pt x="94" y="1235"/>
                </a:cubicBezTo>
                <a:cubicBezTo>
                  <a:pt x="82" y="1227"/>
                  <a:pt x="72" y="1218"/>
                  <a:pt x="62" y="1209"/>
                </a:cubicBezTo>
                <a:cubicBezTo>
                  <a:pt x="52" y="1199"/>
                  <a:pt x="43" y="1188"/>
                  <a:pt x="35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1" y="1127"/>
                  <a:pt x="7" y="1114"/>
                  <a:pt x="4" y="1100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E8F1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89030" y="4515590"/>
            <a:ext cx="130965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stress responses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0769" y="257652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solidFill>
                  <a:srgbClr val="5B9BD5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0489" y="3123000"/>
            <a:ext cx="151753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Shared Pathways</a:t>
            </a:r>
          </a:p>
        </p:txBody>
      </p:sp>
      <p:sp>
        <p:nvSpPr>
          <p:cNvPr id="65" name="Free-form: Shape 64"/>
          <p:cNvSpPr/>
          <p:nvPr/>
        </p:nvSpPr>
        <p:spPr>
          <a:xfrm>
            <a:off x="5553000" y="3504960"/>
            <a:ext cx="1581480" cy="162360"/>
          </a:xfrm>
          <a:custGeom>
            <a:avLst/>
            <a:gdLst/>
            <a:ahLst/>
            <a:cxnLst/>
            <a:rect l="0" t="0" r="r" b="b"/>
            <a:pathLst>
              <a:path w="4393" h="451">
                <a:moveTo>
                  <a:pt x="0" y="0"/>
                </a:moveTo>
                <a:lnTo>
                  <a:pt x="4393" y="0"/>
                </a:lnTo>
                <a:lnTo>
                  <a:pt x="4393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330489" y="3502080"/>
            <a:ext cx="301845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Identifying overlapping mechanisms</a:t>
            </a:r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330489" y="3749760"/>
            <a:ext cx="325999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can reveal novel therapeutic targets 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0489" y="3997440"/>
            <a:ext cx="318837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improve understanding of both disease</a:t>
            </a:r>
          </a:p>
        </p:txBody>
      </p:sp>
      <p:sp>
        <p:nvSpPr>
          <p:cNvPr id="69" name="Free-form: Shape 68"/>
          <p:cNvSpPr/>
          <p:nvPr/>
        </p:nvSpPr>
        <p:spPr>
          <a:xfrm>
            <a:off x="7858079" y="2247840"/>
            <a:ext cx="3496685" cy="2686320"/>
          </a:xfrm>
          <a:custGeom>
            <a:avLst/>
            <a:gdLst/>
            <a:ahLst/>
            <a:cxnLst/>
            <a:rect l="0" t="0" r="r" b="b"/>
            <a:pathLst>
              <a:path w="8335" h="7462">
                <a:moveTo>
                  <a:pt x="0" y="7250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6" y="94"/>
                </a:cubicBezTo>
                <a:cubicBezTo>
                  <a:pt x="32" y="82"/>
                  <a:pt x="39" y="71"/>
                  <a:pt x="46" y="62"/>
                </a:cubicBezTo>
                <a:cubicBezTo>
                  <a:pt x="53" y="52"/>
                  <a:pt x="62" y="43"/>
                  <a:pt x="70" y="35"/>
                </a:cubicBezTo>
                <a:cubicBezTo>
                  <a:pt x="79" y="28"/>
                  <a:pt x="88" y="21"/>
                  <a:pt x="98" y="16"/>
                </a:cubicBezTo>
                <a:cubicBezTo>
                  <a:pt x="107" y="10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8123" y="0"/>
                </a:lnTo>
                <a:cubicBezTo>
                  <a:pt x="8137" y="0"/>
                  <a:pt x="8151" y="1"/>
                  <a:pt x="8165" y="4"/>
                </a:cubicBezTo>
                <a:cubicBezTo>
                  <a:pt x="8178" y="6"/>
                  <a:pt x="8191" y="10"/>
                  <a:pt x="8204" y="16"/>
                </a:cubicBezTo>
                <a:cubicBezTo>
                  <a:pt x="8217" y="21"/>
                  <a:pt x="8229" y="28"/>
                  <a:pt x="8241" y="35"/>
                </a:cubicBezTo>
                <a:cubicBezTo>
                  <a:pt x="8252" y="43"/>
                  <a:pt x="8263" y="52"/>
                  <a:pt x="8273" y="62"/>
                </a:cubicBezTo>
                <a:cubicBezTo>
                  <a:pt x="8283" y="71"/>
                  <a:pt x="8292" y="82"/>
                  <a:pt x="8299" y="94"/>
                </a:cubicBezTo>
                <a:cubicBezTo>
                  <a:pt x="8307" y="105"/>
                  <a:pt x="8314" y="117"/>
                  <a:pt x="8319" y="130"/>
                </a:cubicBezTo>
                <a:cubicBezTo>
                  <a:pt x="8324" y="143"/>
                  <a:pt x="8328" y="156"/>
                  <a:pt x="8331" y="170"/>
                </a:cubicBezTo>
                <a:cubicBezTo>
                  <a:pt x="8334" y="184"/>
                  <a:pt x="8335" y="197"/>
                  <a:pt x="8335" y="211"/>
                </a:cubicBezTo>
                <a:lnTo>
                  <a:pt x="8335" y="7250"/>
                </a:lnTo>
                <a:cubicBezTo>
                  <a:pt x="8335" y="7264"/>
                  <a:pt x="8334" y="7278"/>
                  <a:pt x="8331" y="7292"/>
                </a:cubicBezTo>
                <a:cubicBezTo>
                  <a:pt x="8328" y="7305"/>
                  <a:pt x="8324" y="7318"/>
                  <a:pt x="8319" y="7331"/>
                </a:cubicBezTo>
                <a:cubicBezTo>
                  <a:pt x="8314" y="7344"/>
                  <a:pt x="8307" y="7356"/>
                  <a:pt x="8299" y="7368"/>
                </a:cubicBezTo>
                <a:cubicBezTo>
                  <a:pt x="8292" y="7379"/>
                  <a:pt x="8283" y="7390"/>
                  <a:pt x="8273" y="7400"/>
                </a:cubicBezTo>
                <a:cubicBezTo>
                  <a:pt x="8263" y="7410"/>
                  <a:pt x="8252" y="7419"/>
                  <a:pt x="8241" y="7426"/>
                </a:cubicBezTo>
                <a:cubicBezTo>
                  <a:pt x="8229" y="7434"/>
                  <a:pt x="8217" y="7440"/>
                  <a:pt x="8204" y="7446"/>
                </a:cubicBezTo>
                <a:cubicBezTo>
                  <a:pt x="8191" y="7451"/>
                  <a:pt x="8178" y="7455"/>
                  <a:pt x="8165" y="7458"/>
                </a:cubicBezTo>
                <a:cubicBezTo>
                  <a:pt x="8151" y="7461"/>
                  <a:pt x="8137" y="7462"/>
                  <a:pt x="8123" y="7462"/>
                </a:cubicBezTo>
                <a:lnTo>
                  <a:pt x="158" y="7462"/>
                </a:lnTo>
                <a:cubicBezTo>
                  <a:pt x="148" y="7462"/>
                  <a:pt x="138" y="7461"/>
                  <a:pt x="127" y="7458"/>
                </a:cubicBezTo>
                <a:cubicBezTo>
                  <a:pt x="117" y="7455"/>
                  <a:pt x="107" y="7451"/>
                  <a:pt x="98" y="7446"/>
                </a:cubicBezTo>
                <a:cubicBezTo>
                  <a:pt x="88" y="7440"/>
                  <a:pt x="79" y="7434"/>
                  <a:pt x="70" y="7426"/>
                </a:cubicBezTo>
                <a:cubicBezTo>
                  <a:pt x="62" y="7419"/>
                  <a:pt x="53" y="7410"/>
                  <a:pt x="46" y="7400"/>
                </a:cubicBezTo>
                <a:cubicBezTo>
                  <a:pt x="39" y="7390"/>
                  <a:pt x="32" y="7379"/>
                  <a:pt x="26" y="7368"/>
                </a:cubicBezTo>
                <a:cubicBezTo>
                  <a:pt x="21" y="7356"/>
                  <a:pt x="16" y="7344"/>
                  <a:pt x="12" y="7331"/>
                </a:cubicBezTo>
                <a:cubicBezTo>
                  <a:pt x="8" y="7318"/>
                  <a:pt x="5" y="7305"/>
                  <a:pt x="3" y="7292"/>
                </a:cubicBezTo>
                <a:cubicBezTo>
                  <a:pt x="1" y="7278"/>
                  <a:pt x="0" y="7264"/>
                  <a:pt x="0" y="72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Free-form: Shape 69"/>
          <p:cNvSpPr/>
          <p:nvPr/>
        </p:nvSpPr>
        <p:spPr>
          <a:xfrm>
            <a:off x="7839000" y="2247840"/>
            <a:ext cx="76320" cy="2686320"/>
          </a:xfrm>
          <a:custGeom>
            <a:avLst/>
            <a:gdLst/>
            <a:ahLst/>
            <a:cxnLst/>
            <a:rect l="0" t="0" r="r" b="b"/>
            <a:pathLst>
              <a:path w="212" h="7462">
                <a:moveTo>
                  <a:pt x="0" y="0"/>
                </a:moveTo>
                <a:lnTo>
                  <a:pt x="212" y="0"/>
                </a:lnTo>
                <a:lnTo>
                  <a:pt x="212" y="7462"/>
                </a:lnTo>
                <a:lnTo>
                  <a:pt x="0" y="7462"/>
                </a:lnTo>
                <a:lnTo>
                  <a:pt x="0" y="0"/>
                </a:ln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Free-form: Shape 70"/>
          <p:cNvSpPr/>
          <p:nvPr/>
        </p:nvSpPr>
        <p:spPr>
          <a:xfrm>
            <a:off x="8105760" y="24764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6" y="157"/>
                  <a:pt x="10" y="144"/>
                  <a:pt x="16" y="131"/>
                </a:cubicBezTo>
                <a:cubicBezTo>
                  <a:pt x="21" y="118"/>
                  <a:pt x="27" y="106"/>
                  <a:pt x="35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1" y="52"/>
                  <a:pt x="82" y="43"/>
                  <a:pt x="94" y="35"/>
                </a:cubicBezTo>
                <a:cubicBezTo>
                  <a:pt x="105" y="28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1059" y="0"/>
                </a:lnTo>
                <a:cubicBezTo>
                  <a:pt x="1073" y="0"/>
                  <a:pt x="1087" y="1"/>
                  <a:pt x="1100" y="4"/>
                </a:cubicBezTo>
                <a:cubicBezTo>
                  <a:pt x="1114" y="6"/>
                  <a:pt x="1127" y="10"/>
                  <a:pt x="1140" y="16"/>
                </a:cubicBezTo>
                <a:cubicBezTo>
                  <a:pt x="1153" y="21"/>
                  <a:pt x="1165" y="28"/>
                  <a:pt x="1176" y="35"/>
                </a:cubicBezTo>
                <a:cubicBezTo>
                  <a:pt x="1188" y="43"/>
                  <a:pt x="1199" y="52"/>
                  <a:pt x="1209" y="62"/>
                </a:cubicBezTo>
                <a:cubicBezTo>
                  <a:pt x="1218" y="71"/>
                  <a:pt x="1227" y="82"/>
                  <a:pt x="1235" y="94"/>
                </a:cubicBezTo>
                <a:cubicBezTo>
                  <a:pt x="1243" y="106"/>
                  <a:pt x="1249" y="118"/>
                  <a:pt x="1254" y="131"/>
                </a:cubicBezTo>
                <a:cubicBezTo>
                  <a:pt x="1260" y="144"/>
                  <a:pt x="1264" y="157"/>
                  <a:pt x="1266" y="171"/>
                </a:cubicBezTo>
                <a:cubicBezTo>
                  <a:pt x="1269" y="185"/>
                  <a:pt x="1271" y="198"/>
                  <a:pt x="1271" y="212"/>
                </a:cubicBezTo>
                <a:lnTo>
                  <a:pt x="1271" y="1059"/>
                </a:lnTo>
                <a:cubicBezTo>
                  <a:pt x="1271" y="1073"/>
                  <a:pt x="1269" y="1087"/>
                  <a:pt x="1266" y="1100"/>
                </a:cubicBezTo>
                <a:cubicBezTo>
                  <a:pt x="1264" y="1114"/>
                  <a:pt x="1260" y="1127"/>
                  <a:pt x="1254" y="1140"/>
                </a:cubicBezTo>
                <a:cubicBezTo>
                  <a:pt x="1249" y="1153"/>
                  <a:pt x="1243" y="1165"/>
                  <a:pt x="1235" y="1177"/>
                </a:cubicBezTo>
                <a:cubicBezTo>
                  <a:pt x="1227" y="1188"/>
                  <a:pt x="1218" y="1199"/>
                  <a:pt x="1209" y="1209"/>
                </a:cubicBezTo>
                <a:cubicBezTo>
                  <a:pt x="1199" y="1218"/>
                  <a:pt x="1188" y="1227"/>
                  <a:pt x="1176" y="1235"/>
                </a:cubicBezTo>
                <a:cubicBezTo>
                  <a:pt x="1165" y="1243"/>
                  <a:pt x="1153" y="1249"/>
                  <a:pt x="1140" y="1255"/>
                </a:cubicBezTo>
                <a:cubicBezTo>
                  <a:pt x="1127" y="1260"/>
                  <a:pt x="1114" y="1264"/>
                  <a:pt x="1100" y="1267"/>
                </a:cubicBezTo>
                <a:cubicBezTo>
                  <a:pt x="1087" y="1269"/>
                  <a:pt x="1073" y="1271"/>
                  <a:pt x="1059" y="1271"/>
                </a:cubicBezTo>
                <a:lnTo>
                  <a:pt x="211" y="1271"/>
                </a:lnTo>
                <a:cubicBezTo>
                  <a:pt x="197" y="1271"/>
                  <a:pt x="184" y="1269"/>
                  <a:pt x="170" y="1267"/>
                </a:cubicBezTo>
                <a:cubicBezTo>
                  <a:pt x="156" y="1264"/>
                  <a:pt x="143" y="1260"/>
                  <a:pt x="130" y="1255"/>
                </a:cubicBezTo>
                <a:cubicBezTo>
                  <a:pt x="117" y="1249"/>
                  <a:pt x="105" y="1243"/>
                  <a:pt x="94" y="1235"/>
                </a:cubicBezTo>
                <a:cubicBezTo>
                  <a:pt x="82" y="1227"/>
                  <a:pt x="71" y="1218"/>
                  <a:pt x="62" y="1209"/>
                </a:cubicBezTo>
                <a:cubicBezTo>
                  <a:pt x="52" y="1199"/>
                  <a:pt x="43" y="1188"/>
                  <a:pt x="35" y="1177"/>
                </a:cubicBezTo>
                <a:cubicBezTo>
                  <a:pt x="27" y="1165"/>
                  <a:pt x="21" y="1153"/>
                  <a:pt x="16" y="1140"/>
                </a:cubicBezTo>
                <a:cubicBezTo>
                  <a:pt x="10" y="1127"/>
                  <a:pt x="6" y="1114"/>
                  <a:pt x="4" y="1100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EEF1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330489" y="4245120"/>
            <a:ext cx="240290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classes at the molecular level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320" y="257652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  <p:sp>
        <p:nvSpPr>
          <p:cNvPr id="74" name="Free-form: Shape 73"/>
          <p:cNvSpPr/>
          <p:nvPr/>
        </p:nvSpPr>
        <p:spPr>
          <a:xfrm>
            <a:off x="8105760" y="3504960"/>
            <a:ext cx="1847880" cy="162360"/>
          </a:xfrm>
          <a:custGeom>
            <a:avLst/>
            <a:gdLst/>
            <a:ahLst/>
            <a:cxnLst/>
            <a:rect l="0" t="0" r="r" b="b"/>
            <a:pathLst>
              <a:path w="5133" h="451">
                <a:moveTo>
                  <a:pt x="0" y="0"/>
                </a:moveTo>
                <a:lnTo>
                  <a:pt x="5133" y="0"/>
                </a:lnTo>
                <a:lnTo>
                  <a:pt x="5133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102520" y="3123000"/>
            <a:ext cx="191238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Bioinformatics Power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02520" y="3502080"/>
            <a:ext cx="306975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Automated omics integration enables</a:t>
            </a:r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102520" y="3749760"/>
            <a:ext cx="315150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systematic, reproducible cross-disease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2520" y="3997440"/>
            <a:ext cx="305853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analysis at scale, uncovering patterns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02520" y="4245120"/>
            <a:ext cx="279724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invisible to traditional approaches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7512" y="5441769"/>
            <a:ext cx="1161221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This research: Leverages R-driven bioinformatics pipelines to systematically identify shared biomarkers and pathways between lung</a:t>
            </a:r>
            <a:endParaRPr lang="en-US" sz="1600" b="1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Free-form: Shape 80"/>
          <p:cNvSpPr/>
          <p:nvPr/>
        </p:nvSpPr>
        <p:spPr>
          <a:xfrm>
            <a:off x="571320" y="624816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986720" y="5742360"/>
            <a:ext cx="283359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cancer and Huntington's disease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63480" y="6435720"/>
            <a:ext cx="159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-form: Shape 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7" name="Free-form: Shape 86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2"/>
          <a:stretch>
            <a:fillRect/>
          </a:stretch>
        </p:blipFill>
        <p:spPr>
          <a:xfrm>
            <a:off x="408541" y="1790640"/>
            <a:ext cx="4762080" cy="31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88"/>
          <p:cNvSpPr txBox="1"/>
          <p:nvPr/>
        </p:nvSpPr>
        <p:spPr>
          <a:xfrm>
            <a:off x="571320" y="569160"/>
            <a:ext cx="6166560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Lung Cancer - Anatomy &amp; Pathology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4130" y="5026666"/>
            <a:ext cx="4230902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1: 3D </a:t>
            </a:r>
            <a:r>
              <a:rPr lang="en-US" sz="1600" b="1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Visualization</a:t>
            </a:r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of respiratory system</a:t>
            </a:r>
          </a:p>
          <a:p>
            <a:pPr algn="ctr"/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showing tumor location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22252" y="1802885"/>
            <a:ext cx="257910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Respiratory System Anatomy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22252" y="2151365"/>
            <a:ext cx="624639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Lungs are paired organs in the thoracic cavity responsible for gas exchange.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22252" y="2399045"/>
            <a:ext cx="445711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Tumors typically develop in bronchi or alveolar tissue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23640" y="308484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22252" y="2869565"/>
            <a:ext cx="316849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Tumor Location &amp; Growth Patterns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22252" y="3218045"/>
            <a:ext cx="624049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Cells grow uncontrollably forming tumors that can obstruct airways, invade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22252" y="3465725"/>
            <a:ext cx="432438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surrounding tissue, and metastasize to distant organs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22252" y="3936605"/>
            <a:ext cx="238526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Early Detection Challenges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22252" y="4285085"/>
            <a:ext cx="612616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Often asymptomatic in early stages, making detection difficult. Symptoms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22252" y="4532765"/>
            <a:ext cx="545501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appear when disease is advanced, emphasizing need for molecular</a:t>
            </a:r>
          </a:p>
        </p:txBody>
      </p:sp>
      <p:sp>
        <p:nvSpPr>
          <p:cNvPr id="106" name="Free-form: Shape 105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922252" y="4780445"/>
            <a:ext cx="92653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biomarkers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456640" y="6083280"/>
            <a:ext cx="16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04</a:t>
            </a:r>
          </a:p>
        </p:txBody>
      </p:sp>
      <p:sp>
        <p:nvSpPr>
          <p:cNvPr id="2" name="Free-form: Shape 114">
            <a:extLst>
              <a:ext uri="{FF2B5EF4-FFF2-40B4-BE49-F238E27FC236}">
                <a16:creationId xmlns:a16="http://schemas.microsoft.com/office/drawing/2014/main" id="{A493AAA6-A848-BA61-1255-438B97C0C05B}"/>
              </a:ext>
            </a:extLst>
          </p:cNvPr>
          <p:cNvSpPr/>
          <p:nvPr/>
        </p:nvSpPr>
        <p:spPr>
          <a:xfrm>
            <a:off x="5361408" y="1954786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2" y="185"/>
                  <a:pt x="4" y="171"/>
                </a:cubicBezTo>
                <a:cubicBezTo>
                  <a:pt x="7" y="158"/>
                  <a:pt x="11" y="145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6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2" y="106"/>
                  <a:pt x="1038" y="118"/>
                  <a:pt x="1043" y="131"/>
                </a:cubicBezTo>
                <a:cubicBezTo>
                  <a:pt x="1049" y="145"/>
                  <a:pt x="1053" y="158"/>
                  <a:pt x="1055" y="171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5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2" y="954"/>
                  <a:pt x="1024" y="965"/>
                </a:cubicBezTo>
                <a:cubicBezTo>
                  <a:pt x="1016" y="977"/>
                  <a:pt x="1007" y="988"/>
                  <a:pt x="998" y="997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9"/>
                  <a:pt x="903" y="1053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1"/>
                  <a:pt x="94" y="1024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8"/>
                  <a:pt x="44" y="977"/>
                  <a:pt x="36" y="965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2" y="875"/>
                  <a:pt x="0" y="862"/>
                  <a:pt x="0" y="848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A8333-EA6D-A28B-FF6B-854A8F069275}"/>
              </a:ext>
            </a:extLst>
          </p:cNvPr>
          <p:cNvSpPr txBox="1"/>
          <p:nvPr/>
        </p:nvSpPr>
        <p:spPr>
          <a:xfrm>
            <a:off x="5520168" y="2049106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4" name="Free-form: Shape 119">
            <a:extLst>
              <a:ext uri="{FF2B5EF4-FFF2-40B4-BE49-F238E27FC236}">
                <a16:creationId xmlns:a16="http://schemas.microsoft.com/office/drawing/2014/main" id="{67C48B71-2ECE-104A-00C1-DA91BE566008}"/>
              </a:ext>
            </a:extLst>
          </p:cNvPr>
          <p:cNvSpPr/>
          <p:nvPr/>
        </p:nvSpPr>
        <p:spPr>
          <a:xfrm>
            <a:off x="5388630" y="3040209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3"/>
                  <a:pt x="998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2" y="106"/>
                  <a:pt x="1038" y="118"/>
                  <a:pt x="1043" y="131"/>
                </a:cubicBezTo>
                <a:cubicBezTo>
                  <a:pt x="1049" y="144"/>
                  <a:pt x="1053" y="157"/>
                  <a:pt x="1055" y="171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2" y="954"/>
                  <a:pt x="1024" y="966"/>
                </a:cubicBezTo>
                <a:cubicBezTo>
                  <a:pt x="1016" y="977"/>
                  <a:pt x="1007" y="988"/>
                  <a:pt x="998" y="998"/>
                </a:cubicBezTo>
                <a:cubicBezTo>
                  <a:pt x="988" y="1008"/>
                  <a:pt x="977" y="1016"/>
                  <a:pt x="965" y="1024"/>
                </a:cubicBezTo>
                <a:cubicBezTo>
                  <a:pt x="954" y="1032"/>
                  <a:pt x="942" y="1038"/>
                  <a:pt x="929" y="1044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1" y="1056"/>
                </a:cubicBezTo>
                <a:cubicBezTo>
                  <a:pt x="157" y="1053"/>
                  <a:pt x="144" y="1049"/>
                  <a:pt x="131" y="1044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8"/>
                  <a:pt x="62" y="998"/>
                </a:cubicBezTo>
                <a:cubicBezTo>
                  <a:pt x="52" y="988"/>
                  <a:pt x="44" y="977"/>
                  <a:pt x="36" y="966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18BF5-734D-479D-B002-B94AEC4614AF}"/>
              </a:ext>
            </a:extLst>
          </p:cNvPr>
          <p:cNvSpPr txBox="1"/>
          <p:nvPr/>
        </p:nvSpPr>
        <p:spPr>
          <a:xfrm>
            <a:off x="5535510" y="3134529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6" name="Free-form: Shape 124">
            <a:extLst>
              <a:ext uri="{FF2B5EF4-FFF2-40B4-BE49-F238E27FC236}">
                <a16:creationId xmlns:a16="http://schemas.microsoft.com/office/drawing/2014/main" id="{4354F94F-534D-ECC2-CB17-C2CA0271742E}"/>
              </a:ext>
            </a:extLst>
          </p:cNvPr>
          <p:cNvSpPr/>
          <p:nvPr/>
        </p:nvSpPr>
        <p:spPr>
          <a:xfrm>
            <a:off x="5387147" y="4088866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1"/>
                </a:lnTo>
                <a:cubicBezTo>
                  <a:pt x="0" y="197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6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6"/>
                  <a:pt x="916" y="11"/>
                  <a:pt x="929" y="16"/>
                </a:cubicBezTo>
                <a:cubicBezTo>
                  <a:pt x="942" y="21"/>
                  <a:pt x="954" y="28"/>
                  <a:pt x="965" y="35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2" y="105"/>
                  <a:pt x="1038" y="118"/>
                  <a:pt x="1043" y="130"/>
                </a:cubicBezTo>
                <a:cubicBezTo>
                  <a:pt x="1049" y="143"/>
                  <a:pt x="1053" y="156"/>
                  <a:pt x="1055" y="170"/>
                </a:cubicBezTo>
                <a:cubicBezTo>
                  <a:pt x="1058" y="184"/>
                  <a:pt x="1059" y="197"/>
                  <a:pt x="1059" y="211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3" y="902"/>
                  <a:pt x="1049" y="916"/>
                  <a:pt x="1043" y="928"/>
                </a:cubicBezTo>
                <a:cubicBezTo>
                  <a:pt x="1038" y="941"/>
                  <a:pt x="1032" y="953"/>
                  <a:pt x="1024" y="965"/>
                </a:cubicBezTo>
                <a:cubicBezTo>
                  <a:pt x="1016" y="977"/>
                  <a:pt x="1007" y="987"/>
                  <a:pt x="998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3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D05BA-66F2-5E87-DF8D-ACAA1012BDBF}"/>
              </a:ext>
            </a:extLst>
          </p:cNvPr>
          <p:cNvSpPr txBox="1"/>
          <p:nvPr/>
        </p:nvSpPr>
        <p:spPr>
          <a:xfrm>
            <a:off x="5535827" y="4182826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-form: Shape 1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Free-form: Shape 111"/>
          <p:cNvSpPr/>
          <p:nvPr/>
        </p:nvSpPr>
        <p:spPr>
          <a:xfrm>
            <a:off x="571320" y="707862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71320" y="210342"/>
            <a:ext cx="4550926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Lung Cancer - Mechanisms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25224" y="4838160"/>
            <a:ext cx="3703514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2: Dynamic visualization of cancer </a:t>
            </a:r>
          </a:p>
          <a:p>
            <a:pPr algn="ctr"/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cell proliferation and invasion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91550" y="1483068"/>
            <a:ext cx="228646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Uncontrolled Cell Growth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91550" y="1750883"/>
            <a:ext cx="3707746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Loss of cell cycle checkpoints and apoptosis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resistance lead to unregulated.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91550" y="2221403"/>
            <a:ext cx="334707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proliferation, forming malignant tumors.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91550" y="2575100"/>
            <a:ext cx="161210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Molecular Drivers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91550" y="2817563"/>
            <a:ext cx="3631892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Key mutations in EGFR, KRAS, TP53, and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ALK activate oncogenic signaling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391550" y="3273478"/>
            <a:ext cx="480657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pathways (PI3K/AKT, MAPK) driving tumor progression.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91550" y="3639051"/>
            <a:ext cx="229274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Tumor Microenvironment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91550" y="3884603"/>
            <a:ext cx="3645229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Angiogenesis, immune evasion, and stromal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remodeling create a supportive.</a:t>
            </a:r>
          </a:p>
        </p:txBody>
      </p:sp>
      <p:sp>
        <p:nvSpPr>
          <p:cNvPr id="130" name="Free-form: Shape 129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391550" y="4376377"/>
            <a:ext cx="378949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niche for tumor growth and metastatic spread.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462400" y="6083280"/>
            <a:ext cx="158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05</a:t>
            </a:r>
          </a:p>
        </p:txBody>
      </p:sp>
      <p:pic>
        <p:nvPicPr>
          <p:cNvPr id="1028" name="Picture 4" descr="Carcinogenic mechanisms of smoking in lung cancer. Abbreviations: PAHs,...  | Download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83" y="1156745"/>
            <a:ext cx="6453997" cy="360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-form: Shape 114">
            <a:extLst>
              <a:ext uri="{FF2B5EF4-FFF2-40B4-BE49-F238E27FC236}">
                <a16:creationId xmlns:a16="http://schemas.microsoft.com/office/drawing/2014/main" id="{F341B223-9B6D-AFDD-41F8-DE048DE83A7C}"/>
              </a:ext>
            </a:extLst>
          </p:cNvPr>
          <p:cNvSpPr/>
          <p:nvPr/>
        </p:nvSpPr>
        <p:spPr>
          <a:xfrm>
            <a:off x="6823739" y="1536566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2" y="185"/>
                  <a:pt x="4" y="171"/>
                </a:cubicBezTo>
                <a:cubicBezTo>
                  <a:pt x="7" y="158"/>
                  <a:pt x="11" y="145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6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2" y="106"/>
                  <a:pt x="1038" y="118"/>
                  <a:pt x="1043" y="131"/>
                </a:cubicBezTo>
                <a:cubicBezTo>
                  <a:pt x="1049" y="145"/>
                  <a:pt x="1053" y="158"/>
                  <a:pt x="1055" y="171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5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2" y="954"/>
                  <a:pt x="1024" y="965"/>
                </a:cubicBezTo>
                <a:cubicBezTo>
                  <a:pt x="1016" y="977"/>
                  <a:pt x="1007" y="988"/>
                  <a:pt x="998" y="997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9"/>
                  <a:pt x="903" y="1053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1"/>
                  <a:pt x="94" y="1024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8"/>
                  <a:pt x="44" y="977"/>
                  <a:pt x="36" y="965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2" y="875"/>
                  <a:pt x="0" y="862"/>
                  <a:pt x="0" y="848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F931C-725A-E583-48B3-7EF809CA5B93}"/>
              </a:ext>
            </a:extLst>
          </p:cNvPr>
          <p:cNvSpPr txBox="1"/>
          <p:nvPr/>
        </p:nvSpPr>
        <p:spPr>
          <a:xfrm>
            <a:off x="6982499" y="1630886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6" name="Free-form: Shape 119">
            <a:extLst>
              <a:ext uri="{FF2B5EF4-FFF2-40B4-BE49-F238E27FC236}">
                <a16:creationId xmlns:a16="http://schemas.microsoft.com/office/drawing/2014/main" id="{DC6B0F65-3BF1-2B70-90A7-FB9D9E042413}"/>
              </a:ext>
            </a:extLst>
          </p:cNvPr>
          <p:cNvSpPr/>
          <p:nvPr/>
        </p:nvSpPr>
        <p:spPr>
          <a:xfrm>
            <a:off x="6824028" y="2616755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3"/>
                  <a:pt x="998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2" y="106"/>
                  <a:pt x="1038" y="118"/>
                  <a:pt x="1043" y="131"/>
                </a:cubicBezTo>
                <a:cubicBezTo>
                  <a:pt x="1049" y="144"/>
                  <a:pt x="1053" y="157"/>
                  <a:pt x="1055" y="171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2" y="954"/>
                  <a:pt x="1024" y="966"/>
                </a:cubicBezTo>
                <a:cubicBezTo>
                  <a:pt x="1016" y="977"/>
                  <a:pt x="1007" y="988"/>
                  <a:pt x="998" y="998"/>
                </a:cubicBezTo>
                <a:cubicBezTo>
                  <a:pt x="988" y="1008"/>
                  <a:pt x="977" y="1016"/>
                  <a:pt x="965" y="1024"/>
                </a:cubicBezTo>
                <a:cubicBezTo>
                  <a:pt x="954" y="1032"/>
                  <a:pt x="942" y="1038"/>
                  <a:pt x="929" y="1044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1" y="1056"/>
                </a:cubicBezTo>
                <a:cubicBezTo>
                  <a:pt x="157" y="1053"/>
                  <a:pt x="144" y="1049"/>
                  <a:pt x="131" y="1044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8"/>
                  <a:pt x="62" y="998"/>
                </a:cubicBezTo>
                <a:cubicBezTo>
                  <a:pt x="52" y="988"/>
                  <a:pt x="44" y="977"/>
                  <a:pt x="36" y="966"/>
                </a:cubicBezTo>
                <a:cubicBezTo>
                  <a:pt x="28" y="954"/>
                  <a:pt x="22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63FCF-5E0F-753A-586A-4F9D8DECF410}"/>
              </a:ext>
            </a:extLst>
          </p:cNvPr>
          <p:cNvSpPr txBox="1"/>
          <p:nvPr/>
        </p:nvSpPr>
        <p:spPr>
          <a:xfrm>
            <a:off x="6970908" y="2711075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8" name="Free-form: Shape 124">
            <a:extLst>
              <a:ext uri="{FF2B5EF4-FFF2-40B4-BE49-F238E27FC236}">
                <a16:creationId xmlns:a16="http://schemas.microsoft.com/office/drawing/2014/main" id="{ED9D30D2-A932-C07C-6E5A-BCDEBA57A43F}"/>
              </a:ext>
            </a:extLst>
          </p:cNvPr>
          <p:cNvSpPr/>
          <p:nvPr/>
        </p:nvSpPr>
        <p:spPr>
          <a:xfrm>
            <a:off x="6822228" y="3662569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1"/>
                </a:lnTo>
                <a:cubicBezTo>
                  <a:pt x="0" y="197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6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6"/>
                  <a:pt x="916" y="11"/>
                  <a:pt x="929" y="16"/>
                </a:cubicBezTo>
                <a:cubicBezTo>
                  <a:pt x="942" y="21"/>
                  <a:pt x="954" y="28"/>
                  <a:pt x="965" y="35"/>
                </a:cubicBezTo>
                <a:cubicBezTo>
                  <a:pt x="977" y="43"/>
                  <a:pt x="988" y="52"/>
                  <a:pt x="998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2" y="105"/>
                  <a:pt x="1038" y="118"/>
                  <a:pt x="1043" y="130"/>
                </a:cubicBezTo>
                <a:cubicBezTo>
                  <a:pt x="1049" y="143"/>
                  <a:pt x="1053" y="156"/>
                  <a:pt x="1055" y="170"/>
                </a:cubicBezTo>
                <a:cubicBezTo>
                  <a:pt x="1058" y="184"/>
                  <a:pt x="1059" y="197"/>
                  <a:pt x="1059" y="211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3" y="902"/>
                  <a:pt x="1049" y="916"/>
                  <a:pt x="1043" y="928"/>
                </a:cubicBezTo>
                <a:cubicBezTo>
                  <a:pt x="1038" y="941"/>
                  <a:pt x="1032" y="953"/>
                  <a:pt x="1024" y="965"/>
                </a:cubicBezTo>
                <a:cubicBezTo>
                  <a:pt x="1016" y="977"/>
                  <a:pt x="1007" y="987"/>
                  <a:pt x="998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1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4" y="977"/>
                  <a:pt x="36" y="965"/>
                </a:cubicBezTo>
                <a:cubicBezTo>
                  <a:pt x="28" y="953"/>
                  <a:pt x="22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0194-CF1A-448C-DDA6-F8148FB005FA}"/>
              </a:ext>
            </a:extLst>
          </p:cNvPr>
          <p:cNvSpPr txBox="1"/>
          <p:nvPr/>
        </p:nvSpPr>
        <p:spPr>
          <a:xfrm>
            <a:off x="6970908" y="3756529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-form: Shape 135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71320" y="569160"/>
            <a:ext cx="7519494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Huntington's Disease - Anatomy &amp; Pathology</a:t>
            </a:r>
          </a:p>
        </p:txBody>
      </p:sp>
      <p:sp>
        <p:nvSpPr>
          <p:cNvPr id="139" name="Free-form: Shape 138"/>
          <p:cNvSpPr/>
          <p:nvPr/>
        </p:nvSpPr>
        <p:spPr>
          <a:xfrm>
            <a:off x="6502014" y="1803247"/>
            <a:ext cx="58756" cy="1217515"/>
          </a:xfrm>
          <a:custGeom>
            <a:avLst/>
            <a:gdLst/>
            <a:ahLst/>
            <a:cxnLst/>
            <a:rect l="0" t="0" r="r" b="b"/>
            <a:pathLst>
              <a:path w="107" h="2964">
                <a:moveTo>
                  <a:pt x="0" y="0"/>
                </a:moveTo>
                <a:lnTo>
                  <a:pt x="107" y="0"/>
                </a:lnTo>
                <a:lnTo>
                  <a:pt x="107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47811" y="5038560"/>
            <a:ext cx="4933530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3: Comparison of healthy brain vs. Huntington’s </a:t>
            </a:r>
          </a:p>
          <a:p>
            <a:pPr algn="ctr"/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disease brain showing striatal atrophy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704116" y="1803205"/>
            <a:ext cx="203087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Brain Regions Affected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704116" y="2165066"/>
            <a:ext cx="5232202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Progressive neuronal damage primarily in the striatum (caudate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nucleus and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putamen) and cortex, leading to enlarged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ventricles and brain atrophy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5" name="Free-form: Shape 144"/>
          <p:cNvSpPr/>
          <p:nvPr/>
        </p:nvSpPr>
        <p:spPr>
          <a:xfrm>
            <a:off x="6499646" y="3183799"/>
            <a:ext cx="58756" cy="1207434"/>
          </a:xfrm>
          <a:custGeom>
            <a:avLst/>
            <a:gdLst/>
            <a:ahLst/>
            <a:cxnLst/>
            <a:rect l="0" t="0" r="r" b="b"/>
            <a:pathLst>
              <a:path w="107" h="2964">
                <a:moveTo>
                  <a:pt x="0" y="0"/>
                </a:moveTo>
                <a:lnTo>
                  <a:pt x="107" y="0"/>
                </a:lnTo>
                <a:lnTo>
                  <a:pt x="107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704116" y="3155180"/>
            <a:ext cx="209672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CAG Repeat Expansion</a:t>
            </a:r>
          </a:p>
        </p:txBody>
      </p:sp>
      <p:sp>
        <p:nvSpPr>
          <p:cNvPr id="148" name="Free-form: Shape 147"/>
          <p:cNvSpPr/>
          <p:nvPr/>
        </p:nvSpPr>
        <p:spPr>
          <a:xfrm>
            <a:off x="7362720" y="3495600"/>
            <a:ext cx="2267280" cy="162000"/>
          </a:xfrm>
          <a:custGeom>
            <a:avLst/>
            <a:gdLst/>
            <a:ahLst/>
            <a:cxnLst/>
            <a:rect l="0" t="0" r="r" b="b"/>
            <a:pathLst>
              <a:path w="6298" h="450">
                <a:moveTo>
                  <a:pt x="0" y="0"/>
                </a:moveTo>
                <a:lnTo>
                  <a:pt x="6298" y="0"/>
                </a:lnTo>
                <a:lnTo>
                  <a:pt x="6298" y="450"/>
                </a:ln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705720" y="3492360"/>
            <a:ext cx="5359929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Caused by expanded CAG trinucleotide repeats in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the HTT gene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(&gt;36 repeats),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producing mutant huntingtin protein with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toxic polyglutamine tract</a:t>
            </a:r>
          </a:p>
        </p:txBody>
      </p:sp>
      <p:sp>
        <p:nvSpPr>
          <p:cNvPr id="150" name="Free-form: Shape 149"/>
          <p:cNvSpPr/>
          <p:nvPr/>
        </p:nvSpPr>
        <p:spPr>
          <a:xfrm>
            <a:off x="6510660" y="4554270"/>
            <a:ext cx="67800" cy="1069086"/>
          </a:xfrm>
          <a:custGeom>
            <a:avLst/>
            <a:gdLst/>
            <a:ahLst/>
            <a:cxnLst/>
            <a:rect l="0" t="0" r="r" b="b"/>
            <a:pathLst>
              <a:path w="107" h="2965">
                <a:moveTo>
                  <a:pt x="0" y="0"/>
                </a:moveTo>
                <a:lnTo>
                  <a:pt x="107" y="0"/>
                </a:lnTo>
                <a:lnTo>
                  <a:pt x="107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704116" y="4565155"/>
            <a:ext cx="264662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Progressive Neuronal Damage</a:t>
            </a:r>
          </a:p>
        </p:txBody>
      </p:sp>
      <p:sp>
        <p:nvSpPr>
          <p:cNvPr id="153" name="Free-form: Shape 152"/>
          <p:cNvSpPr/>
          <p:nvPr/>
        </p:nvSpPr>
        <p:spPr>
          <a:xfrm>
            <a:off x="7238880" y="4790880"/>
            <a:ext cx="1181520" cy="162360"/>
          </a:xfrm>
          <a:custGeom>
            <a:avLst/>
            <a:gdLst/>
            <a:ahLst/>
            <a:cxnLst/>
            <a:rect l="0" t="0" r="r" b="b"/>
            <a:pathLst>
              <a:path w="3282" h="451">
                <a:moveTo>
                  <a:pt x="0" y="0"/>
                </a:moveTo>
                <a:lnTo>
                  <a:pt x="3282" y="0"/>
                </a:lnTo>
                <a:lnTo>
                  <a:pt x="3282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4" name="Free-form: Shape 153"/>
          <p:cNvSpPr/>
          <p:nvPr/>
        </p:nvSpPr>
        <p:spPr>
          <a:xfrm>
            <a:off x="9534240" y="4790880"/>
            <a:ext cx="1076760" cy="162360"/>
          </a:xfrm>
          <a:custGeom>
            <a:avLst/>
            <a:gdLst/>
            <a:ahLst/>
            <a:cxnLst/>
            <a:rect l="0" t="0" r="r" b="b"/>
            <a:pathLst>
              <a:path w="2991" h="451">
                <a:moveTo>
                  <a:pt x="0" y="0"/>
                </a:moveTo>
                <a:lnTo>
                  <a:pt x="2991" y="0"/>
                </a:lnTo>
                <a:lnTo>
                  <a:pt x="2991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5" name="Free-form: Shape 154"/>
          <p:cNvSpPr/>
          <p:nvPr/>
        </p:nvSpPr>
        <p:spPr>
          <a:xfrm>
            <a:off x="6705360" y="5038560"/>
            <a:ext cx="1391040" cy="162360"/>
          </a:xfrm>
          <a:custGeom>
            <a:avLst/>
            <a:gdLst/>
            <a:ahLst/>
            <a:cxnLst/>
            <a:rect l="0" t="0" r="r" b="b"/>
            <a:pathLst>
              <a:path w="3864" h="451">
                <a:moveTo>
                  <a:pt x="0" y="0"/>
                </a:moveTo>
                <a:lnTo>
                  <a:pt x="3864" y="0"/>
                </a:lnTo>
                <a:lnTo>
                  <a:pt x="3864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6704116" y="4821854"/>
            <a:ext cx="5333191" cy="9848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Leads to motor dysfunction (chorea, rigidity), cognitive decline,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And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psychiatric symptoms with inevitable progression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over 15-20 years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7" name="Free-form: Shape 156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1457000" y="6083280"/>
            <a:ext cx="164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06</a:t>
            </a:r>
          </a:p>
        </p:txBody>
      </p:sp>
      <p:pic>
        <p:nvPicPr>
          <p:cNvPr id="2050" name="Picture 2" descr="Huntington's Disease: Genetics, Symptoms &amp; New Research - Los Angeles Tim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70960"/>
            <a:ext cx="5782560" cy="356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ree-form: Shape 1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3" name="Free-form: Shape 162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4" name="Picture 163"/>
          <p:cNvPicPr/>
          <p:nvPr/>
        </p:nvPicPr>
        <p:blipFill>
          <a:blip r:embed="rId2"/>
          <a:stretch>
            <a:fillRect/>
          </a:stretch>
        </p:blipFill>
        <p:spPr>
          <a:xfrm>
            <a:off x="571320" y="1962000"/>
            <a:ext cx="5524200" cy="28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571320" y="569160"/>
            <a:ext cx="5903860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Huntington's Disease - Mechanisms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1695" y="4845241"/>
            <a:ext cx="598516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4: Progressive neuronal degeneration in Huntington's disease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66840" y="1571216"/>
            <a:ext cx="299004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Protein Misfolding &amp; Aggregation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66840" y="1921527"/>
            <a:ext cx="5346015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Mutant huntingtin forms toxic protein aggregates and inclusion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bodies in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neurons, disrupting cellular </a:t>
            </a:r>
            <a:r>
              <a:rPr lang="en-US" sz="1600" dirty="0" err="1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proteostasis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and triggering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aggregate-mediated toxicity.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666840" y="2988444"/>
            <a:ext cx="282397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Neuronal Dysfunction Pathways</a:t>
            </a:r>
          </a:p>
        </p:txBody>
      </p:sp>
      <p:sp>
        <p:nvSpPr>
          <p:cNvPr id="175" name="Free-form: Shape 174"/>
          <p:cNvSpPr/>
          <p:nvPr/>
        </p:nvSpPr>
        <p:spPr>
          <a:xfrm>
            <a:off x="7286400" y="3495600"/>
            <a:ext cx="1486440" cy="162000"/>
          </a:xfrm>
          <a:custGeom>
            <a:avLst/>
            <a:gdLst/>
            <a:ahLst/>
            <a:cxnLst/>
            <a:rect l="0" t="0" r="r" b="b"/>
            <a:pathLst>
              <a:path w="4129" h="450">
                <a:moveTo>
                  <a:pt x="0" y="0"/>
                </a:moveTo>
                <a:lnTo>
                  <a:pt x="4129" y="0"/>
                </a:lnTo>
                <a:lnTo>
                  <a:pt x="4129" y="450"/>
                </a:ln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6666840" y="3336924"/>
            <a:ext cx="5256247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Impaired mitochondrial function, transcriptional dysregulation,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excitotoxicity,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and disrupted axonal transport contribute to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progressive neuronal death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7" name="Free-form: Shape 176"/>
          <p:cNvSpPr/>
          <p:nvPr/>
        </p:nvSpPr>
        <p:spPr>
          <a:xfrm>
            <a:off x="7591320" y="3743280"/>
            <a:ext cx="1047960" cy="162000"/>
          </a:xfrm>
          <a:custGeom>
            <a:avLst/>
            <a:gdLst/>
            <a:ahLst/>
            <a:cxnLst/>
            <a:rect l="0" t="0" r="r" b="b"/>
            <a:pathLst>
              <a:path w="2911" h="450">
                <a:moveTo>
                  <a:pt x="0" y="0"/>
                </a:moveTo>
                <a:lnTo>
                  <a:pt x="2911" y="0"/>
                </a:lnTo>
                <a:lnTo>
                  <a:pt x="2911" y="450"/>
                </a:ln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666840" y="4284084"/>
            <a:ext cx="136575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Clinical Impact</a:t>
            </a:r>
          </a:p>
        </p:txBody>
      </p:sp>
      <p:sp>
        <p:nvSpPr>
          <p:cNvPr id="181" name="Free-form: Shape 180"/>
          <p:cNvSpPr/>
          <p:nvPr/>
        </p:nvSpPr>
        <p:spPr>
          <a:xfrm>
            <a:off x="7324560" y="4790880"/>
            <a:ext cx="1076760" cy="162360"/>
          </a:xfrm>
          <a:custGeom>
            <a:avLst/>
            <a:gdLst/>
            <a:ahLst/>
            <a:cxnLst/>
            <a:rect l="0" t="0" r="r" b="b"/>
            <a:pathLst>
              <a:path w="2991" h="451">
                <a:moveTo>
                  <a:pt x="0" y="0"/>
                </a:moveTo>
                <a:lnTo>
                  <a:pt x="2991" y="0"/>
                </a:lnTo>
                <a:lnTo>
                  <a:pt x="2991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6666840" y="4632564"/>
            <a:ext cx="5209760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Results in motor symptoms (involuntary movements, rigidity),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Cognitive 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decline (executive dysfunction, memory loss), and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emotional changes (depression, irritability)</a:t>
            </a:r>
          </a:p>
        </p:txBody>
      </p:sp>
      <p:sp>
        <p:nvSpPr>
          <p:cNvPr id="183" name="Free-form: Shape 182"/>
          <p:cNvSpPr/>
          <p:nvPr/>
        </p:nvSpPr>
        <p:spPr>
          <a:xfrm>
            <a:off x="9791640" y="5038560"/>
            <a:ext cx="1190880" cy="162360"/>
          </a:xfrm>
          <a:custGeom>
            <a:avLst/>
            <a:gdLst/>
            <a:ahLst/>
            <a:cxnLst/>
            <a:rect l="0" t="0" r="r" b="b"/>
            <a:pathLst>
              <a:path w="3308" h="451">
                <a:moveTo>
                  <a:pt x="0" y="0"/>
                </a:moveTo>
                <a:lnTo>
                  <a:pt x="3308" y="0"/>
                </a:lnTo>
                <a:lnTo>
                  <a:pt x="3308" y="451"/>
                </a:lnTo>
                <a:lnTo>
                  <a:pt x="0" y="45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tile tx="0" ty="0" sx="133330" sy="133321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5" name="Free-form: Shape 184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1467800" y="6083280"/>
            <a:ext cx="156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Free-form: Shape 1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1" name="Free-form: Shape 190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571320" y="569160"/>
            <a:ext cx="5620128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Methodology - Pipeline Overview</a:t>
            </a:r>
          </a:p>
        </p:txBody>
      </p:sp>
      <p:sp>
        <p:nvSpPr>
          <p:cNvPr id="194" name="Free-form: Shape 193"/>
          <p:cNvSpPr/>
          <p:nvPr/>
        </p:nvSpPr>
        <p:spPr>
          <a:xfrm>
            <a:off x="7524340" y="2357014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0" y="636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636" y="0"/>
                </a:lnTo>
                <a:cubicBezTo>
                  <a:pt x="650" y="0"/>
                  <a:pt x="664" y="1"/>
                  <a:pt x="678" y="4"/>
                </a:cubicBezTo>
                <a:cubicBezTo>
                  <a:pt x="691" y="7"/>
                  <a:pt x="704" y="11"/>
                  <a:pt x="717" y="16"/>
                </a:cubicBezTo>
                <a:cubicBezTo>
                  <a:pt x="730" y="22"/>
                  <a:pt x="742" y="28"/>
                  <a:pt x="754" y="36"/>
                </a:cubicBezTo>
                <a:cubicBezTo>
                  <a:pt x="765" y="43"/>
                  <a:pt x="776" y="52"/>
                  <a:pt x="786" y="62"/>
                </a:cubicBezTo>
                <a:cubicBezTo>
                  <a:pt x="796" y="72"/>
                  <a:pt x="805" y="83"/>
                  <a:pt x="812" y="94"/>
                </a:cubicBezTo>
                <a:cubicBezTo>
                  <a:pt x="820" y="106"/>
                  <a:pt x="827" y="118"/>
                  <a:pt x="832" y="131"/>
                </a:cubicBezTo>
                <a:cubicBezTo>
                  <a:pt x="837" y="144"/>
                  <a:pt x="841" y="157"/>
                  <a:pt x="844" y="170"/>
                </a:cubicBezTo>
                <a:cubicBezTo>
                  <a:pt x="847" y="184"/>
                  <a:pt x="848" y="198"/>
                  <a:pt x="848" y="212"/>
                </a:cubicBezTo>
                <a:lnTo>
                  <a:pt x="848" y="636"/>
                </a:lnTo>
                <a:cubicBezTo>
                  <a:pt x="848" y="650"/>
                  <a:pt x="847" y="664"/>
                  <a:pt x="844" y="677"/>
                </a:cubicBezTo>
                <a:cubicBezTo>
                  <a:pt x="841" y="691"/>
                  <a:pt x="837" y="704"/>
                  <a:pt x="832" y="717"/>
                </a:cubicBezTo>
                <a:cubicBezTo>
                  <a:pt x="827" y="730"/>
                  <a:pt x="820" y="742"/>
                  <a:pt x="812" y="754"/>
                </a:cubicBezTo>
                <a:cubicBezTo>
                  <a:pt x="805" y="765"/>
                  <a:pt x="796" y="776"/>
                  <a:pt x="786" y="786"/>
                </a:cubicBezTo>
                <a:cubicBezTo>
                  <a:pt x="776" y="796"/>
                  <a:pt x="765" y="804"/>
                  <a:pt x="754" y="812"/>
                </a:cubicBezTo>
                <a:cubicBezTo>
                  <a:pt x="742" y="820"/>
                  <a:pt x="730" y="826"/>
                  <a:pt x="717" y="832"/>
                </a:cubicBezTo>
                <a:cubicBezTo>
                  <a:pt x="704" y="837"/>
                  <a:pt x="691" y="841"/>
                  <a:pt x="678" y="844"/>
                </a:cubicBezTo>
                <a:cubicBezTo>
                  <a:pt x="664" y="846"/>
                  <a:pt x="650" y="848"/>
                  <a:pt x="636" y="848"/>
                </a:cubicBezTo>
                <a:lnTo>
                  <a:pt x="212" y="848"/>
                </a:lnTo>
                <a:cubicBezTo>
                  <a:pt x="198" y="848"/>
                  <a:pt x="184" y="846"/>
                  <a:pt x="171" y="844"/>
                </a:cubicBezTo>
                <a:cubicBezTo>
                  <a:pt x="157" y="841"/>
                  <a:pt x="144" y="837"/>
                  <a:pt x="131" y="832"/>
                </a:cubicBezTo>
                <a:cubicBezTo>
                  <a:pt x="118" y="826"/>
                  <a:pt x="106" y="820"/>
                  <a:pt x="94" y="812"/>
                </a:cubicBezTo>
                <a:cubicBezTo>
                  <a:pt x="83" y="804"/>
                  <a:pt x="72" y="796"/>
                  <a:pt x="62" y="786"/>
                </a:cubicBezTo>
                <a:cubicBezTo>
                  <a:pt x="52" y="776"/>
                  <a:pt x="44" y="765"/>
                  <a:pt x="36" y="754"/>
                </a:cubicBezTo>
                <a:cubicBezTo>
                  <a:pt x="28" y="742"/>
                  <a:pt x="22" y="730"/>
                  <a:pt x="16" y="717"/>
                </a:cubicBezTo>
                <a:cubicBezTo>
                  <a:pt x="11" y="704"/>
                  <a:pt x="7" y="691"/>
                  <a:pt x="4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7535860" y="1943299"/>
            <a:ext cx="379911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Automated R-driven bioinformatics workflow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652140" y="2437654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954900" y="2274499"/>
            <a:ext cx="146662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Data Acquisition</a:t>
            </a:r>
          </a:p>
        </p:txBody>
      </p:sp>
      <p:sp>
        <p:nvSpPr>
          <p:cNvPr id="198" name="Free-form: Shape 197"/>
          <p:cNvSpPr/>
          <p:nvPr/>
        </p:nvSpPr>
        <p:spPr>
          <a:xfrm>
            <a:off x="7533700" y="2963117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0" y="636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636" y="0"/>
                </a:lnTo>
                <a:cubicBezTo>
                  <a:pt x="650" y="0"/>
                  <a:pt x="664" y="2"/>
                  <a:pt x="678" y="4"/>
                </a:cubicBezTo>
                <a:cubicBezTo>
                  <a:pt x="691" y="7"/>
                  <a:pt x="704" y="11"/>
                  <a:pt x="717" y="17"/>
                </a:cubicBezTo>
                <a:cubicBezTo>
                  <a:pt x="730" y="22"/>
                  <a:pt x="742" y="28"/>
                  <a:pt x="754" y="36"/>
                </a:cubicBezTo>
                <a:cubicBezTo>
                  <a:pt x="765" y="44"/>
                  <a:pt x="776" y="53"/>
                  <a:pt x="786" y="62"/>
                </a:cubicBezTo>
                <a:cubicBezTo>
                  <a:pt x="796" y="72"/>
                  <a:pt x="805" y="83"/>
                  <a:pt x="812" y="94"/>
                </a:cubicBezTo>
                <a:cubicBezTo>
                  <a:pt x="820" y="106"/>
                  <a:pt x="827" y="118"/>
                  <a:pt x="832" y="131"/>
                </a:cubicBezTo>
                <a:cubicBezTo>
                  <a:pt x="837" y="144"/>
                  <a:pt x="841" y="157"/>
                  <a:pt x="844" y="171"/>
                </a:cubicBezTo>
                <a:cubicBezTo>
                  <a:pt x="847" y="184"/>
                  <a:pt x="848" y="198"/>
                  <a:pt x="848" y="212"/>
                </a:cubicBezTo>
                <a:lnTo>
                  <a:pt x="848" y="636"/>
                </a:lnTo>
                <a:cubicBezTo>
                  <a:pt x="848" y="650"/>
                  <a:pt x="847" y="664"/>
                  <a:pt x="844" y="678"/>
                </a:cubicBezTo>
                <a:cubicBezTo>
                  <a:pt x="841" y="691"/>
                  <a:pt x="837" y="705"/>
                  <a:pt x="832" y="717"/>
                </a:cubicBezTo>
                <a:cubicBezTo>
                  <a:pt x="827" y="730"/>
                  <a:pt x="820" y="742"/>
                  <a:pt x="812" y="754"/>
                </a:cubicBezTo>
                <a:cubicBezTo>
                  <a:pt x="805" y="766"/>
                  <a:pt x="796" y="776"/>
                  <a:pt x="786" y="786"/>
                </a:cubicBezTo>
                <a:cubicBezTo>
                  <a:pt x="776" y="796"/>
                  <a:pt x="765" y="805"/>
                  <a:pt x="754" y="812"/>
                </a:cubicBezTo>
                <a:cubicBezTo>
                  <a:pt x="742" y="820"/>
                  <a:pt x="730" y="827"/>
                  <a:pt x="717" y="832"/>
                </a:cubicBezTo>
                <a:cubicBezTo>
                  <a:pt x="704" y="837"/>
                  <a:pt x="691" y="841"/>
                  <a:pt x="678" y="844"/>
                </a:cubicBezTo>
                <a:cubicBezTo>
                  <a:pt x="664" y="847"/>
                  <a:pt x="650" y="848"/>
                  <a:pt x="636" y="848"/>
                </a:cubicBezTo>
                <a:lnTo>
                  <a:pt x="212" y="848"/>
                </a:lnTo>
                <a:cubicBezTo>
                  <a:pt x="198" y="848"/>
                  <a:pt x="184" y="847"/>
                  <a:pt x="171" y="844"/>
                </a:cubicBezTo>
                <a:cubicBezTo>
                  <a:pt x="157" y="841"/>
                  <a:pt x="144" y="837"/>
                  <a:pt x="131" y="832"/>
                </a:cubicBezTo>
                <a:cubicBezTo>
                  <a:pt x="118" y="827"/>
                  <a:pt x="106" y="820"/>
                  <a:pt x="94" y="812"/>
                </a:cubicBezTo>
                <a:cubicBezTo>
                  <a:pt x="83" y="805"/>
                  <a:pt x="72" y="796"/>
                  <a:pt x="62" y="786"/>
                </a:cubicBezTo>
                <a:cubicBezTo>
                  <a:pt x="52" y="776"/>
                  <a:pt x="44" y="766"/>
                  <a:pt x="36" y="754"/>
                </a:cubicBezTo>
                <a:cubicBezTo>
                  <a:pt x="28" y="742"/>
                  <a:pt x="22" y="730"/>
                  <a:pt x="16" y="717"/>
                </a:cubicBezTo>
                <a:cubicBezTo>
                  <a:pt x="11" y="705"/>
                  <a:pt x="7" y="691"/>
                  <a:pt x="4" y="678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954900" y="2501299"/>
            <a:ext cx="411208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Download GEO datasets (GSE3790, GSE151102)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652140" y="3044117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954900" y="2883979"/>
            <a:ext cx="180716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Preprocessing &amp; QC</a:t>
            </a:r>
          </a:p>
        </p:txBody>
      </p:sp>
      <p:sp>
        <p:nvSpPr>
          <p:cNvPr id="202" name="Free-form: Shape 201"/>
          <p:cNvSpPr/>
          <p:nvPr/>
        </p:nvSpPr>
        <p:spPr>
          <a:xfrm>
            <a:off x="7533700" y="3548899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0" y="636"/>
                </a:moveTo>
                <a:lnTo>
                  <a:pt x="0" y="211"/>
                </a:lnTo>
                <a:cubicBezTo>
                  <a:pt x="0" y="198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636" y="0"/>
                </a:lnTo>
                <a:cubicBezTo>
                  <a:pt x="650" y="0"/>
                  <a:pt x="664" y="1"/>
                  <a:pt x="678" y="4"/>
                </a:cubicBezTo>
                <a:cubicBezTo>
                  <a:pt x="691" y="7"/>
                  <a:pt x="704" y="11"/>
                  <a:pt x="717" y="16"/>
                </a:cubicBezTo>
                <a:cubicBezTo>
                  <a:pt x="730" y="21"/>
                  <a:pt x="742" y="28"/>
                  <a:pt x="754" y="35"/>
                </a:cubicBezTo>
                <a:cubicBezTo>
                  <a:pt x="765" y="43"/>
                  <a:pt x="776" y="52"/>
                  <a:pt x="786" y="62"/>
                </a:cubicBezTo>
                <a:cubicBezTo>
                  <a:pt x="796" y="72"/>
                  <a:pt x="805" y="82"/>
                  <a:pt x="812" y="94"/>
                </a:cubicBezTo>
                <a:cubicBezTo>
                  <a:pt x="820" y="105"/>
                  <a:pt x="827" y="118"/>
                  <a:pt x="832" y="130"/>
                </a:cubicBezTo>
                <a:cubicBezTo>
                  <a:pt x="837" y="143"/>
                  <a:pt x="841" y="156"/>
                  <a:pt x="844" y="170"/>
                </a:cubicBezTo>
                <a:cubicBezTo>
                  <a:pt x="847" y="184"/>
                  <a:pt x="848" y="198"/>
                  <a:pt x="848" y="211"/>
                </a:cubicBezTo>
                <a:lnTo>
                  <a:pt x="848" y="636"/>
                </a:lnTo>
                <a:cubicBezTo>
                  <a:pt x="848" y="650"/>
                  <a:pt x="847" y="663"/>
                  <a:pt x="844" y="677"/>
                </a:cubicBezTo>
                <a:cubicBezTo>
                  <a:pt x="841" y="691"/>
                  <a:pt x="837" y="704"/>
                  <a:pt x="832" y="717"/>
                </a:cubicBezTo>
                <a:cubicBezTo>
                  <a:pt x="827" y="730"/>
                  <a:pt x="820" y="742"/>
                  <a:pt x="812" y="753"/>
                </a:cubicBezTo>
                <a:cubicBezTo>
                  <a:pt x="805" y="765"/>
                  <a:pt x="796" y="776"/>
                  <a:pt x="786" y="785"/>
                </a:cubicBezTo>
                <a:cubicBezTo>
                  <a:pt x="776" y="795"/>
                  <a:pt x="765" y="804"/>
                  <a:pt x="754" y="812"/>
                </a:cubicBezTo>
                <a:cubicBezTo>
                  <a:pt x="742" y="819"/>
                  <a:pt x="730" y="826"/>
                  <a:pt x="717" y="831"/>
                </a:cubicBezTo>
                <a:cubicBezTo>
                  <a:pt x="704" y="837"/>
                  <a:pt x="691" y="841"/>
                  <a:pt x="678" y="843"/>
                </a:cubicBezTo>
                <a:cubicBezTo>
                  <a:pt x="664" y="846"/>
                  <a:pt x="650" y="847"/>
                  <a:pt x="636" y="847"/>
                </a:cubicBezTo>
                <a:lnTo>
                  <a:pt x="212" y="847"/>
                </a:lnTo>
                <a:cubicBezTo>
                  <a:pt x="198" y="847"/>
                  <a:pt x="184" y="846"/>
                  <a:pt x="171" y="843"/>
                </a:cubicBezTo>
                <a:cubicBezTo>
                  <a:pt x="157" y="841"/>
                  <a:pt x="144" y="837"/>
                  <a:pt x="131" y="831"/>
                </a:cubicBezTo>
                <a:cubicBezTo>
                  <a:pt x="118" y="826"/>
                  <a:pt x="106" y="819"/>
                  <a:pt x="94" y="812"/>
                </a:cubicBezTo>
                <a:cubicBezTo>
                  <a:pt x="83" y="804"/>
                  <a:pt x="72" y="795"/>
                  <a:pt x="62" y="785"/>
                </a:cubicBezTo>
                <a:cubicBezTo>
                  <a:pt x="52" y="776"/>
                  <a:pt x="44" y="765"/>
                  <a:pt x="36" y="753"/>
                </a:cubicBezTo>
                <a:cubicBezTo>
                  <a:pt x="28" y="742"/>
                  <a:pt x="22" y="730"/>
                  <a:pt x="16" y="717"/>
                </a:cubicBezTo>
                <a:cubicBezTo>
                  <a:pt x="11" y="704"/>
                  <a:pt x="7" y="691"/>
                  <a:pt x="4" y="677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7954900" y="3110779"/>
            <a:ext cx="330026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Normalize, filter, boxplot, PCA analysis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653940" y="3629539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54900" y="3493819"/>
            <a:ext cx="151913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Batch Correction</a:t>
            </a:r>
          </a:p>
        </p:txBody>
      </p:sp>
      <p:sp>
        <p:nvSpPr>
          <p:cNvPr id="206" name="Free-form: Shape 205"/>
          <p:cNvSpPr/>
          <p:nvPr/>
        </p:nvSpPr>
        <p:spPr>
          <a:xfrm>
            <a:off x="7533700" y="4134321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0" y="636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636" y="0"/>
                </a:lnTo>
                <a:cubicBezTo>
                  <a:pt x="650" y="0"/>
                  <a:pt x="664" y="1"/>
                  <a:pt x="678" y="4"/>
                </a:cubicBezTo>
                <a:cubicBezTo>
                  <a:pt x="691" y="7"/>
                  <a:pt x="704" y="11"/>
                  <a:pt x="717" y="16"/>
                </a:cubicBezTo>
                <a:cubicBezTo>
                  <a:pt x="730" y="22"/>
                  <a:pt x="742" y="28"/>
                  <a:pt x="754" y="36"/>
                </a:cubicBezTo>
                <a:cubicBezTo>
                  <a:pt x="765" y="43"/>
                  <a:pt x="776" y="52"/>
                  <a:pt x="786" y="62"/>
                </a:cubicBezTo>
                <a:cubicBezTo>
                  <a:pt x="796" y="72"/>
                  <a:pt x="805" y="83"/>
                  <a:pt x="812" y="94"/>
                </a:cubicBezTo>
                <a:cubicBezTo>
                  <a:pt x="820" y="106"/>
                  <a:pt x="827" y="118"/>
                  <a:pt x="832" y="131"/>
                </a:cubicBezTo>
                <a:cubicBezTo>
                  <a:pt x="837" y="144"/>
                  <a:pt x="841" y="157"/>
                  <a:pt x="844" y="170"/>
                </a:cubicBezTo>
                <a:cubicBezTo>
                  <a:pt x="847" y="184"/>
                  <a:pt x="848" y="198"/>
                  <a:pt x="848" y="212"/>
                </a:cubicBezTo>
                <a:lnTo>
                  <a:pt x="848" y="636"/>
                </a:lnTo>
                <a:cubicBezTo>
                  <a:pt x="848" y="650"/>
                  <a:pt x="847" y="664"/>
                  <a:pt x="844" y="677"/>
                </a:cubicBezTo>
                <a:cubicBezTo>
                  <a:pt x="841" y="691"/>
                  <a:pt x="837" y="704"/>
                  <a:pt x="832" y="717"/>
                </a:cubicBezTo>
                <a:cubicBezTo>
                  <a:pt x="827" y="730"/>
                  <a:pt x="820" y="742"/>
                  <a:pt x="812" y="754"/>
                </a:cubicBezTo>
                <a:cubicBezTo>
                  <a:pt x="805" y="765"/>
                  <a:pt x="796" y="776"/>
                  <a:pt x="786" y="786"/>
                </a:cubicBezTo>
                <a:cubicBezTo>
                  <a:pt x="776" y="796"/>
                  <a:pt x="765" y="804"/>
                  <a:pt x="754" y="812"/>
                </a:cubicBezTo>
                <a:cubicBezTo>
                  <a:pt x="742" y="820"/>
                  <a:pt x="730" y="826"/>
                  <a:pt x="717" y="832"/>
                </a:cubicBezTo>
                <a:cubicBezTo>
                  <a:pt x="704" y="837"/>
                  <a:pt x="691" y="841"/>
                  <a:pt x="678" y="844"/>
                </a:cubicBezTo>
                <a:cubicBezTo>
                  <a:pt x="664" y="846"/>
                  <a:pt x="650" y="848"/>
                  <a:pt x="636" y="848"/>
                </a:cubicBezTo>
                <a:lnTo>
                  <a:pt x="212" y="848"/>
                </a:lnTo>
                <a:cubicBezTo>
                  <a:pt x="198" y="848"/>
                  <a:pt x="184" y="846"/>
                  <a:pt x="171" y="844"/>
                </a:cubicBezTo>
                <a:cubicBezTo>
                  <a:pt x="157" y="841"/>
                  <a:pt x="144" y="837"/>
                  <a:pt x="131" y="832"/>
                </a:cubicBezTo>
                <a:cubicBezTo>
                  <a:pt x="118" y="826"/>
                  <a:pt x="106" y="820"/>
                  <a:pt x="94" y="812"/>
                </a:cubicBezTo>
                <a:cubicBezTo>
                  <a:pt x="83" y="804"/>
                  <a:pt x="72" y="796"/>
                  <a:pt x="62" y="786"/>
                </a:cubicBezTo>
                <a:cubicBezTo>
                  <a:pt x="52" y="776"/>
                  <a:pt x="44" y="765"/>
                  <a:pt x="36" y="754"/>
                </a:cubicBezTo>
                <a:cubicBezTo>
                  <a:pt x="28" y="742"/>
                  <a:pt x="22" y="730"/>
                  <a:pt x="16" y="717"/>
                </a:cubicBezTo>
                <a:cubicBezTo>
                  <a:pt x="11" y="704"/>
                  <a:pt x="7" y="691"/>
                  <a:pt x="4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2E5C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7954900" y="3720259"/>
            <a:ext cx="305000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ComBat adjustment for tissue effects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650340" y="4214961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954900" y="4103299"/>
            <a:ext cx="203158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Differential Expression</a:t>
            </a:r>
          </a:p>
        </p:txBody>
      </p:sp>
      <p:sp>
        <p:nvSpPr>
          <p:cNvPr id="210" name="Free-form: Shape 209"/>
          <p:cNvSpPr/>
          <p:nvPr/>
        </p:nvSpPr>
        <p:spPr>
          <a:xfrm>
            <a:off x="7524340" y="4763198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0" y="636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636" y="0"/>
                </a:lnTo>
                <a:cubicBezTo>
                  <a:pt x="650" y="0"/>
                  <a:pt x="664" y="2"/>
                  <a:pt x="678" y="4"/>
                </a:cubicBezTo>
                <a:cubicBezTo>
                  <a:pt x="691" y="7"/>
                  <a:pt x="704" y="11"/>
                  <a:pt x="717" y="17"/>
                </a:cubicBezTo>
                <a:cubicBezTo>
                  <a:pt x="730" y="22"/>
                  <a:pt x="742" y="28"/>
                  <a:pt x="754" y="36"/>
                </a:cubicBezTo>
                <a:cubicBezTo>
                  <a:pt x="765" y="44"/>
                  <a:pt x="776" y="53"/>
                  <a:pt x="786" y="62"/>
                </a:cubicBezTo>
                <a:cubicBezTo>
                  <a:pt x="796" y="72"/>
                  <a:pt x="805" y="83"/>
                  <a:pt x="812" y="94"/>
                </a:cubicBezTo>
                <a:cubicBezTo>
                  <a:pt x="820" y="106"/>
                  <a:pt x="827" y="118"/>
                  <a:pt x="832" y="131"/>
                </a:cubicBezTo>
                <a:cubicBezTo>
                  <a:pt x="837" y="144"/>
                  <a:pt x="841" y="157"/>
                  <a:pt x="844" y="171"/>
                </a:cubicBezTo>
                <a:cubicBezTo>
                  <a:pt x="847" y="184"/>
                  <a:pt x="848" y="198"/>
                  <a:pt x="848" y="212"/>
                </a:cubicBezTo>
                <a:lnTo>
                  <a:pt x="848" y="636"/>
                </a:lnTo>
                <a:cubicBezTo>
                  <a:pt x="848" y="650"/>
                  <a:pt x="847" y="664"/>
                  <a:pt x="844" y="678"/>
                </a:cubicBezTo>
                <a:cubicBezTo>
                  <a:pt x="841" y="691"/>
                  <a:pt x="837" y="705"/>
                  <a:pt x="832" y="717"/>
                </a:cubicBezTo>
                <a:cubicBezTo>
                  <a:pt x="827" y="730"/>
                  <a:pt x="820" y="742"/>
                  <a:pt x="812" y="754"/>
                </a:cubicBezTo>
                <a:cubicBezTo>
                  <a:pt x="805" y="766"/>
                  <a:pt x="796" y="776"/>
                  <a:pt x="786" y="786"/>
                </a:cubicBezTo>
                <a:cubicBezTo>
                  <a:pt x="776" y="796"/>
                  <a:pt x="765" y="805"/>
                  <a:pt x="754" y="812"/>
                </a:cubicBezTo>
                <a:cubicBezTo>
                  <a:pt x="742" y="820"/>
                  <a:pt x="730" y="827"/>
                  <a:pt x="717" y="832"/>
                </a:cubicBezTo>
                <a:cubicBezTo>
                  <a:pt x="704" y="837"/>
                  <a:pt x="691" y="841"/>
                  <a:pt x="678" y="844"/>
                </a:cubicBezTo>
                <a:cubicBezTo>
                  <a:pt x="664" y="847"/>
                  <a:pt x="650" y="848"/>
                  <a:pt x="636" y="848"/>
                </a:cubicBezTo>
                <a:lnTo>
                  <a:pt x="212" y="848"/>
                </a:lnTo>
                <a:cubicBezTo>
                  <a:pt x="198" y="848"/>
                  <a:pt x="184" y="847"/>
                  <a:pt x="171" y="844"/>
                </a:cubicBezTo>
                <a:cubicBezTo>
                  <a:pt x="157" y="841"/>
                  <a:pt x="144" y="837"/>
                  <a:pt x="131" y="832"/>
                </a:cubicBezTo>
                <a:cubicBezTo>
                  <a:pt x="118" y="827"/>
                  <a:pt x="106" y="820"/>
                  <a:pt x="94" y="812"/>
                </a:cubicBezTo>
                <a:cubicBezTo>
                  <a:pt x="83" y="805"/>
                  <a:pt x="72" y="796"/>
                  <a:pt x="62" y="786"/>
                </a:cubicBezTo>
                <a:cubicBezTo>
                  <a:pt x="52" y="776"/>
                  <a:pt x="44" y="766"/>
                  <a:pt x="36" y="754"/>
                </a:cubicBezTo>
                <a:cubicBezTo>
                  <a:pt x="28" y="742"/>
                  <a:pt x="22" y="730"/>
                  <a:pt x="16" y="717"/>
                </a:cubicBezTo>
                <a:cubicBezTo>
                  <a:pt x="11" y="705"/>
                  <a:pt x="7" y="691"/>
                  <a:pt x="4" y="678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7954900" y="4330099"/>
            <a:ext cx="315631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limma analysis for DEG identification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644220" y="4844198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5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954900" y="4712779"/>
            <a:ext cx="226292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Cross-Disease Integration</a:t>
            </a:r>
          </a:p>
        </p:txBody>
      </p:sp>
      <p:sp>
        <p:nvSpPr>
          <p:cNvPr id="214" name="Free-form: Shape 213"/>
          <p:cNvSpPr/>
          <p:nvPr/>
        </p:nvSpPr>
        <p:spPr>
          <a:xfrm>
            <a:off x="571320" y="6153120"/>
            <a:ext cx="11049480" cy="9720"/>
          </a:xfrm>
          <a:custGeom>
            <a:avLst/>
            <a:gdLst/>
            <a:ahLst/>
            <a:cxnLst/>
            <a:rect l="0" t="0" r="r" b="b"/>
            <a:pathLst>
              <a:path w="30693" h="27">
                <a:moveTo>
                  <a:pt x="0" y="0"/>
                </a:moveTo>
                <a:lnTo>
                  <a:pt x="30693" y="0"/>
                </a:lnTo>
                <a:lnTo>
                  <a:pt x="306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7954900" y="4939579"/>
            <a:ext cx="385842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GO/KEGG enrichment, biomarker comparison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1452320" y="6340320"/>
            <a:ext cx="1688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08</a:t>
            </a:r>
          </a:p>
        </p:txBody>
      </p:sp>
      <p:pic>
        <p:nvPicPr>
          <p:cNvPr id="3074" name="Picture 2" descr="Workflow diagra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t="15361" r="13865" b="15109"/>
          <a:stretch/>
        </p:blipFill>
        <p:spPr bwMode="auto">
          <a:xfrm>
            <a:off x="168393" y="1438826"/>
            <a:ext cx="6828756" cy="460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Free-form: Shape 2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0" name="Free-form: Shape 219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1" name="Free-form: Shape 220"/>
          <p:cNvSpPr/>
          <p:nvPr/>
        </p:nvSpPr>
        <p:spPr>
          <a:xfrm>
            <a:off x="277611" y="172243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4" y="65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2223" y="0"/>
                </a:lnTo>
                <a:cubicBezTo>
                  <a:pt x="2244" y="0"/>
                  <a:pt x="2265" y="2"/>
                  <a:pt x="2285" y="6"/>
                </a:cubicBezTo>
                <a:cubicBezTo>
                  <a:pt x="2306" y="11"/>
                  <a:pt x="2325" y="17"/>
                  <a:pt x="2345" y="25"/>
                </a:cubicBezTo>
                <a:cubicBezTo>
                  <a:pt x="2364" y="33"/>
                  <a:pt x="2382" y="42"/>
                  <a:pt x="2400" y="54"/>
                </a:cubicBezTo>
                <a:cubicBezTo>
                  <a:pt x="2417" y="65"/>
                  <a:pt x="2433" y="79"/>
                  <a:pt x="2448" y="93"/>
                </a:cubicBezTo>
                <a:cubicBezTo>
                  <a:pt x="2462" y="108"/>
                  <a:pt x="2476" y="124"/>
                  <a:pt x="2487" y="141"/>
                </a:cubicBezTo>
                <a:cubicBezTo>
                  <a:pt x="2499" y="159"/>
                  <a:pt x="2509" y="177"/>
                  <a:pt x="2517" y="196"/>
                </a:cubicBezTo>
                <a:cubicBezTo>
                  <a:pt x="2525" y="216"/>
                  <a:pt x="2531" y="235"/>
                  <a:pt x="2535" y="256"/>
                </a:cubicBezTo>
                <a:cubicBezTo>
                  <a:pt x="2539" y="276"/>
                  <a:pt x="2541" y="297"/>
                  <a:pt x="2541" y="318"/>
                </a:cubicBezTo>
                <a:lnTo>
                  <a:pt x="2541" y="2224"/>
                </a:lnTo>
                <a:cubicBezTo>
                  <a:pt x="2541" y="2245"/>
                  <a:pt x="2539" y="2265"/>
                  <a:pt x="2535" y="2286"/>
                </a:cubicBezTo>
                <a:cubicBezTo>
                  <a:pt x="2531" y="2306"/>
                  <a:pt x="2525" y="2326"/>
                  <a:pt x="2517" y="2345"/>
                </a:cubicBezTo>
                <a:cubicBezTo>
                  <a:pt x="2509" y="2365"/>
                  <a:pt x="2499" y="2383"/>
                  <a:pt x="2487" y="2400"/>
                </a:cubicBezTo>
                <a:cubicBezTo>
                  <a:pt x="2476" y="2418"/>
                  <a:pt x="2462" y="2434"/>
                  <a:pt x="2448" y="2448"/>
                </a:cubicBezTo>
                <a:cubicBezTo>
                  <a:pt x="2433" y="2463"/>
                  <a:pt x="2417" y="2476"/>
                  <a:pt x="2400" y="2488"/>
                </a:cubicBezTo>
                <a:cubicBezTo>
                  <a:pt x="2382" y="2499"/>
                  <a:pt x="2364" y="2509"/>
                  <a:pt x="2345" y="2517"/>
                </a:cubicBezTo>
                <a:cubicBezTo>
                  <a:pt x="2325" y="2525"/>
                  <a:pt x="2306" y="2531"/>
                  <a:pt x="2285" y="2535"/>
                </a:cubicBezTo>
                <a:cubicBezTo>
                  <a:pt x="2265" y="2539"/>
                  <a:pt x="2244" y="2541"/>
                  <a:pt x="2223" y="2541"/>
                </a:cubicBezTo>
                <a:lnTo>
                  <a:pt x="317" y="2541"/>
                </a:lnTo>
                <a:cubicBezTo>
                  <a:pt x="296" y="2541"/>
                  <a:pt x="276" y="2539"/>
                  <a:pt x="255" y="2535"/>
                </a:cubicBezTo>
                <a:cubicBezTo>
                  <a:pt x="235" y="2531"/>
                  <a:pt x="215" y="2525"/>
                  <a:pt x="196" y="2517"/>
                </a:cubicBezTo>
                <a:cubicBezTo>
                  <a:pt x="176" y="2509"/>
                  <a:pt x="158" y="2499"/>
                  <a:pt x="141" y="2488"/>
                </a:cubicBezTo>
                <a:cubicBezTo>
                  <a:pt x="124" y="2476"/>
                  <a:pt x="107" y="2463"/>
                  <a:pt x="93" y="2448"/>
                </a:cubicBezTo>
                <a:cubicBezTo>
                  <a:pt x="78" y="2434"/>
                  <a:pt x="65" y="2418"/>
                  <a:pt x="53" y="2400"/>
                </a:cubicBezTo>
                <a:cubicBezTo>
                  <a:pt x="42" y="2383"/>
                  <a:pt x="32" y="2365"/>
                  <a:pt x="24" y="2345"/>
                </a:cubicBezTo>
                <a:cubicBezTo>
                  <a:pt x="16" y="2326"/>
                  <a:pt x="10" y="2306"/>
                  <a:pt x="6" y="2286"/>
                </a:cubicBezTo>
                <a:cubicBezTo>
                  <a:pt x="2" y="2265"/>
                  <a:pt x="0" y="2245"/>
                  <a:pt x="0" y="2224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252000" rIns="0" bIns="0" anchor="t">
            <a:noAutofit/>
          </a:bodyPr>
          <a:lstStyle/>
          <a:p>
            <a:pPr algn="ctr"/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Install &amp; Load Required Packages 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71320" y="569160"/>
            <a:ext cx="6203621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Methodology - Data Processing Steps</a:t>
            </a:r>
          </a:p>
        </p:txBody>
      </p:sp>
      <p:sp>
        <p:nvSpPr>
          <p:cNvPr id="225" name="Free-form: Shape 224"/>
          <p:cNvSpPr/>
          <p:nvPr/>
        </p:nvSpPr>
        <p:spPr>
          <a:xfrm>
            <a:off x="2828880" y="2178756"/>
            <a:ext cx="152640" cy="127080"/>
          </a:xfrm>
          <a:custGeom>
            <a:avLst/>
            <a:gdLst/>
            <a:ahLst/>
            <a:cxnLst/>
            <a:rect l="0" t="0" r="r" b="b"/>
            <a:pathLst>
              <a:path w="424" h="353" fill="none">
                <a:moveTo>
                  <a:pt x="247" y="0"/>
                </a:moveTo>
                <a:lnTo>
                  <a:pt x="424" y="176"/>
                </a:lnTo>
                <a:moveTo>
                  <a:pt x="424" y="176"/>
                </a:moveTo>
                <a:lnTo>
                  <a:pt x="247" y="353"/>
                </a:lnTo>
                <a:moveTo>
                  <a:pt x="424" y="176"/>
                </a:moveTo>
                <a:lnTo>
                  <a:pt x="0" y="176"/>
                </a:lnTo>
              </a:path>
            </a:pathLst>
          </a:custGeom>
          <a:ln w="37800" cap="rnd">
            <a:solidFill>
              <a:srgbClr val="DA7756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6" name="Free-form: Shape 225"/>
          <p:cNvSpPr/>
          <p:nvPr/>
        </p:nvSpPr>
        <p:spPr>
          <a:xfrm>
            <a:off x="3455412" y="172243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9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9" y="42"/>
                  <a:pt x="177" y="33"/>
                  <a:pt x="197" y="25"/>
                </a:cubicBezTo>
                <a:cubicBezTo>
                  <a:pt x="217" y="17"/>
                  <a:pt x="236" y="11"/>
                  <a:pt x="257" y="6"/>
                </a:cubicBezTo>
                <a:cubicBezTo>
                  <a:pt x="277" y="2"/>
                  <a:pt x="298" y="0"/>
                  <a:pt x="319" y="0"/>
                </a:cubicBezTo>
                <a:lnTo>
                  <a:pt x="2224" y="0"/>
                </a:lnTo>
                <a:cubicBezTo>
                  <a:pt x="2245" y="0"/>
                  <a:pt x="2265" y="2"/>
                  <a:pt x="2286" y="6"/>
                </a:cubicBezTo>
                <a:cubicBezTo>
                  <a:pt x="2306" y="11"/>
                  <a:pt x="2326" y="17"/>
                  <a:pt x="2345" y="25"/>
                </a:cubicBezTo>
                <a:cubicBezTo>
                  <a:pt x="2365" y="33"/>
                  <a:pt x="2383" y="42"/>
                  <a:pt x="2400" y="54"/>
                </a:cubicBezTo>
                <a:cubicBezTo>
                  <a:pt x="2418" y="65"/>
                  <a:pt x="2434" y="79"/>
                  <a:pt x="2448" y="93"/>
                </a:cubicBezTo>
                <a:cubicBezTo>
                  <a:pt x="2463" y="108"/>
                  <a:pt x="2476" y="124"/>
                  <a:pt x="2488" y="141"/>
                </a:cubicBezTo>
                <a:cubicBezTo>
                  <a:pt x="2499" y="159"/>
                  <a:pt x="2509" y="177"/>
                  <a:pt x="2517" y="196"/>
                </a:cubicBezTo>
                <a:cubicBezTo>
                  <a:pt x="2525" y="216"/>
                  <a:pt x="2531" y="235"/>
                  <a:pt x="2535" y="256"/>
                </a:cubicBezTo>
                <a:cubicBezTo>
                  <a:pt x="2539" y="276"/>
                  <a:pt x="2541" y="297"/>
                  <a:pt x="2541" y="318"/>
                </a:cubicBezTo>
                <a:lnTo>
                  <a:pt x="2541" y="2224"/>
                </a:lnTo>
                <a:cubicBezTo>
                  <a:pt x="2541" y="2245"/>
                  <a:pt x="2539" y="2265"/>
                  <a:pt x="2535" y="2286"/>
                </a:cubicBezTo>
                <a:cubicBezTo>
                  <a:pt x="2531" y="2306"/>
                  <a:pt x="2525" y="2326"/>
                  <a:pt x="2517" y="2345"/>
                </a:cubicBezTo>
                <a:cubicBezTo>
                  <a:pt x="2509" y="2365"/>
                  <a:pt x="2499" y="2383"/>
                  <a:pt x="2488" y="2400"/>
                </a:cubicBezTo>
                <a:cubicBezTo>
                  <a:pt x="2476" y="2418"/>
                  <a:pt x="2463" y="2434"/>
                  <a:pt x="2448" y="2448"/>
                </a:cubicBezTo>
                <a:cubicBezTo>
                  <a:pt x="2434" y="2463"/>
                  <a:pt x="2418" y="2476"/>
                  <a:pt x="2400" y="2488"/>
                </a:cubicBezTo>
                <a:cubicBezTo>
                  <a:pt x="2383" y="2499"/>
                  <a:pt x="2365" y="2509"/>
                  <a:pt x="2345" y="2517"/>
                </a:cubicBezTo>
                <a:cubicBezTo>
                  <a:pt x="2326" y="2525"/>
                  <a:pt x="2306" y="2531"/>
                  <a:pt x="2286" y="2535"/>
                </a:cubicBezTo>
                <a:cubicBezTo>
                  <a:pt x="2265" y="2539"/>
                  <a:pt x="2245" y="2541"/>
                  <a:pt x="2224" y="2541"/>
                </a:cubicBezTo>
                <a:lnTo>
                  <a:pt x="319" y="2541"/>
                </a:lnTo>
                <a:cubicBezTo>
                  <a:pt x="298" y="2541"/>
                  <a:pt x="277" y="2539"/>
                  <a:pt x="257" y="2535"/>
                </a:cubicBezTo>
                <a:cubicBezTo>
                  <a:pt x="236" y="2531"/>
                  <a:pt x="217" y="2525"/>
                  <a:pt x="197" y="2517"/>
                </a:cubicBezTo>
                <a:cubicBezTo>
                  <a:pt x="177" y="2509"/>
                  <a:pt x="159" y="2499"/>
                  <a:pt x="141" y="2488"/>
                </a:cubicBezTo>
                <a:cubicBezTo>
                  <a:pt x="124" y="2476"/>
                  <a:pt x="108" y="2463"/>
                  <a:pt x="93" y="2448"/>
                </a:cubicBezTo>
                <a:cubicBezTo>
                  <a:pt x="79" y="2434"/>
                  <a:pt x="65" y="2418"/>
                  <a:pt x="54" y="2400"/>
                </a:cubicBezTo>
                <a:cubicBezTo>
                  <a:pt x="42" y="2383"/>
                  <a:pt x="32" y="2365"/>
                  <a:pt x="24" y="2345"/>
                </a:cubicBezTo>
                <a:cubicBezTo>
                  <a:pt x="16" y="2326"/>
                  <a:pt x="10" y="2306"/>
                  <a:pt x="6" y="2286"/>
                </a:cubicBezTo>
                <a:cubicBezTo>
                  <a:pt x="2" y="2265"/>
                  <a:pt x="0" y="2245"/>
                  <a:pt x="0" y="2224"/>
                </a:cubicBez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360000" rIns="0" bIns="0" anchor="t">
            <a:noAutofit/>
          </a:bodyPr>
          <a:lstStyle/>
          <a:p>
            <a:pPr algn="ctr"/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Download GEO Data</a:t>
            </a:r>
          </a:p>
        </p:txBody>
      </p:sp>
      <p:sp>
        <p:nvSpPr>
          <p:cNvPr id="230" name="Free-form: Shape 229"/>
          <p:cNvSpPr/>
          <p:nvPr/>
        </p:nvSpPr>
        <p:spPr>
          <a:xfrm>
            <a:off x="6019560" y="2178756"/>
            <a:ext cx="152640" cy="127080"/>
          </a:xfrm>
          <a:custGeom>
            <a:avLst/>
            <a:gdLst/>
            <a:ahLst/>
            <a:cxnLst/>
            <a:rect l="0" t="0" r="r" b="b"/>
            <a:pathLst>
              <a:path w="424" h="353" fill="none">
                <a:moveTo>
                  <a:pt x="247" y="0"/>
                </a:moveTo>
                <a:lnTo>
                  <a:pt x="424" y="176"/>
                </a:lnTo>
                <a:moveTo>
                  <a:pt x="424" y="176"/>
                </a:moveTo>
                <a:lnTo>
                  <a:pt x="247" y="353"/>
                </a:lnTo>
                <a:moveTo>
                  <a:pt x="424" y="176"/>
                </a:moveTo>
                <a:lnTo>
                  <a:pt x="0" y="176"/>
                </a:lnTo>
              </a:path>
            </a:pathLst>
          </a:custGeom>
          <a:ln w="37800" cap="rnd">
            <a:solidFill>
              <a:srgbClr val="5B9BD5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1" name="Free-form: Shape 230"/>
          <p:cNvSpPr/>
          <p:nvPr/>
        </p:nvSpPr>
        <p:spPr>
          <a:xfrm>
            <a:off x="6636732" y="172243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1" y="235"/>
                  <a:pt x="17" y="216"/>
                  <a:pt x="25" y="196"/>
                </a:cubicBezTo>
                <a:cubicBezTo>
                  <a:pt x="33" y="177"/>
                  <a:pt x="42" y="159"/>
                  <a:pt x="54" y="141"/>
                </a:cubicBezTo>
                <a:cubicBezTo>
                  <a:pt x="65" y="124"/>
                  <a:pt x="79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9" y="42"/>
                  <a:pt x="177" y="33"/>
                  <a:pt x="196" y="25"/>
                </a:cubicBezTo>
                <a:cubicBezTo>
                  <a:pt x="216" y="17"/>
                  <a:pt x="235" y="11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2224" y="0"/>
                </a:lnTo>
                <a:cubicBezTo>
                  <a:pt x="2245" y="0"/>
                  <a:pt x="2265" y="2"/>
                  <a:pt x="2286" y="6"/>
                </a:cubicBezTo>
                <a:cubicBezTo>
                  <a:pt x="2306" y="11"/>
                  <a:pt x="2326" y="17"/>
                  <a:pt x="2345" y="25"/>
                </a:cubicBezTo>
                <a:cubicBezTo>
                  <a:pt x="2365" y="33"/>
                  <a:pt x="2383" y="42"/>
                  <a:pt x="2400" y="54"/>
                </a:cubicBezTo>
                <a:cubicBezTo>
                  <a:pt x="2418" y="65"/>
                  <a:pt x="2434" y="79"/>
                  <a:pt x="2448" y="93"/>
                </a:cubicBezTo>
                <a:cubicBezTo>
                  <a:pt x="2463" y="108"/>
                  <a:pt x="2476" y="124"/>
                  <a:pt x="2488" y="141"/>
                </a:cubicBezTo>
                <a:cubicBezTo>
                  <a:pt x="2499" y="159"/>
                  <a:pt x="2509" y="177"/>
                  <a:pt x="2517" y="196"/>
                </a:cubicBezTo>
                <a:cubicBezTo>
                  <a:pt x="2525" y="216"/>
                  <a:pt x="2531" y="235"/>
                  <a:pt x="2535" y="256"/>
                </a:cubicBezTo>
                <a:cubicBezTo>
                  <a:pt x="2539" y="276"/>
                  <a:pt x="2541" y="297"/>
                  <a:pt x="2541" y="318"/>
                </a:cubicBezTo>
                <a:lnTo>
                  <a:pt x="2541" y="2224"/>
                </a:lnTo>
                <a:cubicBezTo>
                  <a:pt x="2541" y="2245"/>
                  <a:pt x="2539" y="2265"/>
                  <a:pt x="2535" y="2286"/>
                </a:cubicBezTo>
                <a:cubicBezTo>
                  <a:pt x="2531" y="2306"/>
                  <a:pt x="2525" y="2326"/>
                  <a:pt x="2517" y="2345"/>
                </a:cubicBezTo>
                <a:cubicBezTo>
                  <a:pt x="2509" y="2365"/>
                  <a:pt x="2499" y="2383"/>
                  <a:pt x="2488" y="2400"/>
                </a:cubicBezTo>
                <a:cubicBezTo>
                  <a:pt x="2476" y="2418"/>
                  <a:pt x="2463" y="2434"/>
                  <a:pt x="2448" y="2448"/>
                </a:cubicBezTo>
                <a:cubicBezTo>
                  <a:pt x="2434" y="2463"/>
                  <a:pt x="2418" y="2476"/>
                  <a:pt x="2400" y="2488"/>
                </a:cubicBezTo>
                <a:cubicBezTo>
                  <a:pt x="2383" y="2499"/>
                  <a:pt x="2365" y="2509"/>
                  <a:pt x="2345" y="2517"/>
                </a:cubicBezTo>
                <a:cubicBezTo>
                  <a:pt x="2326" y="2525"/>
                  <a:pt x="2306" y="2531"/>
                  <a:pt x="2286" y="2535"/>
                </a:cubicBezTo>
                <a:cubicBezTo>
                  <a:pt x="2265" y="2539"/>
                  <a:pt x="2245" y="2541"/>
                  <a:pt x="2224" y="2541"/>
                </a:cubicBezTo>
                <a:lnTo>
                  <a:pt x="318" y="2541"/>
                </a:lnTo>
                <a:cubicBezTo>
                  <a:pt x="297" y="2541"/>
                  <a:pt x="276" y="2539"/>
                  <a:pt x="256" y="2535"/>
                </a:cubicBezTo>
                <a:cubicBezTo>
                  <a:pt x="235" y="2531"/>
                  <a:pt x="216" y="2525"/>
                  <a:pt x="196" y="2517"/>
                </a:cubicBezTo>
                <a:cubicBezTo>
                  <a:pt x="177" y="2509"/>
                  <a:pt x="159" y="2499"/>
                  <a:pt x="141" y="2488"/>
                </a:cubicBezTo>
                <a:cubicBezTo>
                  <a:pt x="124" y="2476"/>
                  <a:pt x="108" y="2463"/>
                  <a:pt x="93" y="2448"/>
                </a:cubicBezTo>
                <a:cubicBezTo>
                  <a:pt x="79" y="2434"/>
                  <a:pt x="65" y="2418"/>
                  <a:pt x="54" y="2400"/>
                </a:cubicBezTo>
                <a:cubicBezTo>
                  <a:pt x="42" y="2383"/>
                  <a:pt x="33" y="2365"/>
                  <a:pt x="25" y="2345"/>
                </a:cubicBezTo>
                <a:cubicBezTo>
                  <a:pt x="17" y="2326"/>
                  <a:pt x="11" y="2306"/>
                  <a:pt x="6" y="2286"/>
                </a:cubicBezTo>
                <a:cubicBezTo>
                  <a:pt x="2" y="2265"/>
                  <a:pt x="0" y="2245"/>
                  <a:pt x="0" y="2224"/>
                </a:cubicBez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252000" rIns="0" bIns="0" anchor="t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Extract Expression &amp; Phenotype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 Metadata</a:t>
            </a:r>
          </a:p>
        </p:txBody>
      </p:sp>
      <p:sp>
        <p:nvSpPr>
          <p:cNvPr id="235" name="Free-form: Shape 234"/>
          <p:cNvSpPr/>
          <p:nvPr/>
        </p:nvSpPr>
        <p:spPr>
          <a:xfrm>
            <a:off x="9210600" y="2178756"/>
            <a:ext cx="152640" cy="127080"/>
          </a:xfrm>
          <a:custGeom>
            <a:avLst/>
            <a:gdLst/>
            <a:ahLst/>
            <a:cxnLst/>
            <a:rect l="0" t="0" r="r" b="b"/>
            <a:pathLst>
              <a:path w="424" h="353" fill="none">
                <a:moveTo>
                  <a:pt x="248" y="0"/>
                </a:moveTo>
                <a:lnTo>
                  <a:pt x="424" y="176"/>
                </a:lnTo>
                <a:moveTo>
                  <a:pt x="424" y="176"/>
                </a:moveTo>
                <a:lnTo>
                  <a:pt x="248" y="353"/>
                </a:lnTo>
                <a:moveTo>
                  <a:pt x="424" y="176"/>
                </a:moveTo>
                <a:lnTo>
                  <a:pt x="0" y="176"/>
                </a:lnTo>
              </a:path>
            </a:pathLst>
          </a:custGeom>
          <a:ln w="37800" cap="rnd">
            <a:solidFill>
              <a:srgbClr val="B8C5B0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6" name="Free-form: Shape 235"/>
          <p:cNvSpPr/>
          <p:nvPr/>
        </p:nvSpPr>
        <p:spPr>
          <a:xfrm>
            <a:off x="9827772" y="172243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8" y="42"/>
                  <a:pt x="177" y="33"/>
                  <a:pt x="196" y="25"/>
                </a:cubicBezTo>
                <a:cubicBezTo>
                  <a:pt x="215" y="17"/>
                  <a:pt x="235" y="11"/>
                  <a:pt x="256" y="6"/>
                </a:cubicBezTo>
                <a:cubicBezTo>
                  <a:pt x="277" y="2"/>
                  <a:pt x="298" y="0"/>
                  <a:pt x="318" y="0"/>
                </a:cubicBezTo>
                <a:lnTo>
                  <a:pt x="2223" y="0"/>
                </a:lnTo>
                <a:cubicBezTo>
                  <a:pt x="2244" y="0"/>
                  <a:pt x="2265" y="2"/>
                  <a:pt x="2285" y="6"/>
                </a:cubicBezTo>
                <a:cubicBezTo>
                  <a:pt x="2306" y="11"/>
                  <a:pt x="2326" y="17"/>
                  <a:pt x="2345" y="25"/>
                </a:cubicBezTo>
                <a:cubicBezTo>
                  <a:pt x="2364" y="33"/>
                  <a:pt x="2382" y="42"/>
                  <a:pt x="2400" y="54"/>
                </a:cubicBezTo>
                <a:cubicBezTo>
                  <a:pt x="2417" y="65"/>
                  <a:pt x="2433" y="79"/>
                  <a:pt x="2448" y="93"/>
                </a:cubicBezTo>
                <a:cubicBezTo>
                  <a:pt x="2463" y="108"/>
                  <a:pt x="2476" y="124"/>
                  <a:pt x="2487" y="141"/>
                </a:cubicBezTo>
                <a:cubicBezTo>
                  <a:pt x="2499" y="159"/>
                  <a:pt x="2509" y="177"/>
                  <a:pt x="2517" y="196"/>
                </a:cubicBezTo>
                <a:cubicBezTo>
                  <a:pt x="2525" y="216"/>
                  <a:pt x="2531" y="235"/>
                  <a:pt x="2535" y="256"/>
                </a:cubicBezTo>
                <a:cubicBezTo>
                  <a:pt x="2539" y="276"/>
                  <a:pt x="2541" y="297"/>
                  <a:pt x="2541" y="318"/>
                </a:cubicBezTo>
                <a:lnTo>
                  <a:pt x="2541" y="2224"/>
                </a:lnTo>
                <a:cubicBezTo>
                  <a:pt x="2541" y="2245"/>
                  <a:pt x="2539" y="2265"/>
                  <a:pt x="2535" y="2286"/>
                </a:cubicBezTo>
                <a:cubicBezTo>
                  <a:pt x="2531" y="2306"/>
                  <a:pt x="2525" y="2326"/>
                  <a:pt x="2517" y="2345"/>
                </a:cubicBezTo>
                <a:cubicBezTo>
                  <a:pt x="2509" y="2365"/>
                  <a:pt x="2499" y="2383"/>
                  <a:pt x="2487" y="2400"/>
                </a:cubicBezTo>
                <a:cubicBezTo>
                  <a:pt x="2476" y="2418"/>
                  <a:pt x="2463" y="2434"/>
                  <a:pt x="2448" y="2448"/>
                </a:cubicBezTo>
                <a:cubicBezTo>
                  <a:pt x="2433" y="2463"/>
                  <a:pt x="2417" y="2476"/>
                  <a:pt x="2400" y="2488"/>
                </a:cubicBezTo>
                <a:cubicBezTo>
                  <a:pt x="2382" y="2499"/>
                  <a:pt x="2364" y="2509"/>
                  <a:pt x="2345" y="2517"/>
                </a:cubicBezTo>
                <a:cubicBezTo>
                  <a:pt x="2326" y="2525"/>
                  <a:pt x="2306" y="2531"/>
                  <a:pt x="2285" y="2535"/>
                </a:cubicBezTo>
                <a:cubicBezTo>
                  <a:pt x="2265" y="2539"/>
                  <a:pt x="2244" y="2541"/>
                  <a:pt x="2223" y="2541"/>
                </a:cubicBezTo>
                <a:lnTo>
                  <a:pt x="318" y="2541"/>
                </a:lnTo>
                <a:cubicBezTo>
                  <a:pt x="298" y="2541"/>
                  <a:pt x="277" y="2539"/>
                  <a:pt x="256" y="2535"/>
                </a:cubicBezTo>
                <a:cubicBezTo>
                  <a:pt x="235" y="2531"/>
                  <a:pt x="215" y="2525"/>
                  <a:pt x="196" y="2517"/>
                </a:cubicBezTo>
                <a:cubicBezTo>
                  <a:pt x="177" y="2509"/>
                  <a:pt x="158" y="2499"/>
                  <a:pt x="141" y="2488"/>
                </a:cubicBezTo>
                <a:cubicBezTo>
                  <a:pt x="124" y="2476"/>
                  <a:pt x="108" y="2463"/>
                  <a:pt x="93" y="2448"/>
                </a:cubicBezTo>
                <a:cubicBezTo>
                  <a:pt x="78" y="2434"/>
                  <a:pt x="65" y="2418"/>
                  <a:pt x="53" y="2400"/>
                </a:cubicBezTo>
                <a:cubicBezTo>
                  <a:pt x="42" y="2383"/>
                  <a:pt x="32" y="2365"/>
                  <a:pt x="24" y="2345"/>
                </a:cubicBezTo>
                <a:cubicBezTo>
                  <a:pt x="16" y="2326"/>
                  <a:pt x="10" y="2306"/>
                  <a:pt x="6" y="2286"/>
                </a:cubicBezTo>
                <a:cubicBezTo>
                  <a:pt x="2" y="2265"/>
                  <a:pt x="0" y="2245"/>
                  <a:pt x="0" y="2224"/>
                </a:cubicBezTo>
                <a:close/>
              </a:path>
            </a:pathLst>
          </a:custGeom>
          <a:solidFill>
            <a:srgbClr val="2E5C8A"/>
          </a:solidFill>
          <a:ln w="0">
            <a:noFill/>
          </a:ln>
        </p:spPr>
        <p:txBody>
          <a:bodyPr lIns="0" tIns="252000" rIns="0" bIns="0" anchor="t">
            <a:noAutofit/>
          </a:bodyPr>
          <a:lstStyle/>
          <a:p>
            <a:pPr algn="ctr"/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Normalize &amp; Filter Low Quality Genes</a:t>
            </a:r>
          </a:p>
        </p:txBody>
      </p:sp>
      <p:sp>
        <p:nvSpPr>
          <p:cNvPr id="240" name="Free-form: Shape 239"/>
          <p:cNvSpPr/>
          <p:nvPr/>
        </p:nvSpPr>
        <p:spPr>
          <a:xfrm>
            <a:off x="6006960" y="3233313"/>
            <a:ext cx="178200" cy="228960"/>
          </a:xfrm>
          <a:custGeom>
            <a:avLst/>
            <a:gdLst/>
            <a:ahLst/>
            <a:cxnLst/>
            <a:rect l="0" t="0" r="r" b="b"/>
            <a:pathLst>
              <a:path w="495" h="636" fill="none">
                <a:moveTo>
                  <a:pt x="495" y="388"/>
                </a:moveTo>
                <a:lnTo>
                  <a:pt x="247" y="636"/>
                </a:lnTo>
                <a:moveTo>
                  <a:pt x="247" y="636"/>
                </a:moveTo>
                <a:lnTo>
                  <a:pt x="0" y="388"/>
                </a:lnTo>
                <a:moveTo>
                  <a:pt x="247" y="636"/>
                </a:moveTo>
                <a:lnTo>
                  <a:pt x="247" y="0"/>
                </a:lnTo>
              </a:path>
            </a:pathLst>
          </a:custGeom>
          <a:ln w="37800" cap="rnd">
            <a:solidFill>
              <a:srgbClr val="999999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1" name="Free-form: Shape 240"/>
          <p:cNvSpPr/>
          <p:nvPr/>
        </p:nvSpPr>
        <p:spPr>
          <a:xfrm>
            <a:off x="264732" y="384679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3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7" y="78"/>
                  <a:pt x="124" y="65"/>
                  <a:pt x="141" y="53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2223" y="0"/>
                </a:lnTo>
                <a:cubicBezTo>
                  <a:pt x="2244" y="0"/>
                  <a:pt x="2265" y="2"/>
                  <a:pt x="2285" y="6"/>
                </a:cubicBezTo>
                <a:cubicBezTo>
                  <a:pt x="2306" y="10"/>
                  <a:pt x="2325" y="16"/>
                  <a:pt x="2345" y="24"/>
                </a:cubicBezTo>
                <a:cubicBezTo>
                  <a:pt x="2364" y="32"/>
                  <a:pt x="2382" y="42"/>
                  <a:pt x="2400" y="53"/>
                </a:cubicBezTo>
                <a:cubicBezTo>
                  <a:pt x="2417" y="65"/>
                  <a:pt x="2433" y="78"/>
                  <a:pt x="2448" y="93"/>
                </a:cubicBezTo>
                <a:cubicBezTo>
                  <a:pt x="2462" y="107"/>
                  <a:pt x="2476" y="123"/>
                  <a:pt x="2487" y="141"/>
                </a:cubicBezTo>
                <a:cubicBezTo>
                  <a:pt x="2499" y="158"/>
                  <a:pt x="2509" y="176"/>
                  <a:pt x="2517" y="196"/>
                </a:cubicBezTo>
                <a:cubicBezTo>
                  <a:pt x="2525" y="215"/>
                  <a:pt x="2531" y="235"/>
                  <a:pt x="2535" y="255"/>
                </a:cubicBezTo>
                <a:cubicBezTo>
                  <a:pt x="2539" y="276"/>
                  <a:pt x="2541" y="296"/>
                  <a:pt x="2541" y="317"/>
                </a:cubicBezTo>
                <a:lnTo>
                  <a:pt x="2541" y="2223"/>
                </a:lnTo>
                <a:cubicBezTo>
                  <a:pt x="2541" y="2244"/>
                  <a:pt x="2539" y="2265"/>
                  <a:pt x="2535" y="2285"/>
                </a:cubicBezTo>
                <a:cubicBezTo>
                  <a:pt x="2531" y="2305"/>
                  <a:pt x="2525" y="2325"/>
                  <a:pt x="2517" y="2345"/>
                </a:cubicBezTo>
                <a:cubicBezTo>
                  <a:pt x="2509" y="2364"/>
                  <a:pt x="2499" y="2382"/>
                  <a:pt x="2487" y="2399"/>
                </a:cubicBezTo>
                <a:cubicBezTo>
                  <a:pt x="2476" y="2417"/>
                  <a:pt x="2462" y="2433"/>
                  <a:pt x="2448" y="2448"/>
                </a:cubicBezTo>
                <a:cubicBezTo>
                  <a:pt x="2433" y="2462"/>
                  <a:pt x="2417" y="2475"/>
                  <a:pt x="2400" y="2487"/>
                </a:cubicBezTo>
                <a:cubicBezTo>
                  <a:pt x="2382" y="2499"/>
                  <a:pt x="2364" y="2508"/>
                  <a:pt x="2345" y="2516"/>
                </a:cubicBezTo>
                <a:cubicBezTo>
                  <a:pt x="2325" y="2524"/>
                  <a:pt x="2306" y="2530"/>
                  <a:pt x="2285" y="2534"/>
                </a:cubicBezTo>
                <a:cubicBezTo>
                  <a:pt x="2265" y="2539"/>
                  <a:pt x="2244" y="2541"/>
                  <a:pt x="2223" y="2541"/>
                </a:cubicBezTo>
                <a:lnTo>
                  <a:pt x="317" y="2541"/>
                </a:lnTo>
                <a:cubicBezTo>
                  <a:pt x="296" y="2541"/>
                  <a:pt x="276" y="2539"/>
                  <a:pt x="255" y="2534"/>
                </a:cubicBezTo>
                <a:cubicBezTo>
                  <a:pt x="235" y="2530"/>
                  <a:pt x="215" y="2524"/>
                  <a:pt x="196" y="2516"/>
                </a:cubicBezTo>
                <a:cubicBezTo>
                  <a:pt x="176" y="2508"/>
                  <a:pt x="158" y="2499"/>
                  <a:pt x="141" y="2487"/>
                </a:cubicBezTo>
                <a:cubicBezTo>
                  <a:pt x="124" y="2475"/>
                  <a:pt x="107" y="2462"/>
                  <a:pt x="93" y="2448"/>
                </a:cubicBezTo>
                <a:cubicBezTo>
                  <a:pt x="78" y="2433"/>
                  <a:pt x="65" y="2417"/>
                  <a:pt x="53" y="2399"/>
                </a:cubicBezTo>
                <a:cubicBezTo>
                  <a:pt x="42" y="2382"/>
                  <a:pt x="32" y="2364"/>
                  <a:pt x="24" y="2345"/>
                </a:cubicBezTo>
                <a:cubicBezTo>
                  <a:pt x="16" y="2325"/>
                  <a:pt x="10" y="2305"/>
                  <a:pt x="6" y="2285"/>
                </a:cubicBezTo>
                <a:cubicBezTo>
                  <a:pt x="2" y="2265"/>
                  <a:pt x="0" y="2244"/>
                  <a:pt x="0" y="2223"/>
                </a:cubicBezTo>
                <a:close/>
              </a:path>
            </a:pathLst>
          </a:custGeom>
          <a:solidFill>
            <a:srgbClr val="E67E50"/>
          </a:solidFill>
          <a:ln w="0">
            <a:noFill/>
          </a:ln>
        </p:spPr>
        <p:txBody>
          <a:bodyPr lIns="0" tIns="252000" rIns="0" bIns="0" anchor="t">
            <a:noAutofit/>
          </a:bodyPr>
          <a:lstStyle/>
          <a:p>
            <a:pPr algn="ctr"/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Repeat pipeline for lung cancer dataset </a:t>
            </a:r>
          </a:p>
        </p:txBody>
      </p:sp>
      <p:sp>
        <p:nvSpPr>
          <p:cNvPr id="245" name="Free-form: Shape 244"/>
          <p:cNvSpPr/>
          <p:nvPr/>
        </p:nvSpPr>
        <p:spPr>
          <a:xfrm>
            <a:off x="2828880" y="4302756"/>
            <a:ext cx="152640" cy="127440"/>
          </a:xfrm>
          <a:custGeom>
            <a:avLst/>
            <a:gdLst/>
            <a:ahLst/>
            <a:cxnLst/>
            <a:rect l="0" t="0" r="r" b="b"/>
            <a:pathLst>
              <a:path w="424" h="354" fill="none">
                <a:moveTo>
                  <a:pt x="176" y="354"/>
                </a:moveTo>
                <a:lnTo>
                  <a:pt x="0" y="176"/>
                </a:lnTo>
                <a:moveTo>
                  <a:pt x="0" y="176"/>
                </a:moveTo>
                <a:lnTo>
                  <a:pt x="176" y="0"/>
                </a:lnTo>
                <a:moveTo>
                  <a:pt x="0" y="176"/>
                </a:moveTo>
                <a:lnTo>
                  <a:pt x="424" y="176"/>
                </a:lnTo>
              </a:path>
            </a:pathLst>
          </a:custGeom>
          <a:ln w="37800" cap="rnd">
            <a:solidFill>
              <a:srgbClr val="999999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6" name="Free-form: Shape 245"/>
          <p:cNvSpPr/>
          <p:nvPr/>
        </p:nvSpPr>
        <p:spPr>
          <a:xfrm>
            <a:off x="3455412" y="384679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3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3"/>
                  <a:pt x="79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7" y="24"/>
                </a:cubicBezTo>
                <a:cubicBezTo>
                  <a:pt x="217" y="16"/>
                  <a:pt x="236" y="10"/>
                  <a:pt x="257" y="6"/>
                </a:cubicBezTo>
                <a:cubicBezTo>
                  <a:pt x="277" y="2"/>
                  <a:pt x="298" y="0"/>
                  <a:pt x="319" y="0"/>
                </a:cubicBezTo>
                <a:lnTo>
                  <a:pt x="2224" y="0"/>
                </a:lnTo>
                <a:cubicBezTo>
                  <a:pt x="2245" y="0"/>
                  <a:pt x="2265" y="2"/>
                  <a:pt x="2286" y="6"/>
                </a:cubicBezTo>
                <a:cubicBezTo>
                  <a:pt x="2306" y="10"/>
                  <a:pt x="2326" y="16"/>
                  <a:pt x="2345" y="24"/>
                </a:cubicBezTo>
                <a:cubicBezTo>
                  <a:pt x="2365" y="32"/>
                  <a:pt x="2383" y="42"/>
                  <a:pt x="2400" y="53"/>
                </a:cubicBezTo>
                <a:cubicBezTo>
                  <a:pt x="2418" y="65"/>
                  <a:pt x="2434" y="78"/>
                  <a:pt x="2448" y="93"/>
                </a:cubicBezTo>
                <a:cubicBezTo>
                  <a:pt x="2463" y="107"/>
                  <a:pt x="2476" y="123"/>
                  <a:pt x="2488" y="141"/>
                </a:cubicBezTo>
                <a:cubicBezTo>
                  <a:pt x="2499" y="158"/>
                  <a:pt x="2509" y="176"/>
                  <a:pt x="2517" y="196"/>
                </a:cubicBezTo>
                <a:cubicBezTo>
                  <a:pt x="2525" y="215"/>
                  <a:pt x="2531" y="235"/>
                  <a:pt x="2535" y="255"/>
                </a:cubicBezTo>
                <a:cubicBezTo>
                  <a:pt x="2539" y="276"/>
                  <a:pt x="2541" y="296"/>
                  <a:pt x="2541" y="317"/>
                </a:cubicBezTo>
                <a:lnTo>
                  <a:pt x="2541" y="2223"/>
                </a:lnTo>
                <a:cubicBezTo>
                  <a:pt x="2541" y="2244"/>
                  <a:pt x="2539" y="2265"/>
                  <a:pt x="2535" y="2285"/>
                </a:cubicBezTo>
                <a:cubicBezTo>
                  <a:pt x="2531" y="2305"/>
                  <a:pt x="2525" y="2325"/>
                  <a:pt x="2517" y="2345"/>
                </a:cubicBezTo>
                <a:cubicBezTo>
                  <a:pt x="2509" y="2364"/>
                  <a:pt x="2499" y="2382"/>
                  <a:pt x="2488" y="2399"/>
                </a:cubicBezTo>
                <a:cubicBezTo>
                  <a:pt x="2476" y="2417"/>
                  <a:pt x="2463" y="2433"/>
                  <a:pt x="2448" y="2448"/>
                </a:cubicBezTo>
                <a:cubicBezTo>
                  <a:pt x="2434" y="2462"/>
                  <a:pt x="2418" y="2475"/>
                  <a:pt x="2400" y="2487"/>
                </a:cubicBezTo>
                <a:cubicBezTo>
                  <a:pt x="2383" y="2499"/>
                  <a:pt x="2365" y="2508"/>
                  <a:pt x="2345" y="2516"/>
                </a:cubicBezTo>
                <a:cubicBezTo>
                  <a:pt x="2326" y="2524"/>
                  <a:pt x="2306" y="2530"/>
                  <a:pt x="2286" y="2534"/>
                </a:cubicBezTo>
                <a:cubicBezTo>
                  <a:pt x="2265" y="2539"/>
                  <a:pt x="2245" y="2541"/>
                  <a:pt x="2224" y="2541"/>
                </a:cubicBezTo>
                <a:lnTo>
                  <a:pt x="319" y="2541"/>
                </a:lnTo>
                <a:cubicBezTo>
                  <a:pt x="298" y="2541"/>
                  <a:pt x="277" y="2539"/>
                  <a:pt x="257" y="2534"/>
                </a:cubicBezTo>
                <a:cubicBezTo>
                  <a:pt x="236" y="2530"/>
                  <a:pt x="217" y="2524"/>
                  <a:pt x="197" y="2516"/>
                </a:cubicBezTo>
                <a:cubicBezTo>
                  <a:pt x="177" y="2508"/>
                  <a:pt x="159" y="2499"/>
                  <a:pt x="141" y="2487"/>
                </a:cubicBezTo>
                <a:cubicBezTo>
                  <a:pt x="124" y="2475"/>
                  <a:pt x="108" y="2462"/>
                  <a:pt x="93" y="2448"/>
                </a:cubicBezTo>
                <a:cubicBezTo>
                  <a:pt x="79" y="2433"/>
                  <a:pt x="65" y="2417"/>
                  <a:pt x="54" y="2399"/>
                </a:cubicBezTo>
                <a:cubicBezTo>
                  <a:pt x="42" y="2382"/>
                  <a:pt x="32" y="2364"/>
                  <a:pt x="24" y="2345"/>
                </a:cubicBezTo>
                <a:cubicBezTo>
                  <a:pt x="16" y="2325"/>
                  <a:pt x="10" y="2305"/>
                  <a:pt x="6" y="2285"/>
                </a:cubicBezTo>
                <a:cubicBezTo>
                  <a:pt x="2" y="2265"/>
                  <a:pt x="0" y="2244"/>
                  <a:pt x="0" y="2223"/>
                </a:cubicBezTo>
                <a:close/>
              </a:path>
            </a:pathLst>
          </a:custGeom>
          <a:solidFill>
            <a:srgbClr val="8B7355"/>
          </a:solidFill>
          <a:ln w="0">
            <a:noFill/>
          </a:ln>
        </p:spPr>
        <p:txBody>
          <a:bodyPr lIns="0" tIns="252000" rIns="0" bIns="0" anchor="t">
            <a:no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Differential Expression (limma)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0" name="Free-form: Shape 249"/>
          <p:cNvSpPr/>
          <p:nvPr/>
        </p:nvSpPr>
        <p:spPr>
          <a:xfrm>
            <a:off x="6019560" y="4302756"/>
            <a:ext cx="152640" cy="127440"/>
          </a:xfrm>
          <a:custGeom>
            <a:avLst/>
            <a:gdLst/>
            <a:ahLst/>
            <a:cxnLst/>
            <a:rect l="0" t="0" r="r" b="b"/>
            <a:pathLst>
              <a:path w="424" h="354" fill="none">
                <a:moveTo>
                  <a:pt x="177" y="354"/>
                </a:moveTo>
                <a:lnTo>
                  <a:pt x="0" y="176"/>
                </a:lnTo>
                <a:moveTo>
                  <a:pt x="0" y="176"/>
                </a:moveTo>
                <a:lnTo>
                  <a:pt x="177" y="0"/>
                </a:lnTo>
                <a:moveTo>
                  <a:pt x="0" y="176"/>
                </a:moveTo>
                <a:lnTo>
                  <a:pt x="424" y="176"/>
                </a:lnTo>
              </a:path>
            </a:pathLst>
          </a:custGeom>
          <a:ln w="37800" cap="rnd">
            <a:solidFill>
              <a:srgbClr val="999999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1" name="Free-form: Shape 250"/>
          <p:cNvSpPr/>
          <p:nvPr/>
        </p:nvSpPr>
        <p:spPr>
          <a:xfrm>
            <a:off x="6636732" y="384679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3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1" y="235"/>
                  <a:pt x="17" y="215"/>
                  <a:pt x="25" y="196"/>
                </a:cubicBezTo>
                <a:cubicBezTo>
                  <a:pt x="33" y="176"/>
                  <a:pt x="42" y="158"/>
                  <a:pt x="54" y="141"/>
                </a:cubicBezTo>
                <a:cubicBezTo>
                  <a:pt x="65" y="123"/>
                  <a:pt x="79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2224" y="0"/>
                </a:lnTo>
                <a:cubicBezTo>
                  <a:pt x="2245" y="0"/>
                  <a:pt x="2265" y="2"/>
                  <a:pt x="2286" y="6"/>
                </a:cubicBezTo>
                <a:cubicBezTo>
                  <a:pt x="2306" y="10"/>
                  <a:pt x="2326" y="16"/>
                  <a:pt x="2345" y="24"/>
                </a:cubicBezTo>
                <a:cubicBezTo>
                  <a:pt x="2365" y="32"/>
                  <a:pt x="2383" y="42"/>
                  <a:pt x="2400" y="53"/>
                </a:cubicBezTo>
                <a:cubicBezTo>
                  <a:pt x="2418" y="65"/>
                  <a:pt x="2434" y="78"/>
                  <a:pt x="2448" y="93"/>
                </a:cubicBezTo>
                <a:cubicBezTo>
                  <a:pt x="2463" y="107"/>
                  <a:pt x="2476" y="123"/>
                  <a:pt x="2488" y="141"/>
                </a:cubicBezTo>
                <a:cubicBezTo>
                  <a:pt x="2499" y="158"/>
                  <a:pt x="2509" y="176"/>
                  <a:pt x="2517" y="196"/>
                </a:cubicBezTo>
                <a:cubicBezTo>
                  <a:pt x="2525" y="215"/>
                  <a:pt x="2531" y="235"/>
                  <a:pt x="2535" y="255"/>
                </a:cubicBezTo>
                <a:cubicBezTo>
                  <a:pt x="2539" y="276"/>
                  <a:pt x="2541" y="296"/>
                  <a:pt x="2541" y="317"/>
                </a:cubicBezTo>
                <a:lnTo>
                  <a:pt x="2541" y="2223"/>
                </a:lnTo>
                <a:cubicBezTo>
                  <a:pt x="2541" y="2244"/>
                  <a:pt x="2539" y="2265"/>
                  <a:pt x="2535" y="2285"/>
                </a:cubicBezTo>
                <a:cubicBezTo>
                  <a:pt x="2531" y="2305"/>
                  <a:pt x="2525" y="2325"/>
                  <a:pt x="2517" y="2345"/>
                </a:cubicBezTo>
                <a:cubicBezTo>
                  <a:pt x="2509" y="2364"/>
                  <a:pt x="2499" y="2382"/>
                  <a:pt x="2488" y="2399"/>
                </a:cubicBezTo>
                <a:cubicBezTo>
                  <a:pt x="2476" y="2417"/>
                  <a:pt x="2463" y="2433"/>
                  <a:pt x="2448" y="2448"/>
                </a:cubicBezTo>
                <a:cubicBezTo>
                  <a:pt x="2434" y="2462"/>
                  <a:pt x="2418" y="2475"/>
                  <a:pt x="2400" y="2487"/>
                </a:cubicBezTo>
                <a:cubicBezTo>
                  <a:pt x="2383" y="2499"/>
                  <a:pt x="2365" y="2508"/>
                  <a:pt x="2345" y="2516"/>
                </a:cubicBezTo>
                <a:cubicBezTo>
                  <a:pt x="2326" y="2524"/>
                  <a:pt x="2306" y="2530"/>
                  <a:pt x="2286" y="2534"/>
                </a:cubicBezTo>
                <a:cubicBezTo>
                  <a:pt x="2265" y="2539"/>
                  <a:pt x="2245" y="2541"/>
                  <a:pt x="2224" y="2541"/>
                </a:cubicBezTo>
                <a:lnTo>
                  <a:pt x="318" y="2541"/>
                </a:lnTo>
                <a:cubicBezTo>
                  <a:pt x="297" y="2541"/>
                  <a:pt x="276" y="2539"/>
                  <a:pt x="256" y="2534"/>
                </a:cubicBezTo>
                <a:cubicBezTo>
                  <a:pt x="235" y="2530"/>
                  <a:pt x="216" y="2524"/>
                  <a:pt x="196" y="2516"/>
                </a:cubicBezTo>
                <a:cubicBezTo>
                  <a:pt x="177" y="2508"/>
                  <a:pt x="159" y="2499"/>
                  <a:pt x="141" y="2487"/>
                </a:cubicBezTo>
                <a:cubicBezTo>
                  <a:pt x="124" y="2475"/>
                  <a:pt x="108" y="2462"/>
                  <a:pt x="93" y="2448"/>
                </a:cubicBezTo>
                <a:cubicBezTo>
                  <a:pt x="79" y="2433"/>
                  <a:pt x="65" y="2417"/>
                  <a:pt x="54" y="2399"/>
                </a:cubicBezTo>
                <a:cubicBezTo>
                  <a:pt x="42" y="2382"/>
                  <a:pt x="33" y="2364"/>
                  <a:pt x="25" y="2345"/>
                </a:cubicBezTo>
                <a:cubicBezTo>
                  <a:pt x="17" y="2325"/>
                  <a:pt x="11" y="2305"/>
                  <a:pt x="6" y="2285"/>
                </a:cubicBezTo>
                <a:cubicBezTo>
                  <a:pt x="2" y="2265"/>
                  <a:pt x="0" y="2244"/>
                  <a:pt x="0" y="2223"/>
                </a:cubicBezTo>
                <a:close/>
              </a:path>
            </a:pathLst>
          </a:custGeom>
          <a:solidFill>
            <a:srgbClr val="7A9D96"/>
          </a:solidFill>
          <a:ln w="0">
            <a:noFill/>
          </a:ln>
        </p:spPr>
        <p:txBody>
          <a:bodyPr lIns="0" tIns="360000" rIns="0" bIns="0" anchor="t">
            <a:no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Batch Correction (ComBat)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5" name="Free-form: Shape 254"/>
          <p:cNvSpPr/>
          <p:nvPr/>
        </p:nvSpPr>
        <p:spPr>
          <a:xfrm>
            <a:off x="9210600" y="4302756"/>
            <a:ext cx="152640" cy="127440"/>
          </a:xfrm>
          <a:custGeom>
            <a:avLst/>
            <a:gdLst/>
            <a:ahLst/>
            <a:cxnLst/>
            <a:rect l="0" t="0" r="r" b="b"/>
            <a:pathLst>
              <a:path w="424" h="354" fill="none">
                <a:moveTo>
                  <a:pt x="177" y="354"/>
                </a:moveTo>
                <a:lnTo>
                  <a:pt x="0" y="176"/>
                </a:lnTo>
                <a:moveTo>
                  <a:pt x="0" y="176"/>
                </a:moveTo>
                <a:lnTo>
                  <a:pt x="177" y="0"/>
                </a:lnTo>
                <a:moveTo>
                  <a:pt x="0" y="176"/>
                </a:moveTo>
                <a:lnTo>
                  <a:pt x="424" y="176"/>
                </a:lnTo>
              </a:path>
            </a:pathLst>
          </a:custGeom>
          <a:ln w="37800" cap="rnd">
            <a:solidFill>
              <a:srgbClr val="999999"/>
            </a:solidFill>
            <a:round/>
          </a:ln>
        </p:spPr>
        <p:txBody>
          <a:bodyPr lIns="18720" tIns="18720" rIns="18720" bIns="187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6" name="Free-form: Shape 255"/>
          <p:cNvSpPr/>
          <p:nvPr/>
        </p:nvSpPr>
        <p:spPr>
          <a:xfrm>
            <a:off x="9827772" y="3846791"/>
            <a:ext cx="1980000" cy="972000"/>
          </a:xfrm>
          <a:custGeom>
            <a:avLst/>
            <a:gdLst/>
            <a:ahLst/>
            <a:cxnLst/>
            <a:rect l="0" t="0" r="r" b="b"/>
            <a:pathLst>
              <a:path w="2541" h="2541">
                <a:moveTo>
                  <a:pt x="0" y="2223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7" y="2"/>
                  <a:pt x="298" y="0"/>
                  <a:pt x="318" y="0"/>
                </a:cubicBezTo>
                <a:lnTo>
                  <a:pt x="2223" y="0"/>
                </a:lnTo>
                <a:cubicBezTo>
                  <a:pt x="2244" y="0"/>
                  <a:pt x="2265" y="2"/>
                  <a:pt x="2285" y="6"/>
                </a:cubicBezTo>
                <a:cubicBezTo>
                  <a:pt x="2306" y="10"/>
                  <a:pt x="2326" y="16"/>
                  <a:pt x="2345" y="24"/>
                </a:cubicBezTo>
                <a:cubicBezTo>
                  <a:pt x="2364" y="32"/>
                  <a:pt x="2382" y="42"/>
                  <a:pt x="2400" y="53"/>
                </a:cubicBezTo>
                <a:cubicBezTo>
                  <a:pt x="2417" y="65"/>
                  <a:pt x="2433" y="78"/>
                  <a:pt x="2448" y="93"/>
                </a:cubicBezTo>
                <a:cubicBezTo>
                  <a:pt x="2463" y="107"/>
                  <a:pt x="2476" y="123"/>
                  <a:pt x="2487" y="141"/>
                </a:cubicBezTo>
                <a:cubicBezTo>
                  <a:pt x="2499" y="158"/>
                  <a:pt x="2509" y="176"/>
                  <a:pt x="2517" y="196"/>
                </a:cubicBezTo>
                <a:cubicBezTo>
                  <a:pt x="2525" y="215"/>
                  <a:pt x="2531" y="235"/>
                  <a:pt x="2535" y="255"/>
                </a:cubicBezTo>
                <a:cubicBezTo>
                  <a:pt x="2539" y="276"/>
                  <a:pt x="2541" y="296"/>
                  <a:pt x="2541" y="317"/>
                </a:cubicBezTo>
                <a:lnTo>
                  <a:pt x="2541" y="2223"/>
                </a:lnTo>
                <a:cubicBezTo>
                  <a:pt x="2541" y="2244"/>
                  <a:pt x="2539" y="2265"/>
                  <a:pt x="2535" y="2285"/>
                </a:cubicBezTo>
                <a:cubicBezTo>
                  <a:pt x="2531" y="2305"/>
                  <a:pt x="2525" y="2325"/>
                  <a:pt x="2517" y="2345"/>
                </a:cubicBezTo>
                <a:cubicBezTo>
                  <a:pt x="2509" y="2364"/>
                  <a:pt x="2499" y="2382"/>
                  <a:pt x="2487" y="2399"/>
                </a:cubicBezTo>
                <a:cubicBezTo>
                  <a:pt x="2476" y="2417"/>
                  <a:pt x="2463" y="2433"/>
                  <a:pt x="2448" y="2448"/>
                </a:cubicBezTo>
                <a:cubicBezTo>
                  <a:pt x="2433" y="2462"/>
                  <a:pt x="2417" y="2475"/>
                  <a:pt x="2400" y="2487"/>
                </a:cubicBezTo>
                <a:cubicBezTo>
                  <a:pt x="2382" y="2499"/>
                  <a:pt x="2364" y="2508"/>
                  <a:pt x="2345" y="2516"/>
                </a:cubicBezTo>
                <a:cubicBezTo>
                  <a:pt x="2326" y="2524"/>
                  <a:pt x="2306" y="2530"/>
                  <a:pt x="2285" y="2534"/>
                </a:cubicBezTo>
                <a:cubicBezTo>
                  <a:pt x="2265" y="2539"/>
                  <a:pt x="2244" y="2541"/>
                  <a:pt x="2223" y="2541"/>
                </a:cubicBezTo>
                <a:lnTo>
                  <a:pt x="318" y="2541"/>
                </a:lnTo>
                <a:cubicBezTo>
                  <a:pt x="298" y="2541"/>
                  <a:pt x="277" y="2539"/>
                  <a:pt x="256" y="2534"/>
                </a:cubicBezTo>
                <a:cubicBezTo>
                  <a:pt x="235" y="2530"/>
                  <a:pt x="215" y="2524"/>
                  <a:pt x="196" y="2516"/>
                </a:cubicBezTo>
                <a:cubicBezTo>
                  <a:pt x="177" y="2508"/>
                  <a:pt x="158" y="2499"/>
                  <a:pt x="141" y="2487"/>
                </a:cubicBezTo>
                <a:cubicBezTo>
                  <a:pt x="124" y="2475"/>
                  <a:pt x="108" y="2462"/>
                  <a:pt x="93" y="2448"/>
                </a:cubicBezTo>
                <a:cubicBezTo>
                  <a:pt x="78" y="2433"/>
                  <a:pt x="65" y="2417"/>
                  <a:pt x="53" y="2399"/>
                </a:cubicBezTo>
                <a:cubicBezTo>
                  <a:pt x="42" y="2382"/>
                  <a:pt x="32" y="2364"/>
                  <a:pt x="24" y="2345"/>
                </a:cubicBezTo>
                <a:cubicBezTo>
                  <a:pt x="16" y="2325"/>
                  <a:pt x="10" y="2305"/>
                  <a:pt x="6" y="2285"/>
                </a:cubicBezTo>
                <a:cubicBezTo>
                  <a:pt x="2" y="2265"/>
                  <a:pt x="0" y="2244"/>
                  <a:pt x="0" y="2223"/>
                </a:cubicBezTo>
                <a:close/>
              </a:path>
            </a:pathLst>
          </a:custGeom>
          <a:solidFill>
            <a:srgbClr val="6B8E9F"/>
          </a:solidFill>
          <a:ln w="0">
            <a:noFill/>
          </a:ln>
        </p:spPr>
        <p:txBody>
          <a:bodyPr lIns="0" tIns="252000" rIns="0" bIns="0" anchor="t">
            <a:noAutofit/>
          </a:bodyPr>
          <a:lstStyle/>
          <a:p>
            <a:pPr algn="ctr"/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Quality Control (QC)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(Boxplot + PCA)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1" name="Free-form: Shape 260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11457000" y="6083280"/>
            <a:ext cx="164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Free-form: Shape 2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7" name="Free-form: Shape 266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68" name="Picture 267"/>
          <p:cNvPicPr/>
          <p:nvPr/>
        </p:nvPicPr>
        <p:blipFill>
          <a:blip r:embed="rId2"/>
          <a:stretch>
            <a:fillRect/>
          </a:stretch>
        </p:blipFill>
        <p:spPr>
          <a:xfrm>
            <a:off x="571320" y="1585440"/>
            <a:ext cx="5524200" cy="38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Box 268"/>
          <p:cNvSpPr txBox="1"/>
          <p:nvPr/>
        </p:nvSpPr>
        <p:spPr>
          <a:xfrm>
            <a:off x="571320" y="569160"/>
            <a:ext cx="6054543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Results - Lung Cancer QC (Boxplot)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340716" y="1375149"/>
            <a:ext cx="341612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QUALITY CONTROL ASSESSMENT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202915" y="1925732"/>
            <a:ext cx="341119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Normalized Expression Distribution: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202915" y="2420012"/>
            <a:ext cx="6051337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Consistent medians: Normalized expression shows well-aligned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medians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across all lung cancer samples, indicating successful normalization.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209163" y="3109754"/>
            <a:ext cx="5834931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Even distribution: Uniform spread across samples suggests absence of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major technical artifacts or batch effects.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202915" y="3818395"/>
            <a:ext cx="5835893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Data quality: Clean data suitable for downstream PCA and differential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expression analysis</a:t>
            </a:r>
          </a:p>
        </p:txBody>
      </p:sp>
      <p:sp>
        <p:nvSpPr>
          <p:cNvPr id="281" name="Free-form: Shape 280"/>
          <p:cNvSpPr/>
          <p:nvPr/>
        </p:nvSpPr>
        <p:spPr>
          <a:xfrm>
            <a:off x="6202915" y="4783779"/>
            <a:ext cx="5304801" cy="800640"/>
          </a:xfrm>
          <a:custGeom>
            <a:avLst/>
            <a:gdLst/>
            <a:ahLst/>
            <a:cxnLst/>
            <a:rect l="0" t="0" r="r" b="b"/>
            <a:pathLst>
              <a:path w="14289" h="2224">
                <a:moveTo>
                  <a:pt x="0" y="2012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4077" y="0"/>
                </a:lnTo>
                <a:cubicBezTo>
                  <a:pt x="14091" y="0"/>
                  <a:pt x="14105" y="1"/>
                  <a:pt x="14118" y="4"/>
                </a:cubicBezTo>
                <a:cubicBezTo>
                  <a:pt x="14132" y="7"/>
                  <a:pt x="14145" y="11"/>
                  <a:pt x="14158" y="16"/>
                </a:cubicBezTo>
                <a:cubicBezTo>
                  <a:pt x="14171" y="21"/>
                  <a:pt x="14183" y="28"/>
                  <a:pt x="14195" y="36"/>
                </a:cubicBezTo>
                <a:cubicBezTo>
                  <a:pt x="14206" y="43"/>
                  <a:pt x="14217" y="52"/>
                  <a:pt x="14227" y="62"/>
                </a:cubicBezTo>
                <a:cubicBezTo>
                  <a:pt x="14236" y="72"/>
                  <a:pt x="14245" y="83"/>
                  <a:pt x="14253" y="94"/>
                </a:cubicBezTo>
                <a:cubicBezTo>
                  <a:pt x="14261" y="106"/>
                  <a:pt x="14267" y="118"/>
                  <a:pt x="14273" y="131"/>
                </a:cubicBezTo>
                <a:cubicBezTo>
                  <a:pt x="14278" y="144"/>
                  <a:pt x="14282" y="157"/>
                  <a:pt x="14285" y="170"/>
                </a:cubicBezTo>
                <a:cubicBezTo>
                  <a:pt x="14287" y="184"/>
                  <a:pt x="14289" y="198"/>
                  <a:pt x="14289" y="212"/>
                </a:cubicBezTo>
                <a:lnTo>
                  <a:pt x="14289" y="2012"/>
                </a:lnTo>
                <a:cubicBezTo>
                  <a:pt x="14289" y="2026"/>
                  <a:pt x="14287" y="2040"/>
                  <a:pt x="14285" y="2053"/>
                </a:cubicBezTo>
                <a:cubicBezTo>
                  <a:pt x="14282" y="2067"/>
                  <a:pt x="14278" y="2080"/>
                  <a:pt x="14273" y="2093"/>
                </a:cubicBezTo>
                <a:cubicBezTo>
                  <a:pt x="14267" y="2106"/>
                  <a:pt x="14261" y="2118"/>
                  <a:pt x="14253" y="2129"/>
                </a:cubicBezTo>
                <a:cubicBezTo>
                  <a:pt x="14245" y="2141"/>
                  <a:pt x="14236" y="2152"/>
                  <a:pt x="14227" y="2162"/>
                </a:cubicBezTo>
                <a:cubicBezTo>
                  <a:pt x="14217" y="2171"/>
                  <a:pt x="14206" y="2180"/>
                  <a:pt x="14195" y="2188"/>
                </a:cubicBezTo>
                <a:cubicBezTo>
                  <a:pt x="14183" y="2196"/>
                  <a:pt x="14171" y="2202"/>
                  <a:pt x="14158" y="2207"/>
                </a:cubicBezTo>
                <a:cubicBezTo>
                  <a:pt x="14145" y="2213"/>
                  <a:pt x="14132" y="2217"/>
                  <a:pt x="14118" y="2219"/>
                </a:cubicBezTo>
                <a:cubicBezTo>
                  <a:pt x="14105" y="2222"/>
                  <a:pt x="14091" y="2224"/>
                  <a:pt x="14077" y="2224"/>
                </a:cubicBezTo>
                <a:lnTo>
                  <a:pt x="212" y="2224"/>
                </a:lnTo>
                <a:cubicBezTo>
                  <a:pt x="198" y="2224"/>
                  <a:pt x="184" y="2222"/>
                  <a:pt x="171" y="2219"/>
                </a:cubicBezTo>
                <a:cubicBezTo>
                  <a:pt x="157" y="2217"/>
                  <a:pt x="144" y="2213"/>
                  <a:pt x="131" y="2207"/>
                </a:cubicBezTo>
                <a:cubicBezTo>
                  <a:pt x="118" y="2202"/>
                  <a:pt x="106" y="2196"/>
                  <a:pt x="94" y="2188"/>
                </a:cubicBezTo>
                <a:cubicBezTo>
                  <a:pt x="83" y="2180"/>
                  <a:pt x="72" y="2171"/>
                  <a:pt x="62" y="2162"/>
                </a:cubicBezTo>
                <a:cubicBezTo>
                  <a:pt x="52" y="2152"/>
                  <a:pt x="44" y="2141"/>
                  <a:pt x="36" y="2129"/>
                </a:cubicBezTo>
                <a:cubicBezTo>
                  <a:pt x="28" y="2118"/>
                  <a:pt x="22" y="2106"/>
                  <a:pt x="16" y="2093"/>
                </a:cubicBezTo>
                <a:cubicBezTo>
                  <a:pt x="11" y="2080"/>
                  <a:pt x="7" y="2067"/>
                  <a:pt x="4" y="2053"/>
                </a:cubicBezTo>
                <a:cubicBezTo>
                  <a:pt x="2" y="2040"/>
                  <a:pt x="0" y="2026"/>
                  <a:pt x="0" y="2012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6232234" y="4824087"/>
            <a:ext cx="5275483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Conclusion: The boxplot confirms high-quality preprocessed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data with no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critical outliers, ready for robust statistical analysis</a:t>
            </a:r>
          </a:p>
        </p:txBody>
      </p:sp>
      <p:sp>
        <p:nvSpPr>
          <p:cNvPr id="284" name="Free-form: Shape 283"/>
          <p:cNvSpPr/>
          <p:nvPr/>
        </p:nvSpPr>
        <p:spPr>
          <a:xfrm>
            <a:off x="571320" y="6048360"/>
            <a:ext cx="11049480" cy="9720"/>
          </a:xfrm>
          <a:custGeom>
            <a:avLst/>
            <a:gdLst/>
            <a:ahLst/>
            <a:cxnLst/>
            <a:rect l="0" t="0" r="r" b="b"/>
            <a:pathLst>
              <a:path w="30693" h="27">
                <a:moveTo>
                  <a:pt x="0" y="0"/>
                </a:moveTo>
                <a:lnTo>
                  <a:pt x="30693" y="0"/>
                </a:lnTo>
                <a:lnTo>
                  <a:pt x="306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11483640" y="62355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03865" y="5505318"/>
            <a:ext cx="363298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5: Normalized Expression Boxplot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Free-form: Shape 2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0" name="Free-form: Shape 289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91" name="Picture 290"/>
          <p:cNvPicPr/>
          <p:nvPr/>
        </p:nvPicPr>
        <p:blipFill>
          <a:blip r:embed="rId2"/>
          <a:stretch>
            <a:fillRect/>
          </a:stretch>
        </p:blipFill>
        <p:spPr>
          <a:xfrm>
            <a:off x="571320" y="1399634"/>
            <a:ext cx="5419577" cy="414574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TextBox 291"/>
          <p:cNvSpPr txBox="1"/>
          <p:nvPr/>
        </p:nvSpPr>
        <p:spPr>
          <a:xfrm>
            <a:off x="571320" y="569160"/>
            <a:ext cx="4584588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Results - Lung Cancer PCA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265246" y="1454419"/>
            <a:ext cx="356706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PRINCIPAL COMPONENT ANALYSIS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095520" y="1913220"/>
            <a:ext cx="393704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Variance Structure &amp; Sample Distribution: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125842" y="2334240"/>
            <a:ext cx="5781904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High heterogeneity: Tumor samples show wide dispersion across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principal components, reflecting molecular diversity typical of cancer.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125842" y="3039120"/>
            <a:ext cx="5714578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No distinct clusters: Absence of clear subtype separation suggests no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strong molecular subtypes within this dataset.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125842" y="3753720"/>
            <a:ext cx="5818388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Minimal batch effects: Few outliers detected with no critical technical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batch effects requiring correction</a:t>
            </a:r>
          </a:p>
        </p:txBody>
      </p:sp>
      <p:sp>
        <p:nvSpPr>
          <p:cNvPr id="303" name="Free-form: Shape 302"/>
          <p:cNvSpPr/>
          <p:nvPr/>
        </p:nvSpPr>
        <p:spPr>
          <a:xfrm>
            <a:off x="6125842" y="4800240"/>
            <a:ext cx="5494958" cy="800640"/>
          </a:xfrm>
          <a:custGeom>
            <a:avLst/>
            <a:gdLst/>
            <a:ahLst/>
            <a:cxnLst/>
            <a:rect l="0" t="0" r="r" b="b"/>
            <a:pathLst>
              <a:path w="14289" h="2224">
                <a:moveTo>
                  <a:pt x="0" y="2012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077" y="0"/>
                </a:lnTo>
                <a:cubicBezTo>
                  <a:pt x="14091" y="0"/>
                  <a:pt x="14105" y="2"/>
                  <a:pt x="14118" y="5"/>
                </a:cubicBezTo>
                <a:cubicBezTo>
                  <a:pt x="14132" y="7"/>
                  <a:pt x="14145" y="11"/>
                  <a:pt x="14158" y="17"/>
                </a:cubicBezTo>
                <a:cubicBezTo>
                  <a:pt x="14171" y="22"/>
                  <a:pt x="14183" y="28"/>
                  <a:pt x="14195" y="36"/>
                </a:cubicBezTo>
                <a:cubicBezTo>
                  <a:pt x="14206" y="44"/>
                  <a:pt x="14217" y="53"/>
                  <a:pt x="14227" y="62"/>
                </a:cubicBezTo>
                <a:cubicBezTo>
                  <a:pt x="14236" y="72"/>
                  <a:pt x="14245" y="83"/>
                  <a:pt x="14253" y="95"/>
                </a:cubicBezTo>
                <a:cubicBezTo>
                  <a:pt x="14261" y="106"/>
                  <a:pt x="14267" y="118"/>
                  <a:pt x="14273" y="131"/>
                </a:cubicBezTo>
                <a:cubicBezTo>
                  <a:pt x="14278" y="144"/>
                  <a:pt x="14282" y="157"/>
                  <a:pt x="14285" y="171"/>
                </a:cubicBezTo>
                <a:cubicBezTo>
                  <a:pt x="14287" y="185"/>
                  <a:pt x="14289" y="198"/>
                  <a:pt x="14289" y="212"/>
                </a:cubicBezTo>
                <a:lnTo>
                  <a:pt x="14289" y="2012"/>
                </a:lnTo>
                <a:cubicBezTo>
                  <a:pt x="14289" y="2026"/>
                  <a:pt x="14287" y="2040"/>
                  <a:pt x="14285" y="2054"/>
                </a:cubicBezTo>
                <a:cubicBezTo>
                  <a:pt x="14282" y="2067"/>
                  <a:pt x="14278" y="2080"/>
                  <a:pt x="14273" y="2093"/>
                </a:cubicBezTo>
                <a:cubicBezTo>
                  <a:pt x="14267" y="2106"/>
                  <a:pt x="14261" y="2118"/>
                  <a:pt x="14253" y="2130"/>
                </a:cubicBezTo>
                <a:cubicBezTo>
                  <a:pt x="14245" y="2141"/>
                  <a:pt x="14236" y="2152"/>
                  <a:pt x="14227" y="2162"/>
                </a:cubicBezTo>
                <a:cubicBezTo>
                  <a:pt x="14217" y="2172"/>
                  <a:pt x="14206" y="2181"/>
                  <a:pt x="14195" y="2188"/>
                </a:cubicBezTo>
                <a:cubicBezTo>
                  <a:pt x="14183" y="2196"/>
                  <a:pt x="14171" y="2203"/>
                  <a:pt x="14158" y="2208"/>
                </a:cubicBezTo>
                <a:cubicBezTo>
                  <a:pt x="14145" y="2213"/>
                  <a:pt x="14132" y="2217"/>
                  <a:pt x="14118" y="2220"/>
                </a:cubicBezTo>
                <a:cubicBezTo>
                  <a:pt x="14105" y="2223"/>
                  <a:pt x="14091" y="2224"/>
                  <a:pt x="14077" y="2224"/>
                </a:cubicBezTo>
                <a:lnTo>
                  <a:pt x="212" y="2224"/>
                </a:lnTo>
                <a:cubicBezTo>
                  <a:pt x="198" y="2224"/>
                  <a:pt x="184" y="2223"/>
                  <a:pt x="171" y="2220"/>
                </a:cubicBezTo>
                <a:cubicBezTo>
                  <a:pt x="157" y="2217"/>
                  <a:pt x="144" y="2213"/>
                  <a:pt x="131" y="2208"/>
                </a:cubicBezTo>
                <a:cubicBezTo>
                  <a:pt x="118" y="2203"/>
                  <a:pt x="106" y="2196"/>
                  <a:pt x="94" y="2188"/>
                </a:cubicBezTo>
                <a:cubicBezTo>
                  <a:pt x="83" y="2181"/>
                  <a:pt x="72" y="2172"/>
                  <a:pt x="62" y="2162"/>
                </a:cubicBezTo>
                <a:cubicBezTo>
                  <a:pt x="52" y="2152"/>
                  <a:pt x="44" y="2141"/>
                  <a:pt x="36" y="2130"/>
                </a:cubicBezTo>
                <a:cubicBezTo>
                  <a:pt x="28" y="2118"/>
                  <a:pt x="22" y="2106"/>
                  <a:pt x="16" y="2093"/>
                </a:cubicBezTo>
                <a:cubicBezTo>
                  <a:pt x="11" y="2080"/>
                  <a:pt x="7" y="2067"/>
                  <a:pt x="4" y="2054"/>
                </a:cubicBezTo>
                <a:cubicBezTo>
                  <a:pt x="2" y="2040"/>
                  <a:pt x="0" y="2026"/>
                  <a:pt x="0" y="2012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6125842" y="4831228"/>
            <a:ext cx="5494838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Conclusion: PCA confirms biological variability dominates very technical noise, 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validating data quality for differential expression analysis</a:t>
            </a:r>
          </a:p>
        </p:txBody>
      </p:sp>
      <p:sp>
        <p:nvSpPr>
          <p:cNvPr id="306" name="Free-form: Shape 305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11519280" y="60832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4554" y="5569892"/>
            <a:ext cx="469231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6: PCA Plot of Variance Structure and Sample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-form: Shape 3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2" name="Free-form: Shape 311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13" name="Picture 312"/>
          <p:cNvPicPr/>
          <p:nvPr/>
        </p:nvPicPr>
        <p:blipFill>
          <a:blip r:embed="rId2"/>
          <a:stretch>
            <a:fillRect/>
          </a:stretch>
        </p:blipFill>
        <p:spPr>
          <a:xfrm>
            <a:off x="437882" y="1519560"/>
            <a:ext cx="5657638" cy="410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Box 313"/>
          <p:cNvSpPr txBox="1"/>
          <p:nvPr/>
        </p:nvSpPr>
        <p:spPr>
          <a:xfrm>
            <a:off x="571320" y="569160"/>
            <a:ext cx="4515660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Results - HD QC (Boxplot)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282576" y="1367839"/>
            <a:ext cx="341612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QUALITY CONTROL ASSESSMENT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239018" y="1776230"/>
            <a:ext cx="3642023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Expression Distribution in HD Dataset: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239018" y="2277738"/>
            <a:ext cx="5366854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Aligned medians: Generally consistent median expression levels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across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samples, indicating successful normalization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6239018" y="2991978"/>
            <a:ext cx="5515100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Variation in spread: Visible differences in expression spread reflect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underlying biological differences between brain regions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(e.g., cortex, caudate)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6239018" y="3973338"/>
            <a:ext cx="5373266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Batch correction necessary: Mild discrepancies indicate need for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batch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correction to reduce tissue-driven variability</a:t>
            </a:r>
          </a:p>
        </p:txBody>
      </p:sp>
      <p:sp>
        <p:nvSpPr>
          <p:cNvPr id="326" name="Free-form: Shape 325"/>
          <p:cNvSpPr/>
          <p:nvPr/>
        </p:nvSpPr>
        <p:spPr>
          <a:xfrm>
            <a:off x="6095520" y="4961519"/>
            <a:ext cx="5477760" cy="800640"/>
          </a:xfrm>
          <a:custGeom>
            <a:avLst/>
            <a:gdLst/>
            <a:ahLst/>
            <a:cxnLst/>
            <a:rect l="0" t="0" r="r" b="b"/>
            <a:pathLst>
              <a:path w="14289" h="2224">
                <a:moveTo>
                  <a:pt x="0" y="2012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4077" y="0"/>
                </a:lnTo>
                <a:cubicBezTo>
                  <a:pt x="14091" y="0"/>
                  <a:pt x="14105" y="1"/>
                  <a:pt x="14118" y="4"/>
                </a:cubicBezTo>
                <a:cubicBezTo>
                  <a:pt x="14132" y="7"/>
                  <a:pt x="14145" y="11"/>
                  <a:pt x="14158" y="16"/>
                </a:cubicBezTo>
                <a:cubicBezTo>
                  <a:pt x="14171" y="21"/>
                  <a:pt x="14183" y="28"/>
                  <a:pt x="14195" y="36"/>
                </a:cubicBezTo>
                <a:cubicBezTo>
                  <a:pt x="14206" y="43"/>
                  <a:pt x="14217" y="52"/>
                  <a:pt x="14227" y="62"/>
                </a:cubicBezTo>
                <a:cubicBezTo>
                  <a:pt x="14236" y="72"/>
                  <a:pt x="14245" y="83"/>
                  <a:pt x="14253" y="94"/>
                </a:cubicBezTo>
                <a:cubicBezTo>
                  <a:pt x="14261" y="106"/>
                  <a:pt x="14267" y="118"/>
                  <a:pt x="14273" y="131"/>
                </a:cubicBezTo>
                <a:cubicBezTo>
                  <a:pt x="14278" y="144"/>
                  <a:pt x="14282" y="157"/>
                  <a:pt x="14285" y="170"/>
                </a:cubicBezTo>
                <a:cubicBezTo>
                  <a:pt x="14287" y="184"/>
                  <a:pt x="14289" y="198"/>
                  <a:pt x="14289" y="212"/>
                </a:cubicBezTo>
                <a:lnTo>
                  <a:pt x="14289" y="2012"/>
                </a:lnTo>
                <a:cubicBezTo>
                  <a:pt x="14289" y="2026"/>
                  <a:pt x="14287" y="2040"/>
                  <a:pt x="14285" y="2053"/>
                </a:cubicBezTo>
                <a:cubicBezTo>
                  <a:pt x="14282" y="2067"/>
                  <a:pt x="14278" y="2080"/>
                  <a:pt x="14273" y="2093"/>
                </a:cubicBezTo>
                <a:cubicBezTo>
                  <a:pt x="14267" y="2106"/>
                  <a:pt x="14261" y="2118"/>
                  <a:pt x="14253" y="2129"/>
                </a:cubicBezTo>
                <a:cubicBezTo>
                  <a:pt x="14245" y="2141"/>
                  <a:pt x="14236" y="2152"/>
                  <a:pt x="14227" y="2162"/>
                </a:cubicBezTo>
                <a:cubicBezTo>
                  <a:pt x="14217" y="2171"/>
                  <a:pt x="14206" y="2180"/>
                  <a:pt x="14195" y="2188"/>
                </a:cubicBezTo>
                <a:cubicBezTo>
                  <a:pt x="14183" y="2196"/>
                  <a:pt x="14171" y="2202"/>
                  <a:pt x="14158" y="2207"/>
                </a:cubicBezTo>
                <a:cubicBezTo>
                  <a:pt x="14145" y="2213"/>
                  <a:pt x="14132" y="2217"/>
                  <a:pt x="14118" y="2219"/>
                </a:cubicBezTo>
                <a:cubicBezTo>
                  <a:pt x="14105" y="2222"/>
                  <a:pt x="14091" y="2224"/>
                  <a:pt x="14077" y="2224"/>
                </a:cubicBezTo>
                <a:lnTo>
                  <a:pt x="212" y="2224"/>
                </a:lnTo>
                <a:cubicBezTo>
                  <a:pt x="198" y="2224"/>
                  <a:pt x="184" y="2222"/>
                  <a:pt x="171" y="2219"/>
                </a:cubicBezTo>
                <a:cubicBezTo>
                  <a:pt x="157" y="2217"/>
                  <a:pt x="144" y="2213"/>
                  <a:pt x="131" y="2207"/>
                </a:cubicBezTo>
                <a:cubicBezTo>
                  <a:pt x="118" y="2202"/>
                  <a:pt x="106" y="2196"/>
                  <a:pt x="94" y="2188"/>
                </a:cubicBezTo>
                <a:cubicBezTo>
                  <a:pt x="83" y="2180"/>
                  <a:pt x="72" y="2171"/>
                  <a:pt x="62" y="2162"/>
                </a:cubicBezTo>
                <a:cubicBezTo>
                  <a:pt x="52" y="2152"/>
                  <a:pt x="44" y="2141"/>
                  <a:pt x="36" y="2129"/>
                </a:cubicBezTo>
                <a:cubicBezTo>
                  <a:pt x="28" y="2118"/>
                  <a:pt x="22" y="2106"/>
                  <a:pt x="16" y="2093"/>
                </a:cubicBezTo>
                <a:cubicBezTo>
                  <a:pt x="11" y="2080"/>
                  <a:pt x="7" y="2067"/>
                  <a:pt x="4" y="2053"/>
                </a:cubicBezTo>
                <a:cubicBezTo>
                  <a:pt x="2" y="2040"/>
                  <a:pt x="0" y="2026"/>
                  <a:pt x="0" y="2012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6234190" y="4953658"/>
            <a:ext cx="533909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Conclusion: The boxplot reveals biological heterogeneity across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brain regions,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justifying the use of </a:t>
            </a:r>
            <a:r>
              <a:rPr lang="en-US" sz="1600" dirty="0" err="1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ComBat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for proper batch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adjustment</a:t>
            </a:r>
          </a:p>
        </p:txBody>
      </p:sp>
      <p:sp>
        <p:nvSpPr>
          <p:cNvPr id="329" name="Free-form: Shape 328"/>
          <p:cNvSpPr/>
          <p:nvPr/>
        </p:nvSpPr>
        <p:spPr>
          <a:xfrm>
            <a:off x="571320" y="6048360"/>
            <a:ext cx="11049480" cy="9720"/>
          </a:xfrm>
          <a:custGeom>
            <a:avLst/>
            <a:gdLst/>
            <a:ahLst/>
            <a:cxnLst/>
            <a:rect l="0" t="0" r="r" b="b"/>
            <a:pathLst>
              <a:path w="30693" h="27">
                <a:moveTo>
                  <a:pt x="0" y="0"/>
                </a:moveTo>
                <a:lnTo>
                  <a:pt x="30693" y="0"/>
                </a:lnTo>
                <a:lnTo>
                  <a:pt x="306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11497320" y="62355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64312" y="5692322"/>
            <a:ext cx="361054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7: Expressed Distribution Boxplot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Free-form: Shape 3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5" name="Free-form: Shape 334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36" name="Picture 335"/>
          <p:cNvPicPr/>
          <p:nvPr/>
        </p:nvPicPr>
        <p:blipFill>
          <a:blip r:embed="rId2"/>
          <a:stretch>
            <a:fillRect/>
          </a:stretch>
        </p:blipFill>
        <p:spPr>
          <a:xfrm>
            <a:off x="571320" y="1457280"/>
            <a:ext cx="5524200" cy="41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Box 336"/>
          <p:cNvSpPr txBox="1"/>
          <p:nvPr/>
        </p:nvSpPr>
        <p:spPr>
          <a:xfrm>
            <a:off x="571320" y="569160"/>
            <a:ext cx="23364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Results - HD PCA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7330395" y="1494972"/>
            <a:ext cx="356706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PRINCIPAL COMPONENT ANALYSIS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293734" y="1902438"/>
            <a:ext cx="3554499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Batch Effect Detection in HD Dataset: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293734" y="2405917"/>
            <a:ext cx="5283498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Two major clusters: PCA reveals distinct sample groupings that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correspond to different brain regions, consistent with metadata</a:t>
            </a:r>
          </a:p>
          <a:p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6293734" y="3110797"/>
            <a:ext cx="5513817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Strong tissue/batch effect: Clear separation indicates presence of a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strong batch effect before correction, driven by tissue origin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6293734" y="3825397"/>
            <a:ext cx="5456109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Justifies ComBat adjustment: These patterns validate the need for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proper batch correction to isolate disease-related signals</a:t>
            </a:r>
          </a:p>
        </p:txBody>
      </p:sp>
      <p:sp>
        <p:nvSpPr>
          <p:cNvPr id="348" name="Free-form: Shape 347"/>
          <p:cNvSpPr/>
          <p:nvPr/>
        </p:nvSpPr>
        <p:spPr>
          <a:xfrm>
            <a:off x="6106983" y="4800240"/>
            <a:ext cx="5676045" cy="800640"/>
          </a:xfrm>
          <a:custGeom>
            <a:avLst/>
            <a:gdLst/>
            <a:ahLst/>
            <a:cxnLst/>
            <a:rect l="0" t="0" r="r" b="b"/>
            <a:pathLst>
              <a:path w="14289" h="2224">
                <a:moveTo>
                  <a:pt x="0" y="2012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077" y="0"/>
                </a:lnTo>
                <a:cubicBezTo>
                  <a:pt x="14091" y="0"/>
                  <a:pt x="14105" y="2"/>
                  <a:pt x="14118" y="5"/>
                </a:cubicBezTo>
                <a:cubicBezTo>
                  <a:pt x="14132" y="7"/>
                  <a:pt x="14145" y="11"/>
                  <a:pt x="14158" y="17"/>
                </a:cubicBezTo>
                <a:cubicBezTo>
                  <a:pt x="14171" y="22"/>
                  <a:pt x="14183" y="28"/>
                  <a:pt x="14195" y="36"/>
                </a:cubicBezTo>
                <a:cubicBezTo>
                  <a:pt x="14206" y="44"/>
                  <a:pt x="14217" y="53"/>
                  <a:pt x="14227" y="62"/>
                </a:cubicBezTo>
                <a:cubicBezTo>
                  <a:pt x="14236" y="72"/>
                  <a:pt x="14245" y="83"/>
                  <a:pt x="14253" y="95"/>
                </a:cubicBezTo>
                <a:cubicBezTo>
                  <a:pt x="14261" y="106"/>
                  <a:pt x="14267" y="118"/>
                  <a:pt x="14273" y="131"/>
                </a:cubicBezTo>
                <a:cubicBezTo>
                  <a:pt x="14278" y="144"/>
                  <a:pt x="14282" y="157"/>
                  <a:pt x="14285" y="171"/>
                </a:cubicBezTo>
                <a:cubicBezTo>
                  <a:pt x="14287" y="185"/>
                  <a:pt x="14289" y="198"/>
                  <a:pt x="14289" y="212"/>
                </a:cubicBezTo>
                <a:lnTo>
                  <a:pt x="14289" y="2012"/>
                </a:lnTo>
                <a:cubicBezTo>
                  <a:pt x="14289" y="2026"/>
                  <a:pt x="14287" y="2040"/>
                  <a:pt x="14285" y="2054"/>
                </a:cubicBezTo>
                <a:cubicBezTo>
                  <a:pt x="14282" y="2067"/>
                  <a:pt x="14278" y="2080"/>
                  <a:pt x="14273" y="2093"/>
                </a:cubicBezTo>
                <a:cubicBezTo>
                  <a:pt x="14267" y="2106"/>
                  <a:pt x="14261" y="2118"/>
                  <a:pt x="14253" y="2130"/>
                </a:cubicBezTo>
                <a:cubicBezTo>
                  <a:pt x="14245" y="2141"/>
                  <a:pt x="14236" y="2152"/>
                  <a:pt x="14227" y="2162"/>
                </a:cubicBezTo>
                <a:cubicBezTo>
                  <a:pt x="14217" y="2172"/>
                  <a:pt x="14206" y="2181"/>
                  <a:pt x="14195" y="2188"/>
                </a:cubicBezTo>
                <a:cubicBezTo>
                  <a:pt x="14183" y="2196"/>
                  <a:pt x="14171" y="2203"/>
                  <a:pt x="14158" y="2208"/>
                </a:cubicBezTo>
                <a:cubicBezTo>
                  <a:pt x="14145" y="2213"/>
                  <a:pt x="14132" y="2217"/>
                  <a:pt x="14118" y="2220"/>
                </a:cubicBezTo>
                <a:cubicBezTo>
                  <a:pt x="14105" y="2223"/>
                  <a:pt x="14091" y="2224"/>
                  <a:pt x="14077" y="2224"/>
                </a:cubicBezTo>
                <a:lnTo>
                  <a:pt x="212" y="2224"/>
                </a:lnTo>
                <a:cubicBezTo>
                  <a:pt x="198" y="2224"/>
                  <a:pt x="184" y="2223"/>
                  <a:pt x="171" y="2220"/>
                </a:cubicBezTo>
                <a:cubicBezTo>
                  <a:pt x="157" y="2217"/>
                  <a:pt x="144" y="2213"/>
                  <a:pt x="131" y="2208"/>
                </a:cubicBezTo>
                <a:cubicBezTo>
                  <a:pt x="118" y="2203"/>
                  <a:pt x="106" y="2196"/>
                  <a:pt x="94" y="2188"/>
                </a:cubicBezTo>
                <a:cubicBezTo>
                  <a:pt x="83" y="2181"/>
                  <a:pt x="72" y="2172"/>
                  <a:pt x="62" y="2162"/>
                </a:cubicBezTo>
                <a:cubicBezTo>
                  <a:pt x="52" y="2152"/>
                  <a:pt x="44" y="2141"/>
                  <a:pt x="36" y="2130"/>
                </a:cubicBezTo>
                <a:cubicBezTo>
                  <a:pt x="28" y="2118"/>
                  <a:pt x="22" y="2106"/>
                  <a:pt x="16" y="2093"/>
                </a:cubicBezTo>
                <a:cubicBezTo>
                  <a:pt x="11" y="2080"/>
                  <a:pt x="7" y="2067"/>
                  <a:pt x="4" y="2054"/>
                </a:cubicBezTo>
                <a:cubicBezTo>
                  <a:pt x="2" y="2040"/>
                  <a:pt x="0" y="2026"/>
                  <a:pt x="0" y="2012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0" name="TextBox 349"/>
          <p:cNvSpPr txBox="1"/>
          <p:nvPr/>
        </p:nvSpPr>
        <p:spPr>
          <a:xfrm>
            <a:off x="6293734" y="4842000"/>
            <a:ext cx="5042406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Conclusion: The PCA clustering pattern confirms significant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tissue-driven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variance, necessitating </a:t>
            </a:r>
            <a:r>
              <a:rPr lang="en-US" sz="1600" dirty="0" err="1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ComBat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for accurate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differential expression analysis</a:t>
            </a:r>
          </a:p>
        </p:txBody>
      </p:sp>
      <p:sp>
        <p:nvSpPr>
          <p:cNvPr id="351" name="Free-form: Shape 350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4" name="TextBox 353"/>
          <p:cNvSpPr txBox="1"/>
          <p:nvPr/>
        </p:nvSpPr>
        <p:spPr>
          <a:xfrm>
            <a:off x="11497680" y="60832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375672" y="5545673"/>
            <a:ext cx="391549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8: PCA Plot of Batch Effect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Free-form: Shape 354"/>
          <p:cNvSpPr/>
          <p:nvPr/>
        </p:nvSpPr>
        <p:spPr>
          <a:xfrm>
            <a:off x="0" y="1051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7" name="Free-form: Shape 356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58" name="Picture 357"/>
          <p:cNvPicPr/>
          <p:nvPr/>
        </p:nvPicPr>
        <p:blipFill>
          <a:blip r:embed="rId2"/>
          <a:stretch>
            <a:fillRect/>
          </a:stretch>
        </p:blipFill>
        <p:spPr>
          <a:xfrm>
            <a:off x="571320" y="1719360"/>
            <a:ext cx="4419360" cy="352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Box 358"/>
          <p:cNvSpPr txBox="1"/>
          <p:nvPr/>
        </p:nvSpPr>
        <p:spPr>
          <a:xfrm>
            <a:off x="571320" y="569160"/>
            <a:ext cx="5079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Results - KEGG Pathway Comparison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6788981" y="1565317"/>
            <a:ext cx="372281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CROSS-DISEASE PATHWAY ANALYSIS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5191134" y="2016510"/>
            <a:ext cx="355866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HD vs Lung Cancer KEGG Pathways: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5191134" y="2457232"/>
            <a:ext cx="6546920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No overlapping pathways detected: The Venn diagram shows no shared KEGG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pathways between HD and lung cancer datasets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191134" y="3171472"/>
            <a:ext cx="5800755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Possible explanations: Small DEG lists, strict significance cut-offs, or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insufficient signal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for KEGG enrichment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5191134" y="3876352"/>
            <a:ext cx="6274153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Disease-specific signatures: Results suggest distinct molecular mechanisms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dominate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each disease at the pathway level</a:t>
            </a:r>
          </a:p>
        </p:txBody>
      </p:sp>
      <p:sp>
        <p:nvSpPr>
          <p:cNvPr id="370" name="Free-form: Shape 369"/>
          <p:cNvSpPr/>
          <p:nvPr/>
        </p:nvSpPr>
        <p:spPr>
          <a:xfrm>
            <a:off x="4990680" y="4743360"/>
            <a:ext cx="6918506" cy="1047960"/>
          </a:xfrm>
          <a:custGeom>
            <a:avLst/>
            <a:gdLst/>
            <a:ahLst/>
            <a:cxnLst/>
            <a:rect l="0" t="0" r="r" b="b"/>
            <a:pathLst>
              <a:path w="17358" h="2911">
                <a:moveTo>
                  <a:pt x="0" y="2698"/>
                </a:moveTo>
                <a:lnTo>
                  <a:pt x="0" y="211"/>
                </a:lnTo>
                <a:cubicBezTo>
                  <a:pt x="0" y="198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7146" y="0"/>
                </a:lnTo>
                <a:cubicBezTo>
                  <a:pt x="17160" y="0"/>
                  <a:pt x="17174" y="1"/>
                  <a:pt x="17187" y="4"/>
                </a:cubicBezTo>
                <a:cubicBezTo>
                  <a:pt x="17201" y="7"/>
                  <a:pt x="17214" y="11"/>
                  <a:pt x="17227" y="16"/>
                </a:cubicBezTo>
                <a:cubicBezTo>
                  <a:pt x="17240" y="21"/>
                  <a:pt x="17252" y="28"/>
                  <a:pt x="17264" y="35"/>
                </a:cubicBezTo>
                <a:cubicBezTo>
                  <a:pt x="17275" y="43"/>
                  <a:pt x="17286" y="52"/>
                  <a:pt x="17296" y="62"/>
                </a:cubicBezTo>
                <a:cubicBezTo>
                  <a:pt x="17305" y="72"/>
                  <a:pt x="17314" y="82"/>
                  <a:pt x="17322" y="94"/>
                </a:cubicBezTo>
                <a:cubicBezTo>
                  <a:pt x="17330" y="105"/>
                  <a:pt x="17336" y="118"/>
                  <a:pt x="17342" y="130"/>
                </a:cubicBezTo>
                <a:cubicBezTo>
                  <a:pt x="17347" y="143"/>
                  <a:pt x="17351" y="156"/>
                  <a:pt x="17354" y="170"/>
                </a:cubicBezTo>
                <a:cubicBezTo>
                  <a:pt x="17356" y="184"/>
                  <a:pt x="17358" y="198"/>
                  <a:pt x="17358" y="211"/>
                </a:cubicBezTo>
                <a:lnTo>
                  <a:pt x="17358" y="2698"/>
                </a:lnTo>
                <a:cubicBezTo>
                  <a:pt x="17358" y="2712"/>
                  <a:pt x="17356" y="2726"/>
                  <a:pt x="17354" y="2740"/>
                </a:cubicBezTo>
                <a:cubicBezTo>
                  <a:pt x="17351" y="2753"/>
                  <a:pt x="17347" y="2767"/>
                  <a:pt x="17342" y="2779"/>
                </a:cubicBezTo>
                <a:cubicBezTo>
                  <a:pt x="17336" y="2792"/>
                  <a:pt x="17330" y="2805"/>
                  <a:pt x="17322" y="2816"/>
                </a:cubicBezTo>
                <a:cubicBezTo>
                  <a:pt x="17314" y="2828"/>
                  <a:pt x="17305" y="2839"/>
                  <a:pt x="17296" y="2849"/>
                </a:cubicBezTo>
                <a:cubicBezTo>
                  <a:pt x="17286" y="2859"/>
                  <a:pt x="17275" y="2868"/>
                  <a:pt x="17264" y="2875"/>
                </a:cubicBezTo>
                <a:cubicBezTo>
                  <a:pt x="17252" y="2883"/>
                  <a:pt x="17240" y="2890"/>
                  <a:pt x="17227" y="2895"/>
                </a:cubicBezTo>
                <a:cubicBezTo>
                  <a:pt x="17214" y="2900"/>
                  <a:pt x="17201" y="2904"/>
                  <a:pt x="17187" y="2907"/>
                </a:cubicBezTo>
                <a:cubicBezTo>
                  <a:pt x="17174" y="2910"/>
                  <a:pt x="17160" y="2911"/>
                  <a:pt x="17146" y="2911"/>
                </a:cubicBezTo>
                <a:lnTo>
                  <a:pt x="212" y="2911"/>
                </a:lnTo>
                <a:cubicBezTo>
                  <a:pt x="198" y="2911"/>
                  <a:pt x="184" y="2910"/>
                  <a:pt x="170" y="2907"/>
                </a:cubicBezTo>
                <a:cubicBezTo>
                  <a:pt x="157" y="2904"/>
                  <a:pt x="144" y="2900"/>
                  <a:pt x="131" y="2895"/>
                </a:cubicBezTo>
                <a:cubicBezTo>
                  <a:pt x="118" y="2890"/>
                  <a:pt x="106" y="2883"/>
                  <a:pt x="94" y="2875"/>
                </a:cubicBezTo>
                <a:cubicBezTo>
                  <a:pt x="83" y="2868"/>
                  <a:pt x="72" y="2859"/>
                  <a:pt x="62" y="2849"/>
                </a:cubicBezTo>
                <a:cubicBezTo>
                  <a:pt x="52" y="2839"/>
                  <a:pt x="43" y="2828"/>
                  <a:pt x="36" y="2816"/>
                </a:cubicBezTo>
                <a:cubicBezTo>
                  <a:pt x="28" y="2805"/>
                  <a:pt x="21" y="2792"/>
                  <a:pt x="16" y="2779"/>
                </a:cubicBezTo>
                <a:cubicBezTo>
                  <a:pt x="11" y="2767"/>
                  <a:pt x="7" y="2753"/>
                  <a:pt x="4" y="2740"/>
                </a:cubicBezTo>
                <a:cubicBezTo>
                  <a:pt x="1" y="2726"/>
                  <a:pt x="0" y="2712"/>
                  <a:pt x="0" y="2698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2" name="TextBox 371"/>
          <p:cNvSpPr txBox="1"/>
          <p:nvPr/>
        </p:nvSpPr>
        <p:spPr>
          <a:xfrm>
            <a:off x="5191135" y="4906331"/>
            <a:ext cx="6918506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Interpretation: The absence of shared KEGG pathways indicates disease-specific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molecular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signatures at the chosen significance thresholds, though shared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mechanisms may exist at the gene level.</a:t>
            </a:r>
          </a:p>
        </p:txBody>
      </p:sp>
      <p:sp>
        <p:nvSpPr>
          <p:cNvPr id="374" name="Free-form: Shape 373"/>
          <p:cNvSpPr/>
          <p:nvPr/>
        </p:nvSpPr>
        <p:spPr>
          <a:xfrm>
            <a:off x="571320" y="601956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7" name="TextBox 376"/>
          <p:cNvSpPr txBox="1"/>
          <p:nvPr/>
        </p:nvSpPr>
        <p:spPr>
          <a:xfrm>
            <a:off x="11491920" y="620712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6240" y="4755277"/>
            <a:ext cx="3872214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Figure 9: Venn Diagram Showing HD-Lung </a:t>
            </a:r>
          </a:p>
          <a:p>
            <a:pPr algn="ctr"/>
            <a:r>
              <a:rPr lang="en-US" sz="1600" b="1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KEGG Pathways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Free-form: Shape 3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0" name="Free-form: Shape 379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1" name="Free-form: Shape 380"/>
          <p:cNvSpPr/>
          <p:nvPr/>
        </p:nvSpPr>
        <p:spPr>
          <a:xfrm>
            <a:off x="1095120" y="4829040"/>
            <a:ext cx="10001520" cy="943200"/>
          </a:xfrm>
          <a:custGeom>
            <a:avLst/>
            <a:gdLst/>
            <a:ahLst/>
            <a:cxnLst/>
            <a:rect l="0" t="0" r="r" b="b"/>
            <a:pathLst>
              <a:path w="27782" h="2620">
                <a:moveTo>
                  <a:pt x="0" y="2303"/>
                </a:moveTo>
                <a:lnTo>
                  <a:pt x="0" y="317"/>
                </a:lnTo>
                <a:cubicBezTo>
                  <a:pt x="0" y="297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8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27465" y="0"/>
                </a:lnTo>
                <a:cubicBezTo>
                  <a:pt x="27486" y="0"/>
                  <a:pt x="27506" y="2"/>
                  <a:pt x="27527" y="6"/>
                </a:cubicBezTo>
                <a:cubicBezTo>
                  <a:pt x="27547" y="10"/>
                  <a:pt x="27567" y="16"/>
                  <a:pt x="27586" y="24"/>
                </a:cubicBezTo>
                <a:cubicBezTo>
                  <a:pt x="27606" y="32"/>
                  <a:pt x="27624" y="42"/>
                  <a:pt x="27641" y="53"/>
                </a:cubicBezTo>
                <a:cubicBezTo>
                  <a:pt x="27659" y="65"/>
                  <a:pt x="27675" y="78"/>
                  <a:pt x="27689" y="93"/>
                </a:cubicBezTo>
                <a:cubicBezTo>
                  <a:pt x="27704" y="108"/>
                  <a:pt x="27717" y="124"/>
                  <a:pt x="27729" y="141"/>
                </a:cubicBezTo>
                <a:cubicBezTo>
                  <a:pt x="27741" y="158"/>
                  <a:pt x="27750" y="177"/>
                  <a:pt x="27758" y="196"/>
                </a:cubicBezTo>
                <a:cubicBezTo>
                  <a:pt x="27766" y="215"/>
                  <a:pt x="27772" y="235"/>
                  <a:pt x="27776" y="255"/>
                </a:cubicBezTo>
                <a:cubicBezTo>
                  <a:pt x="27780" y="276"/>
                  <a:pt x="27782" y="297"/>
                  <a:pt x="27782" y="317"/>
                </a:cubicBezTo>
                <a:lnTo>
                  <a:pt x="27782" y="2303"/>
                </a:lnTo>
                <a:cubicBezTo>
                  <a:pt x="27782" y="2324"/>
                  <a:pt x="27780" y="2344"/>
                  <a:pt x="27776" y="2365"/>
                </a:cubicBezTo>
                <a:cubicBezTo>
                  <a:pt x="27772" y="2385"/>
                  <a:pt x="27766" y="2405"/>
                  <a:pt x="27758" y="2424"/>
                </a:cubicBezTo>
                <a:cubicBezTo>
                  <a:pt x="27750" y="2444"/>
                  <a:pt x="27741" y="2462"/>
                  <a:pt x="27729" y="2479"/>
                </a:cubicBezTo>
                <a:cubicBezTo>
                  <a:pt x="27717" y="2496"/>
                  <a:pt x="27704" y="2513"/>
                  <a:pt x="27689" y="2527"/>
                </a:cubicBezTo>
                <a:cubicBezTo>
                  <a:pt x="27675" y="2542"/>
                  <a:pt x="27659" y="2555"/>
                  <a:pt x="27641" y="2567"/>
                </a:cubicBezTo>
                <a:cubicBezTo>
                  <a:pt x="27624" y="2578"/>
                  <a:pt x="27606" y="2588"/>
                  <a:pt x="27586" y="2596"/>
                </a:cubicBezTo>
                <a:cubicBezTo>
                  <a:pt x="27567" y="2604"/>
                  <a:pt x="27547" y="2610"/>
                  <a:pt x="27527" y="2614"/>
                </a:cubicBezTo>
                <a:cubicBezTo>
                  <a:pt x="27506" y="2618"/>
                  <a:pt x="27486" y="2620"/>
                  <a:pt x="27465" y="2620"/>
                </a:cubicBezTo>
                <a:lnTo>
                  <a:pt x="318" y="2620"/>
                </a:lnTo>
                <a:cubicBezTo>
                  <a:pt x="297" y="2620"/>
                  <a:pt x="276" y="2618"/>
                  <a:pt x="256" y="2614"/>
                </a:cubicBezTo>
                <a:cubicBezTo>
                  <a:pt x="235" y="2610"/>
                  <a:pt x="215" y="2604"/>
                  <a:pt x="196" y="2596"/>
                </a:cubicBezTo>
                <a:cubicBezTo>
                  <a:pt x="177" y="2588"/>
                  <a:pt x="159" y="2578"/>
                  <a:pt x="141" y="2567"/>
                </a:cubicBezTo>
                <a:cubicBezTo>
                  <a:pt x="124" y="2555"/>
                  <a:pt x="108" y="2542"/>
                  <a:pt x="93" y="2527"/>
                </a:cubicBezTo>
                <a:cubicBezTo>
                  <a:pt x="78" y="2513"/>
                  <a:pt x="65" y="2496"/>
                  <a:pt x="54" y="2479"/>
                </a:cubicBezTo>
                <a:cubicBezTo>
                  <a:pt x="42" y="2462"/>
                  <a:pt x="32" y="2444"/>
                  <a:pt x="24" y="2424"/>
                </a:cubicBezTo>
                <a:cubicBezTo>
                  <a:pt x="16" y="2405"/>
                  <a:pt x="10" y="2385"/>
                  <a:pt x="6" y="2365"/>
                </a:cubicBezTo>
                <a:cubicBezTo>
                  <a:pt x="2" y="2344"/>
                  <a:pt x="0" y="2324"/>
                  <a:pt x="0" y="2303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2" name="Free-form: Shape 381"/>
          <p:cNvSpPr/>
          <p:nvPr/>
        </p:nvSpPr>
        <p:spPr>
          <a:xfrm>
            <a:off x="150471" y="1227685"/>
            <a:ext cx="5839687" cy="1543680"/>
          </a:xfrm>
          <a:custGeom>
            <a:avLst/>
            <a:gdLst/>
            <a:ahLst/>
            <a:cxnLst/>
            <a:rect l="0" t="0" r="r" b="b"/>
            <a:pathLst>
              <a:path w="13521" h="4288">
                <a:moveTo>
                  <a:pt x="0" y="4076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2" y="131"/>
                </a:cubicBezTo>
                <a:cubicBezTo>
                  <a:pt x="16" y="118"/>
                  <a:pt x="21" y="106"/>
                  <a:pt x="27" y="94"/>
                </a:cubicBezTo>
                <a:cubicBezTo>
                  <a:pt x="33" y="83"/>
                  <a:pt x="39" y="72"/>
                  <a:pt x="47" y="62"/>
                </a:cubicBezTo>
                <a:cubicBezTo>
                  <a:pt x="54" y="53"/>
                  <a:pt x="62" y="44"/>
                  <a:pt x="71" y="36"/>
                </a:cubicBezTo>
                <a:cubicBezTo>
                  <a:pt x="79" y="28"/>
                  <a:pt x="88" y="22"/>
                  <a:pt x="98" y="16"/>
                </a:cubicBezTo>
                <a:cubicBezTo>
                  <a:pt x="108" y="11"/>
                  <a:pt x="118" y="7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2"/>
                  <a:pt x="13351" y="4"/>
                </a:cubicBezTo>
                <a:cubicBezTo>
                  <a:pt x="13365" y="7"/>
                  <a:pt x="13378" y="11"/>
                  <a:pt x="13391" y="16"/>
                </a:cubicBezTo>
                <a:cubicBezTo>
                  <a:pt x="13404" y="22"/>
                  <a:pt x="13416" y="28"/>
                  <a:pt x="13427" y="36"/>
                </a:cubicBezTo>
                <a:cubicBezTo>
                  <a:pt x="13439" y="44"/>
                  <a:pt x="13450" y="53"/>
                  <a:pt x="13459" y="62"/>
                </a:cubicBezTo>
                <a:cubicBezTo>
                  <a:pt x="13469" y="72"/>
                  <a:pt x="13478" y="83"/>
                  <a:pt x="13486" y="94"/>
                </a:cubicBezTo>
                <a:cubicBezTo>
                  <a:pt x="13493" y="106"/>
                  <a:pt x="13500" y="118"/>
                  <a:pt x="13505" y="131"/>
                </a:cubicBezTo>
                <a:cubicBezTo>
                  <a:pt x="13511" y="144"/>
                  <a:pt x="13515" y="157"/>
                  <a:pt x="13517" y="171"/>
                </a:cubicBezTo>
                <a:cubicBezTo>
                  <a:pt x="13520" y="184"/>
                  <a:pt x="13521" y="198"/>
                  <a:pt x="13521" y="212"/>
                </a:cubicBezTo>
                <a:lnTo>
                  <a:pt x="13521" y="4076"/>
                </a:lnTo>
                <a:cubicBezTo>
                  <a:pt x="13521" y="4090"/>
                  <a:pt x="13520" y="4104"/>
                  <a:pt x="13517" y="4117"/>
                </a:cubicBezTo>
                <a:cubicBezTo>
                  <a:pt x="13515" y="4131"/>
                  <a:pt x="13511" y="4144"/>
                  <a:pt x="13505" y="4157"/>
                </a:cubicBezTo>
                <a:cubicBezTo>
                  <a:pt x="13500" y="4170"/>
                  <a:pt x="13493" y="4182"/>
                  <a:pt x="13486" y="4194"/>
                </a:cubicBezTo>
                <a:cubicBezTo>
                  <a:pt x="13478" y="4205"/>
                  <a:pt x="13469" y="4216"/>
                  <a:pt x="13459" y="4226"/>
                </a:cubicBezTo>
                <a:cubicBezTo>
                  <a:pt x="13450" y="4235"/>
                  <a:pt x="13439" y="4244"/>
                  <a:pt x="13427" y="4252"/>
                </a:cubicBezTo>
                <a:cubicBezTo>
                  <a:pt x="13416" y="4260"/>
                  <a:pt x="13404" y="4266"/>
                  <a:pt x="13391" y="4272"/>
                </a:cubicBezTo>
                <a:cubicBezTo>
                  <a:pt x="13378" y="4277"/>
                  <a:pt x="13365" y="4281"/>
                  <a:pt x="13351" y="4284"/>
                </a:cubicBezTo>
                <a:cubicBezTo>
                  <a:pt x="13337" y="4286"/>
                  <a:pt x="13324" y="4288"/>
                  <a:pt x="13310" y="4288"/>
                </a:cubicBezTo>
                <a:lnTo>
                  <a:pt x="159" y="4288"/>
                </a:lnTo>
                <a:cubicBezTo>
                  <a:pt x="148" y="4288"/>
                  <a:pt x="138" y="4286"/>
                  <a:pt x="128" y="4284"/>
                </a:cubicBezTo>
                <a:cubicBezTo>
                  <a:pt x="118" y="4281"/>
                  <a:pt x="108" y="4277"/>
                  <a:pt x="98" y="4272"/>
                </a:cubicBezTo>
                <a:cubicBezTo>
                  <a:pt x="88" y="4266"/>
                  <a:pt x="79" y="4260"/>
                  <a:pt x="71" y="4252"/>
                </a:cubicBezTo>
                <a:cubicBezTo>
                  <a:pt x="62" y="4244"/>
                  <a:pt x="54" y="4235"/>
                  <a:pt x="47" y="4226"/>
                </a:cubicBezTo>
                <a:cubicBezTo>
                  <a:pt x="39" y="4216"/>
                  <a:pt x="33" y="4205"/>
                  <a:pt x="27" y="4194"/>
                </a:cubicBezTo>
                <a:cubicBezTo>
                  <a:pt x="21" y="4182"/>
                  <a:pt x="16" y="4170"/>
                  <a:pt x="12" y="4157"/>
                </a:cubicBezTo>
                <a:cubicBezTo>
                  <a:pt x="8" y="4144"/>
                  <a:pt x="5" y="4131"/>
                  <a:pt x="3" y="4117"/>
                </a:cubicBezTo>
                <a:cubicBezTo>
                  <a:pt x="1" y="4104"/>
                  <a:pt x="0" y="4090"/>
                  <a:pt x="0" y="40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3" name="Free-form: Shape 382"/>
          <p:cNvSpPr/>
          <p:nvPr/>
        </p:nvSpPr>
        <p:spPr>
          <a:xfrm>
            <a:off x="189939" y="1259474"/>
            <a:ext cx="76680" cy="1543680"/>
          </a:xfrm>
          <a:custGeom>
            <a:avLst/>
            <a:gdLst/>
            <a:ahLst/>
            <a:cxnLst/>
            <a:rect l="0" t="0" r="r" b="b"/>
            <a:pathLst>
              <a:path w="213" h="4288">
                <a:moveTo>
                  <a:pt x="0" y="0"/>
                </a:moveTo>
                <a:lnTo>
                  <a:pt x="213" y="0"/>
                </a:lnTo>
                <a:lnTo>
                  <a:pt x="213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4" name="Free-form: Shape 383"/>
          <p:cNvSpPr/>
          <p:nvPr/>
        </p:nvSpPr>
        <p:spPr>
          <a:xfrm>
            <a:off x="288505" y="1248849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60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2"/>
                  <a:pt x="1101" y="4"/>
                </a:cubicBezTo>
                <a:cubicBezTo>
                  <a:pt x="1114" y="7"/>
                  <a:pt x="1128" y="11"/>
                  <a:pt x="1140" y="16"/>
                </a:cubicBezTo>
                <a:cubicBezTo>
                  <a:pt x="1153" y="22"/>
                  <a:pt x="1165" y="28"/>
                  <a:pt x="1177" y="36"/>
                </a:cubicBezTo>
                <a:cubicBezTo>
                  <a:pt x="1189" y="44"/>
                  <a:pt x="1199" y="53"/>
                  <a:pt x="1209" y="62"/>
                </a:cubicBezTo>
                <a:cubicBezTo>
                  <a:pt x="1219" y="72"/>
                  <a:pt x="1228" y="83"/>
                  <a:pt x="1235" y="94"/>
                </a:cubicBezTo>
                <a:cubicBezTo>
                  <a:pt x="1243" y="106"/>
                  <a:pt x="1250" y="118"/>
                  <a:pt x="1255" y="131"/>
                </a:cubicBezTo>
                <a:cubicBezTo>
                  <a:pt x="1260" y="144"/>
                  <a:pt x="1264" y="157"/>
                  <a:pt x="1267" y="171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60"/>
                </a:lnTo>
                <a:cubicBezTo>
                  <a:pt x="1271" y="1074"/>
                  <a:pt x="1270" y="1087"/>
                  <a:pt x="1267" y="1101"/>
                </a:cubicBezTo>
                <a:cubicBezTo>
                  <a:pt x="1264" y="1115"/>
                  <a:pt x="1260" y="1128"/>
                  <a:pt x="1255" y="1141"/>
                </a:cubicBezTo>
                <a:cubicBezTo>
                  <a:pt x="1250" y="1154"/>
                  <a:pt x="1243" y="1166"/>
                  <a:pt x="1235" y="1177"/>
                </a:cubicBezTo>
                <a:cubicBezTo>
                  <a:pt x="1228" y="1189"/>
                  <a:pt x="1219" y="1200"/>
                  <a:pt x="1209" y="1209"/>
                </a:cubicBezTo>
                <a:cubicBezTo>
                  <a:pt x="1199" y="1219"/>
                  <a:pt x="1189" y="1228"/>
                  <a:pt x="1177" y="1236"/>
                </a:cubicBezTo>
                <a:cubicBezTo>
                  <a:pt x="1165" y="1243"/>
                  <a:pt x="1153" y="1250"/>
                  <a:pt x="1140" y="1255"/>
                </a:cubicBezTo>
                <a:cubicBezTo>
                  <a:pt x="1128" y="1261"/>
                  <a:pt x="1114" y="1265"/>
                  <a:pt x="1101" y="1267"/>
                </a:cubicBezTo>
                <a:cubicBezTo>
                  <a:pt x="1087" y="1270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0" y="1267"/>
                </a:cubicBezTo>
                <a:cubicBezTo>
                  <a:pt x="157" y="1265"/>
                  <a:pt x="144" y="1261"/>
                  <a:pt x="131" y="1255"/>
                </a:cubicBezTo>
                <a:cubicBezTo>
                  <a:pt x="118" y="1250"/>
                  <a:pt x="106" y="1243"/>
                  <a:pt x="94" y="1236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2" y="1200"/>
                  <a:pt x="43" y="1189"/>
                  <a:pt x="36" y="1177"/>
                </a:cubicBezTo>
                <a:cubicBezTo>
                  <a:pt x="28" y="1166"/>
                  <a:pt x="21" y="1154"/>
                  <a:pt x="16" y="1141"/>
                </a:cubicBezTo>
                <a:cubicBezTo>
                  <a:pt x="11" y="1128"/>
                  <a:pt x="7" y="1115"/>
                  <a:pt x="4" y="1101"/>
                </a:cubicBezTo>
                <a:cubicBezTo>
                  <a:pt x="1" y="1087"/>
                  <a:pt x="0" y="1074"/>
                  <a:pt x="0" y="1060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571320" y="569160"/>
            <a:ext cx="5689058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Discussion - Pipeline Performance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481465" y="1373769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solidFill>
                  <a:srgbClr val="DA775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898345" y="1278369"/>
            <a:ext cx="262026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Automated Workflow Success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875131" y="1569020"/>
            <a:ext cx="478015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The automated workflow successfully handled end-to-end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875131" y="1816700"/>
            <a:ext cx="509594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processing, from GEO download to DEG extraction, reducing</a:t>
            </a:r>
          </a:p>
        </p:txBody>
      </p:sp>
      <p:sp>
        <p:nvSpPr>
          <p:cNvPr id="390" name="Free-form: Shape 389"/>
          <p:cNvSpPr/>
          <p:nvPr/>
        </p:nvSpPr>
        <p:spPr>
          <a:xfrm>
            <a:off x="6229080" y="1285560"/>
            <a:ext cx="5420880" cy="1543680"/>
          </a:xfrm>
          <a:custGeom>
            <a:avLst/>
            <a:gdLst/>
            <a:ahLst/>
            <a:cxnLst/>
            <a:rect l="0" t="0" r="r" b="b"/>
            <a:pathLst>
              <a:path w="13521" h="4288">
                <a:moveTo>
                  <a:pt x="0" y="4076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2" y="131"/>
                </a:cubicBezTo>
                <a:cubicBezTo>
                  <a:pt x="16" y="118"/>
                  <a:pt x="21" y="106"/>
                  <a:pt x="27" y="94"/>
                </a:cubicBezTo>
                <a:cubicBezTo>
                  <a:pt x="33" y="83"/>
                  <a:pt x="39" y="72"/>
                  <a:pt x="47" y="62"/>
                </a:cubicBezTo>
                <a:cubicBezTo>
                  <a:pt x="54" y="53"/>
                  <a:pt x="62" y="44"/>
                  <a:pt x="71" y="36"/>
                </a:cubicBezTo>
                <a:cubicBezTo>
                  <a:pt x="79" y="28"/>
                  <a:pt x="89" y="22"/>
                  <a:pt x="98" y="16"/>
                </a:cubicBezTo>
                <a:cubicBezTo>
                  <a:pt x="108" y="11"/>
                  <a:pt x="118" y="7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2"/>
                  <a:pt x="13351" y="4"/>
                </a:cubicBezTo>
                <a:cubicBezTo>
                  <a:pt x="13365" y="7"/>
                  <a:pt x="13378" y="11"/>
                  <a:pt x="13391" y="16"/>
                </a:cubicBezTo>
                <a:cubicBezTo>
                  <a:pt x="13404" y="22"/>
                  <a:pt x="13416" y="28"/>
                  <a:pt x="13427" y="36"/>
                </a:cubicBezTo>
                <a:cubicBezTo>
                  <a:pt x="13439" y="44"/>
                  <a:pt x="13450" y="53"/>
                  <a:pt x="13459" y="62"/>
                </a:cubicBezTo>
                <a:cubicBezTo>
                  <a:pt x="13469" y="72"/>
                  <a:pt x="13478" y="83"/>
                  <a:pt x="13486" y="94"/>
                </a:cubicBezTo>
                <a:cubicBezTo>
                  <a:pt x="13494" y="106"/>
                  <a:pt x="13500" y="118"/>
                  <a:pt x="13505" y="131"/>
                </a:cubicBezTo>
                <a:cubicBezTo>
                  <a:pt x="13511" y="144"/>
                  <a:pt x="13515" y="157"/>
                  <a:pt x="13517" y="171"/>
                </a:cubicBezTo>
                <a:cubicBezTo>
                  <a:pt x="13520" y="184"/>
                  <a:pt x="13521" y="198"/>
                  <a:pt x="13521" y="212"/>
                </a:cubicBezTo>
                <a:lnTo>
                  <a:pt x="13521" y="4076"/>
                </a:lnTo>
                <a:cubicBezTo>
                  <a:pt x="13521" y="4090"/>
                  <a:pt x="13520" y="4104"/>
                  <a:pt x="13517" y="4117"/>
                </a:cubicBezTo>
                <a:cubicBezTo>
                  <a:pt x="13515" y="4131"/>
                  <a:pt x="13511" y="4144"/>
                  <a:pt x="13505" y="4157"/>
                </a:cubicBezTo>
                <a:cubicBezTo>
                  <a:pt x="13500" y="4170"/>
                  <a:pt x="13494" y="4182"/>
                  <a:pt x="13486" y="4194"/>
                </a:cubicBezTo>
                <a:cubicBezTo>
                  <a:pt x="13478" y="4205"/>
                  <a:pt x="13469" y="4216"/>
                  <a:pt x="13459" y="4226"/>
                </a:cubicBezTo>
                <a:cubicBezTo>
                  <a:pt x="13450" y="4235"/>
                  <a:pt x="13439" y="4244"/>
                  <a:pt x="13427" y="4252"/>
                </a:cubicBezTo>
                <a:cubicBezTo>
                  <a:pt x="13416" y="4260"/>
                  <a:pt x="13404" y="4266"/>
                  <a:pt x="13391" y="4272"/>
                </a:cubicBezTo>
                <a:cubicBezTo>
                  <a:pt x="13378" y="4277"/>
                  <a:pt x="13365" y="4281"/>
                  <a:pt x="13351" y="4284"/>
                </a:cubicBezTo>
                <a:cubicBezTo>
                  <a:pt x="13337" y="4286"/>
                  <a:pt x="13324" y="4288"/>
                  <a:pt x="13310" y="4288"/>
                </a:cubicBezTo>
                <a:lnTo>
                  <a:pt x="159" y="4288"/>
                </a:lnTo>
                <a:cubicBezTo>
                  <a:pt x="149" y="4288"/>
                  <a:pt x="138" y="4286"/>
                  <a:pt x="128" y="4284"/>
                </a:cubicBezTo>
                <a:cubicBezTo>
                  <a:pt x="118" y="4281"/>
                  <a:pt x="108" y="4277"/>
                  <a:pt x="98" y="4272"/>
                </a:cubicBezTo>
                <a:cubicBezTo>
                  <a:pt x="89" y="4266"/>
                  <a:pt x="79" y="4260"/>
                  <a:pt x="71" y="4252"/>
                </a:cubicBezTo>
                <a:cubicBezTo>
                  <a:pt x="62" y="4244"/>
                  <a:pt x="54" y="4235"/>
                  <a:pt x="47" y="4226"/>
                </a:cubicBezTo>
                <a:cubicBezTo>
                  <a:pt x="39" y="4216"/>
                  <a:pt x="33" y="4205"/>
                  <a:pt x="27" y="4194"/>
                </a:cubicBezTo>
                <a:cubicBezTo>
                  <a:pt x="21" y="4182"/>
                  <a:pt x="16" y="4170"/>
                  <a:pt x="12" y="4157"/>
                </a:cubicBezTo>
                <a:cubicBezTo>
                  <a:pt x="8" y="4144"/>
                  <a:pt x="5" y="4131"/>
                  <a:pt x="3" y="4117"/>
                </a:cubicBezTo>
                <a:cubicBezTo>
                  <a:pt x="1" y="4104"/>
                  <a:pt x="0" y="4090"/>
                  <a:pt x="0" y="40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1" name="Free-form: Shape 390"/>
          <p:cNvSpPr/>
          <p:nvPr/>
        </p:nvSpPr>
        <p:spPr>
          <a:xfrm>
            <a:off x="6210000" y="1285560"/>
            <a:ext cx="76680" cy="1543680"/>
          </a:xfrm>
          <a:custGeom>
            <a:avLst/>
            <a:gdLst/>
            <a:ahLst/>
            <a:cxnLst/>
            <a:rect l="0" t="0" r="r" b="b"/>
            <a:pathLst>
              <a:path w="213" h="4288">
                <a:moveTo>
                  <a:pt x="0" y="0"/>
                </a:moveTo>
                <a:lnTo>
                  <a:pt x="213" y="0"/>
                </a:lnTo>
                <a:lnTo>
                  <a:pt x="213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2" name="Free-form: Shape 391"/>
          <p:cNvSpPr/>
          <p:nvPr/>
        </p:nvSpPr>
        <p:spPr>
          <a:xfrm>
            <a:off x="6324480" y="128051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60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2"/>
                  <a:pt x="1101" y="4"/>
                </a:cubicBezTo>
                <a:cubicBezTo>
                  <a:pt x="1114" y="7"/>
                  <a:pt x="1128" y="11"/>
                  <a:pt x="1140" y="16"/>
                </a:cubicBezTo>
                <a:cubicBezTo>
                  <a:pt x="1153" y="22"/>
                  <a:pt x="1166" y="28"/>
                  <a:pt x="1177" y="36"/>
                </a:cubicBezTo>
                <a:cubicBezTo>
                  <a:pt x="1189" y="44"/>
                  <a:pt x="1199" y="53"/>
                  <a:pt x="1209" y="62"/>
                </a:cubicBezTo>
                <a:cubicBezTo>
                  <a:pt x="1219" y="72"/>
                  <a:pt x="1228" y="83"/>
                  <a:pt x="1235" y="94"/>
                </a:cubicBezTo>
                <a:cubicBezTo>
                  <a:pt x="1243" y="106"/>
                  <a:pt x="1250" y="118"/>
                  <a:pt x="1255" y="131"/>
                </a:cubicBezTo>
                <a:cubicBezTo>
                  <a:pt x="1260" y="144"/>
                  <a:pt x="1264" y="157"/>
                  <a:pt x="1267" y="171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60"/>
                </a:lnTo>
                <a:cubicBezTo>
                  <a:pt x="1271" y="1074"/>
                  <a:pt x="1270" y="1087"/>
                  <a:pt x="1267" y="1101"/>
                </a:cubicBezTo>
                <a:cubicBezTo>
                  <a:pt x="1264" y="1115"/>
                  <a:pt x="1260" y="1128"/>
                  <a:pt x="1255" y="1141"/>
                </a:cubicBezTo>
                <a:cubicBezTo>
                  <a:pt x="1250" y="1154"/>
                  <a:pt x="1243" y="1166"/>
                  <a:pt x="1235" y="1177"/>
                </a:cubicBezTo>
                <a:cubicBezTo>
                  <a:pt x="1228" y="1189"/>
                  <a:pt x="1219" y="1200"/>
                  <a:pt x="1209" y="1209"/>
                </a:cubicBezTo>
                <a:cubicBezTo>
                  <a:pt x="1199" y="1219"/>
                  <a:pt x="1189" y="1228"/>
                  <a:pt x="1177" y="1236"/>
                </a:cubicBezTo>
                <a:cubicBezTo>
                  <a:pt x="1166" y="1243"/>
                  <a:pt x="1153" y="1250"/>
                  <a:pt x="1140" y="1255"/>
                </a:cubicBezTo>
                <a:cubicBezTo>
                  <a:pt x="1128" y="1261"/>
                  <a:pt x="1114" y="1265"/>
                  <a:pt x="1101" y="1267"/>
                </a:cubicBezTo>
                <a:cubicBezTo>
                  <a:pt x="1087" y="1270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1" y="1267"/>
                </a:cubicBezTo>
                <a:cubicBezTo>
                  <a:pt x="157" y="1265"/>
                  <a:pt x="144" y="1261"/>
                  <a:pt x="131" y="1255"/>
                </a:cubicBezTo>
                <a:cubicBezTo>
                  <a:pt x="118" y="1250"/>
                  <a:pt x="106" y="1243"/>
                  <a:pt x="94" y="1236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2" y="1200"/>
                  <a:pt x="44" y="1189"/>
                  <a:pt x="36" y="1177"/>
                </a:cubicBezTo>
                <a:cubicBezTo>
                  <a:pt x="28" y="1166"/>
                  <a:pt x="22" y="1154"/>
                  <a:pt x="16" y="1141"/>
                </a:cubicBezTo>
                <a:cubicBezTo>
                  <a:pt x="11" y="1128"/>
                  <a:pt x="7" y="1115"/>
                  <a:pt x="4" y="1101"/>
                </a:cubicBezTo>
                <a:cubicBezTo>
                  <a:pt x="2" y="1087"/>
                  <a:pt x="0" y="1074"/>
                  <a:pt x="0" y="1060"/>
                </a:cubicBezTo>
                <a:close/>
              </a:path>
            </a:pathLst>
          </a:custGeom>
          <a:solidFill>
            <a:srgbClr val="E8F1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3" name="TextBox 392"/>
          <p:cNvSpPr txBox="1"/>
          <p:nvPr/>
        </p:nvSpPr>
        <p:spPr>
          <a:xfrm>
            <a:off x="875131" y="2064380"/>
            <a:ext cx="352179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manual errors and ensuring reproducibility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6504480" y="140543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solidFill>
                  <a:srgbClr val="5B9BD5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6934320" y="1310030"/>
            <a:ext cx="234038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Reliable Metadata Parsing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6934320" y="1658510"/>
            <a:ext cx="439062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Metadata parsing and auto-detection of disease status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934320" y="1906190"/>
            <a:ext cx="455650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(HD/Tumor vs Control/Normal) worked reliably across</a:t>
            </a:r>
          </a:p>
        </p:txBody>
      </p:sp>
      <p:sp>
        <p:nvSpPr>
          <p:cNvPr id="398" name="Free-form: Shape 397"/>
          <p:cNvSpPr/>
          <p:nvPr/>
        </p:nvSpPr>
        <p:spPr>
          <a:xfrm>
            <a:off x="189939" y="3057480"/>
            <a:ext cx="5791821" cy="1543320"/>
          </a:xfrm>
          <a:custGeom>
            <a:avLst/>
            <a:gdLst/>
            <a:ahLst/>
            <a:cxnLst/>
            <a:rect l="0" t="0" r="r" b="b"/>
            <a:pathLst>
              <a:path w="13521" h="4287">
                <a:moveTo>
                  <a:pt x="0" y="4075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7" y="94"/>
                </a:cubicBezTo>
                <a:cubicBezTo>
                  <a:pt x="33" y="82"/>
                  <a:pt x="39" y="71"/>
                  <a:pt x="47" y="62"/>
                </a:cubicBezTo>
                <a:cubicBezTo>
                  <a:pt x="54" y="52"/>
                  <a:pt x="62" y="43"/>
                  <a:pt x="71" y="35"/>
                </a:cubicBezTo>
                <a:cubicBezTo>
                  <a:pt x="79" y="28"/>
                  <a:pt x="88" y="21"/>
                  <a:pt x="98" y="16"/>
                </a:cubicBezTo>
                <a:cubicBezTo>
                  <a:pt x="108" y="10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1"/>
                  <a:pt x="13351" y="4"/>
                </a:cubicBezTo>
                <a:cubicBezTo>
                  <a:pt x="13365" y="6"/>
                  <a:pt x="13378" y="10"/>
                  <a:pt x="13391" y="16"/>
                </a:cubicBezTo>
                <a:cubicBezTo>
                  <a:pt x="13404" y="21"/>
                  <a:pt x="13416" y="28"/>
                  <a:pt x="13427" y="35"/>
                </a:cubicBezTo>
                <a:cubicBezTo>
                  <a:pt x="13439" y="43"/>
                  <a:pt x="13450" y="52"/>
                  <a:pt x="13459" y="62"/>
                </a:cubicBezTo>
                <a:cubicBezTo>
                  <a:pt x="13469" y="71"/>
                  <a:pt x="13478" y="82"/>
                  <a:pt x="13486" y="94"/>
                </a:cubicBezTo>
                <a:cubicBezTo>
                  <a:pt x="13493" y="105"/>
                  <a:pt x="13500" y="117"/>
                  <a:pt x="13505" y="130"/>
                </a:cubicBezTo>
                <a:cubicBezTo>
                  <a:pt x="13511" y="143"/>
                  <a:pt x="13515" y="156"/>
                  <a:pt x="13517" y="170"/>
                </a:cubicBezTo>
                <a:cubicBezTo>
                  <a:pt x="13520" y="184"/>
                  <a:pt x="13521" y="197"/>
                  <a:pt x="13521" y="211"/>
                </a:cubicBezTo>
                <a:lnTo>
                  <a:pt x="13521" y="4075"/>
                </a:lnTo>
                <a:cubicBezTo>
                  <a:pt x="13521" y="4089"/>
                  <a:pt x="13520" y="4103"/>
                  <a:pt x="13517" y="4117"/>
                </a:cubicBezTo>
                <a:cubicBezTo>
                  <a:pt x="13515" y="4130"/>
                  <a:pt x="13511" y="4143"/>
                  <a:pt x="13505" y="4156"/>
                </a:cubicBezTo>
                <a:cubicBezTo>
                  <a:pt x="13500" y="4169"/>
                  <a:pt x="13493" y="4181"/>
                  <a:pt x="13486" y="4193"/>
                </a:cubicBezTo>
                <a:cubicBezTo>
                  <a:pt x="13478" y="4204"/>
                  <a:pt x="13469" y="4215"/>
                  <a:pt x="13459" y="4225"/>
                </a:cubicBezTo>
                <a:cubicBezTo>
                  <a:pt x="13450" y="4235"/>
                  <a:pt x="13439" y="4243"/>
                  <a:pt x="13427" y="4251"/>
                </a:cubicBezTo>
                <a:cubicBezTo>
                  <a:pt x="13416" y="4259"/>
                  <a:pt x="13404" y="4265"/>
                  <a:pt x="13391" y="4271"/>
                </a:cubicBezTo>
                <a:cubicBezTo>
                  <a:pt x="13378" y="4276"/>
                  <a:pt x="13365" y="4280"/>
                  <a:pt x="13351" y="4283"/>
                </a:cubicBezTo>
                <a:cubicBezTo>
                  <a:pt x="13337" y="4286"/>
                  <a:pt x="13324" y="4287"/>
                  <a:pt x="13310" y="4287"/>
                </a:cubicBezTo>
                <a:lnTo>
                  <a:pt x="159" y="4287"/>
                </a:lnTo>
                <a:cubicBezTo>
                  <a:pt x="148" y="4287"/>
                  <a:pt x="138" y="4286"/>
                  <a:pt x="128" y="4283"/>
                </a:cubicBezTo>
                <a:cubicBezTo>
                  <a:pt x="118" y="4280"/>
                  <a:pt x="108" y="4276"/>
                  <a:pt x="98" y="4271"/>
                </a:cubicBezTo>
                <a:cubicBezTo>
                  <a:pt x="88" y="4265"/>
                  <a:pt x="79" y="4259"/>
                  <a:pt x="71" y="4251"/>
                </a:cubicBezTo>
                <a:cubicBezTo>
                  <a:pt x="62" y="4243"/>
                  <a:pt x="54" y="4235"/>
                  <a:pt x="47" y="4225"/>
                </a:cubicBezTo>
                <a:cubicBezTo>
                  <a:pt x="39" y="4215"/>
                  <a:pt x="33" y="4204"/>
                  <a:pt x="27" y="4193"/>
                </a:cubicBezTo>
                <a:cubicBezTo>
                  <a:pt x="21" y="4181"/>
                  <a:pt x="16" y="4169"/>
                  <a:pt x="12" y="4156"/>
                </a:cubicBezTo>
                <a:cubicBezTo>
                  <a:pt x="8" y="4143"/>
                  <a:pt x="5" y="4130"/>
                  <a:pt x="3" y="4117"/>
                </a:cubicBezTo>
                <a:cubicBezTo>
                  <a:pt x="1" y="4103"/>
                  <a:pt x="0" y="4089"/>
                  <a:pt x="0" y="40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9" name="Free-form: Shape 398"/>
          <p:cNvSpPr/>
          <p:nvPr/>
        </p:nvSpPr>
        <p:spPr>
          <a:xfrm>
            <a:off x="177431" y="3048650"/>
            <a:ext cx="76680" cy="1543320"/>
          </a:xfrm>
          <a:custGeom>
            <a:avLst/>
            <a:gdLst/>
            <a:ahLst/>
            <a:cxnLst/>
            <a:rect l="0" t="0" r="r" b="b"/>
            <a:pathLst>
              <a:path w="213" h="4287">
                <a:moveTo>
                  <a:pt x="0" y="0"/>
                </a:moveTo>
                <a:lnTo>
                  <a:pt x="213" y="0"/>
                </a:lnTo>
                <a:lnTo>
                  <a:pt x="213" y="4287"/>
                </a:lnTo>
                <a:lnTo>
                  <a:pt x="0" y="4287"/>
                </a:lnTo>
                <a:lnTo>
                  <a:pt x="0" y="0"/>
                </a:ln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0" name="Free-form: Shape 399"/>
          <p:cNvSpPr/>
          <p:nvPr/>
        </p:nvSpPr>
        <p:spPr>
          <a:xfrm>
            <a:off x="288505" y="3064888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7"/>
                  <a:pt x="28" y="105"/>
                  <a:pt x="36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1"/>
                  <a:pt x="1101" y="4"/>
                </a:cubicBezTo>
                <a:cubicBezTo>
                  <a:pt x="1114" y="6"/>
                  <a:pt x="1128" y="10"/>
                  <a:pt x="1140" y="16"/>
                </a:cubicBezTo>
                <a:cubicBezTo>
                  <a:pt x="1153" y="21"/>
                  <a:pt x="1165" y="28"/>
                  <a:pt x="1177" y="35"/>
                </a:cubicBezTo>
                <a:cubicBezTo>
                  <a:pt x="1189" y="43"/>
                  <a:pt x="1199" y="52"/>
                  <a:pt x="1209" y="62"/>
                </a:cubicBezTo>
                <a:cubicBezTo>
                  <a:pt x="1219" y="71"/>
                  <a:pt x="1228" y="82"/>
                  <a:pt x="1235" y="94"/>
                </a:cubicBezTo>
                <a:cubicBezTo>
                  <a:pt x="1243" y="105"/>
                  <a:pt x="1250" y="117"/>
                  <a:pt x="1255" y="130"/>
                </a:cubicBezTo>
                <a:cubicBezTo>
                  <a:pt x="1260" y="143"/>
                  <a:pt x="1264" y="156"/>
                  <a:pt x="1267" y="170"/>
                </a:cubicBezTo>
                <a:cubicBezTo>
                  <a:pt x="1270" y="184"/>
                  <a:pt x="1271" y="197"/>
                  <a:pt x="1271" y="211"/>
                </a:cubicBezTo>
                <a:lnTo>
                  <a:pt x="1271" y="1059"/>
                </a:lnTo>
                <a:cubicBezTo>
                  <a:pt x="1271" y="1073"/>
                  <a:pt x="1270" y="1087"/>
                  <a:pt x="1267" y="1100"/>
                </a:cubicBezTo>
                <a:cubicBezTo>
                  <a:pt x="1264" y="1114"/>
                  <a:pt x="1260" y="1127"/>
                  <a:pt x="1255" y="1140"/>
                </a:cubicBezTo>
                <a:cubicBezTo>
                  <a:pt x="1250" y="1153"/>
                  <a:pt x="1243" y="1165"/>
                  <a:pt x="1235" y="1177"/>
                </a:cubicBezTo>
                <a:cubicBezTo>
                  <a:pt x="1228" y="1188"/>
                  <a:pt x="1219" y="1199"/>
                  <a:pt x="1209" y="1209"/>
                </a:cubicBezTo>
                <a:cubicBezTo>
                  <a:pt x="1199" y="1218"/>
                  <a:pt x="1189" y="1227"/>
                  <a:pt x="1177" y="1235"/>
                </a:cubicBezTo>
                <a:cubicBezTo>
                  <a:pt x="1165" y="1243"/>
                  <a:pt x="1153" y="1249"/>
                  <a:pt x="1140" y="1255"/>
                </a:cubicBezTo>
                <a:cubicBezTo>
                  <a:pt x="1128" y="1260"/>
                  <a:pt x="1114" y="1264"/>
                  <a:pt x="1101" y="1267"/>
                </a:cubicBezTo>
                <a:cubicBezTo>
                  <a:pt x="1087" y="1269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69"/>
                  <a:pt x="170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49"/>
                  <a:pt x="106" y="1243"/>
                  <a:pt x="94" y="1235"/>
                </a:cubicBezTo>
                <a:cubicBezTo>
                  <a:pt x="83" y="1227"/>
                  <a:pt x="72" y="1218"/>
                  <a:pt x="62" y="1209"/>
                </a:cubicBezTo>
                <a:cubicBezTo>
                  <a:pt x="52" y="1199"/>
                  <a:pt x="43" y="1188"/>
                  <a:pt x="36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1" y="1127"/>
                  <a:pt x="7" y="1114"/>
                  <a:pt x="4" y="1100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EEF1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1" name="TextBox 400"/>
          <p:cNvSpPr txBox="1"/>
          <p:nvPr/>
        </p:nvSpPr>
        <p:spPr>
          <a:xfrm>
            <a:off x="6934320" y="2153870"/>
            <a:ext cx="245580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inconsistent GEO annotations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470665" y="3189448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solidFill>
                  <a:srgbClr val="B8C5B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98345" y="3094408"/>
            <a:ext cx="221535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Adaptive Batch Correction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898345" y="3442888"/>
            <a:ext cx="48947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Tissue/region inference enabled appropriate use of ComBat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98345" y="3690208"/>
            <a:ext cx="511184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batch correction in the HD dataset, improving PCA separation</a:t>
            </a:r>
          </a:p>
        </p:txBody>
      </p:sp>
      <p:sp>
        <p:nvSpPr>
          <p:cNvPr id="406" name="Free-form: Shape 405"/>
          <p:cNvSpPr/>
          <p:nvPr/>
        </p:nvSpPr>
        <p:spPr>
          <a:xfrm>
            <a:off x="6229080" y="3057480"/>
            <a:ext cx="5420880" cy="1543320"/>
          </a:xfrm>
          <a:custGeom>
            <a:avLst/>
            <a:gdLst/>
            <a:ahLst/>
            <a:cxnLst/>
            <a:rect l="0" t="0" r="r" b="b"/>
            <a:pathLst>
              <a:path w="13521" h="4287">
                <a:moveTo>
                  <a:pt x="0" y="4075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7" y="94"/>
                </a:cubicBezTo>
                <a:cubicBezTo>
                  <a:pt x="33" y="82"/>
                  <a:pt x="39" y="71"/>
                  <a:pt x="47" y="62"/>
                </a:cubicBezTo>
                <a:cubicBezTo>
                  <a:pt x="54" y="52"/>
                  <a:pt x="62" y="43"/>
                  <a:pt x="71" y="35"/>
                </a:cubicBezTo>
                <a:cubicBezTo>
                  <a:pt x="79" y="28"/>
                  <a:pt x="89" y="21"/>
                  <a:pt x="98" y="16"/>
                </a:cubicBezTo>
                <a:cubicBezTo>
                  <a:pt x="108" y="10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1"/>
                  <a:pt x="13351" y="4"/>
                </a:cubicBezTo>
                <a:cubicBezTo>
                  <a:pt x="13365" y="6"/>
                  <a:pt x="13378" y="10"/>
                  <a:pt x="13391" y="16"/>
                </a:cubicBezTo>
                <a:cubicBezTo>
                  <a:pt x="13404" y="21"/>
                  <a:pt x="13416" y="28"/>
                  <a:pt x="13427" y="35"/>
                </a:cubicBezTo>
                <a:cubicBezTo>
                  <a:pt x="13439" y="43"/>
                  <a:pt x="13450" y="52"/>
                  <a:pt x="13459" y="62"/>
                </a:cubicBezTo>
                <a:cubicBezTo>
                  <a:pt x="13469" y="71"/>
                  <a:pt x="13478" y="82"/>
                  <a:pt x="13486" y="94"/>
                </a:cubicBezTo>
                <a:cubicBezTo>
                  <a:pt x="13494" y="105"/>
                  <a:pt x="13500" y="117"/>
                  <a:pt x="13505" y="130"/>
                </a:cubicBezTo>
                <a:cubicBezTo>
                  <a:pt x="13511" y="143"/>
                  <a:pt x="13515" y="156"/>
                  <a:pt x="13517" y="170"/>
                </a:cubicBezTo>
                <a:cubicBezTo>
                  <a:pt x="13520" y="184"/>
                  <a:pt x="13521" y="197"/>
                  <a:pt x="13521" y="211"/>
                </a:cubicBezTo>
                <a:lnTo>
                  <a:pt x="13521" y="4075"/>
                </a:lnTo>
                <a:cubicBezTo>
                  <a:pt x="13521" y="4089"/>
                  <a:pt x="13520" y="4103"/>
                  <a:pt x="13517" y="4117"/>
                </a:cubicBezTo>
                <a:cubicBezTo>
                  <a:pt x="13515" y="4130"/>
                  <a:pt x="13511" y="4143"/>
                  <a:pt x="13505" y="4156"/>
                </a:cubicBezTo>
                <a:cubicBezTo>
                  <a:pt x="13500" y="4169"/>
                  <a:pt x="13494" y="4181"/>
                  <a:pt x="13486" y="4193"/>
                </a:cubicBezTo>
                <a:cubicBezTo>
                  <a:pt x="13478" y="4204"/>
                  <a:pt x="13469" y="4215"/>
                  <a:pt x="13459" y="4225"/>
                </a:cubicBezTo>
                <a:cubicBezTo>
                  <a:pt x="13450" y="4235"/>
                  <a:pt x="13439" y="4243"/>
                  <a:pt x="13427" y="4251"/>
                </a:cubicBezTo>
                <a:cubicBezTo>
                  <a:pt x="13416" y="4259"/>
                  <a:pt x="13404" y="4265"/>
                  <a:pt x="13391" y="4271"/>
                </a:cubicBezTo>
                <a:cubicBezTo>
                  <a:pt x="13378" y="4276"/>
                  <a:pt x="13365" y="4280"/>
                  <a:pt x="13351" y="4283"/>
                </a:cubicBezTo>
                <a:cubicBezTo>
                  <a:pt x="13337" y="4286"/>
                  <a:pt x="13324" y="4287"/>
                  <a:pt x="13310" y="4287"/>
                </a:cubicBezTo>
                <a:lnTo>
                  <a:pt x="159" y="4287"/>
                </a:lnTo>
                <a:cubicBezTo>
                  <a:pt x="149" y="4287"/>
                  <a:pt x="138" y="4286"/>
                  <a:pt x="128" y="4283"/>
                </a:cubicBezTo>
                <a:cubicBezTo>
                  <a:pt x="118" y="4280"/>
                  <a:pt x="108" y="4276"/>
                  <a:pt x="98" y="4271"/>
                </a:cubicBezTo>
                <a:cubicBezTo>
                  <a:pt x="89" y="4265"/>
                  <a:pt x="79" y="4259"/>
                  <a:pt x="71" y="4251"/>
                </a:cubicBezTo>
                <a:cubicBezTo>
                  <a:pt x="62" y="4243"/>
                  <a:pt x="54" y="4235"/>
                  <a:pt x="47" y="4225"/>
                </a:cubicBezTo>
                <a:cubicBezTo>
                  <a:pt x="39" y="4215"/>
                  <a:pt x="33" y="4204"/>
                  <a:pt x="27" y="4193"/>
                </a:cubicBezTo>
                <a:cubicBezTo>
                  <a:pt x="21" y="4181"/>
                  <a:pt x="16" y="4169"/>
                  <a:pt x="12" y="4156"/>
                </a:cubicBezTo>
                <a:cubicBezTo>
                  <a:pt x="8" y="4143"/>
                  <a:pt x="5" y="4130"/>
                  <a:pt x="3" y="4117"/>
                </a:cubicBezTo>
                <a:cubicBezTo>
                  <a:pt x="1" y="4103"/>
                  <a:pt x="0" y="4089"/>
                  <a:pt x="0" y="40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7" name="Free-form: Shape 406"/>
          <p:cNvSpPr/>
          <p:nvPr/>
        </p:nvSpPr>
        <p:spPr>
          <a:xfrm>
            <a:off x="6210000" y="3057480"/>
            <a:ext cx="76680" cy="1543320"/>
          </a:xfrm>
          <a:custGeom>
            <a:avLst/>
            <a:gdLst/>
            <a:ahLst/>
            <a:cxnLst/>
            <a:rect l="0" t="0" r="r" b="b"/>
            <a:pathLst>
              <a:path w="213" h="4287">
                <a:moveTo>
                  <a:pt x="0" y="0"/>
                </a:moveTo>
                <a:lnTo>
                  <a:pt x="213" y="0"/>
                </a:lnTo>
                <a:lnTo>
                  <a:pt x="213" y="4287"/>
                </a:lnTo>
                <a:lnTo>
                  <a:pt x="0" y="4287"/>
                </a:lnTo>
                <a:lnTo>
                  <a:pt x="0" y="0"/>
                </a:lnTo>
                <a:close/>
              </a:path>
            </a:pathLst>
          </a:custGeom>
          <a:solidFill>
            <a:srgbClr val="2E5C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8" name="Free-form: Shape 407"/>
          <p:cNvSpPr/>
          <p:nvPr/>
        </p:nvSpPr>
        <p:spPr>
          <a:xfrm>
            <a:off x="6324480" y="3065304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1"/>
                </a:lnTo>
                <a:cubicBezTo>
                  <a:pt x="0" y="197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7"/>
                  <a:pt x="28" y="105"/>
                  <a:pt x="36" y="94"/>
                </a:cubicBezTo>
                <a:cubicBezTo>
                  <a:pt x="44" y="82"/>
                  <a:pt x="52" y="71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1"/>
                  <a:pt x="1101" y="4"/>
                </a:cubicBezTo>
                <a:cubicBezTo>
                  <a:pt x="1114" y="6"/>
                  <a:pt x="1128" y="10"/>
                  <a:pt x="1140" y="16"/>
                </a:cubicBezTo>
                <a:cubicBezTo>
                  <a:pt x="1153" y="21"/>
                  <a:pt x="1166" y="28"/>
                  <a:pt x="1177" y="35"/>
                </a:cubicBezTo>
                <a:cubicBezTo>
                  <a:pt x="1189" y="43"/>
                  <a:pt x="1199" y="52"/>
                  <a:pt x="1209" y="62"/>
                </a:cubicBezTo>
                <a:cubicBezTo>
                  <a:pt x="1219" y="71"/>
                  <a:pt x="1228" y="82"/>
                  <a:pt x="1235" y="94"/>
                </a:cubicBezTo>
                <a:cubicBezTo>
                  <a:pt x="1243" y="105"/>
                  <a:pt x="1250" y="117"/>
                  <a:pt x="1255" y="130"/>
                </a:cubicBezTo>
                <a:cubicBezTo>
                  <a:pt x="1260" y="143"/>
                  <a:pt x="1264" y="156"/>
                  <a:pt x="1267" y="170"/>
                </a:cubicBezTo>
                <a:cubicBezTo>
                  <a:pt x="1270" y="184"/>
                  <a:pt x="1271" y="197"/>
                  <a:pt x="1271" y="211"/>
                </a:cubicBezTo>
                <a:lnTo>
                  <a:pt x="1271" y="1059"/>
                </a:lnTo>
                <a:cubicBezTo>
                  <a:pt x="1271" y="1073"/>
                  <a:pt x="1270" y="1087"/>
                  <a:pt x="1267" y="1100"/>
                </a:cubicBezTo>
                <a:cubicBezTo>
                  <a:pt x="1264" y="1114"/>
                  <a:pt x="1260" y="1127"/>
                  <a:pt x="1255" y="1140"/>
                </a:cubicBezTo>
                <a:cubicBezTo>
                  <a:pt x="1250" y="1153"/>
                  <a:pt x="1243" y="1165"/>
                  <a:pt x="1235" y="1177"/>
                </a:cubicBezTo>
                <a:cubicBezTo>
                  <a:pt x="1228" y="1188"/>
                  <a:pt x="1219" y="1199"/>
                  <a:pt x="1209" y="1209"/>
                </a:cubicBezTo>
                <a:cubicBezTo>
                  <a:pt x="1199" y="1218"/>
                  <a:pt x="1189" y="1227"/>
                  <a:pt x="1177" y="1235"/>
                </a:cubicBezTo>
                <a:cubicBezTo>
                  <a:pt x="1166" y="1243"/>
                  <a:pt x="1153" y="1249"/>
                  <a:pt x="1140" y="1255"/>
                </a:cubicBezTo>
                <a:cubicBezTo>
                  <a:pt x="1128" y="1260"/>
                  <a:pt x="1114" y="1264"/>
                  <a:pt x="1101" y="1267"/>
                </a:cubicBezTo>
                <a:cubicBezTo>
                  <a:pt x="1087" y="1269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69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49"/>
                  <a:pt x="106" y="1243"/>
                  <a:pt x="94" y="1235"/>
                </a:cubicBezTo>
                <a:cubicBezTo>
                  <a:pt x="83" y="1227"/>
                  <a:pt x="72" y="1218"/>
                  <a:pt x="62" y="1209"/>
                </a:cubicBezTo>
                <a:cubicBezTo>
                  <a:pt x="52" y="1199"/>
                  <a:pt x="44" y="1188"/>
                  <a:pt x="36" y="1177"/>
                </a:cubicBezTo>
                <a:cubicBezTo>
                  <a:pt x="28" y="1165"/>
                  <a:pt x="22" y="1153"/>
                  <a:pt x="16" y="1140"/>
                </a:cubicBezTo>
                <a:cubicBezTo>
                  <a:pt x="11" y="1127"/>
                  <a:pt x="7" y="1114"/>
                  <a:pt x="4" y="1100"/>
                </a:cubicBezTo>
                <a:cubicBezTo>
                  <a:pt x="2" y="1087"/>
                  <a:pt x="0" y="1073"/>
                  <a:pt x="0" y="1059"/>
                </a:cubicBezTo>
                <a:close/>
              </a:path>
            </a:pathLst>
          </a:custGeom>
          <a:solidFill>
            <a:srgbClr val="E3EA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9" name="TextBox 408"/>
          <p:cNvSpPr txBox="1"/>
          <p:nvPr/>
        </p:nvSpPr>
        <p:spPr>
          <a:xfrm>
            <a:off x="898345" y="3937888"/>
            <a:ext cx="171521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and biological signal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6501960" y="3189864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solidFill>
                  <a:srgbClr val="2E5C8A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4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6934320" y="3094824"/>
            <a:ext cx="274915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Robust QC &amp; DEG Generation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6934320" y="3443304"/>
            <a:ext cx="4653518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Expression preprocessing (log2 + dual-rule filtering)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</a:t>
            </a:r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roduced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stable matrices, and </a:t>
            </a:r>
            <a:r>
              <a:rPr lang="en-US" sz="1600" dirty="0" err="1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limma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analysis generated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biologically meaningful DEGs for both diseases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181160" y="4926466"/>
            <a:ext cx="9797041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Overall: The pipeline demonstrated adaptive, decision-based processing with consistent QC and precise contrasts after </a:t>
            </a:r>
          </a:p>
          <a:p>
            <a:pPr algn="ctr"/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adjusting for 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batch/tissue effects where relevant</a:t>
            </a:r>
          </a:p>
          <a:p>
            <a:pPr algn="ctr"/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6" name="Free-form: Shape 415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11498040" y="60832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Free-form: Shape 4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2" name="Free-form: Shape 421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3" name="Free-form: Shape 422"/>
          <p:cNvSpPr/>
          <p:nvPr/>
        </p:nvSpPr>
        <p:spPr>
          <a:xfrm>
            <a:off x="1095120" y="4829040"/>
            <a:ext cx="10001520" cy="943200"/>
          </a:xfrm>
          <a:custGeom>
            <a:avLst/>
            <a:gdLst/>
            <a:ahLst/>
            <a:cxnLst/>
            <a:rect l="0" t="0" r="r" b="b"/>
            <a:pathLst>
              <a:path w="27782" h="2620">
                <a:moveTo>
                  <a:pt x="0" y="2303"/>
                </a:moveTo>
                <a:lnTo>
                  <a:pt x="0" y="317"/>
                </a:lnTo>
                <a:cubicBezTo>
                  <a:pt x="0" y="297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8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27465" y="0"/>
                </a:lnTo>
                <a:cubicBezTo>
                  <a:pt x="27486" y="0"/>
                  <a:pt x="27506" y="2"/>
                  <a:pt x="27527" y="6"/>
                </a:cubicBezTo>
                <a:cubicBezTo>
                  <a:pt x="27547" y="10"/>
                  <a:pt x="27567" y="16"/>
                  <a:pt x="27586" y="24"/>
                </a:cubicBezTo>
                <a:cubicBezTo>
                  <a:pt x="27606" y="32"/>
                  <a:pt x="27624" y="42"/>
                  <a:pt x="27641" y="53"/>
                </a:cubicBezTo>
                <a:cubicBezTo>
                  <a:pt x="27659" y="65"/>
                  <a:pt x="27675" y="78"/>
                  <a:pt x="27689" y="93"/>
                </a:cubicBezTo>
                <a:cubicBezTo>
                  <a:pt x="27704" y="108"/>
                  <a:pt x="27717" y="124"/>
                  <a:pt x="27729" y="141"/>
                </a:cubicBezTo>
                <a:cubicBezTo>
                  <a:pt x="27741" y="158"/>
                  <a:pt x="27750" y="177"/>
                  <a:pt x="27758" y="196"/>
                </a:cubicBezTo>
                <a:cubicBezTo>
                  <a:pt x="27766" y="215"/>
                  <a:pt x="27772" y="235"/>
                  <a:pt x="27776" y="255"/>
                </a:cubicBezTo>
                <a:cubicBezTo>
                  <a:pt x="27780" y="276"/>
                  <a:pt x="27782" y="297"/>
                  <a:pt x="27782" y="317"/>
                </a:cubicBezTo>
                <a:lnTo>
                  <a:pt x="27782" y="2303"/>
                </a:lnTo>
                <a:cubicBezTo>
                  <a:pt x="27782" y="2324"/>
                  <a:pt x="27780" y="2344"/>
                  <a:pt x="27776" y="2365"/>
                </a:cubicBezTo>
                <a:cubicBezTo>
                  <a:pt x="27772" y="2385"/>
                  <a:pt x="27766" y="2405"/>
                  <a:pt x="27758" y="2424"/>
                </a:cubicBezTo>
                <a:cubicBezTo>
                  <a:pt x="27750" y="2444"/>
                  <a:pt x="27741" y="2462"/>
                  <a:pt x="27729" y="2479"/>
                </a:cubicBezTo>
                <a:cubicBezTo>
                  <a:pt x="27717" y="2496"/>
                  <a:pt x="27704" y="2513"/>
                  <a:pt x="27689" y="2527"/>
                </a:cubicBezTo>
                <a:cubicBezTo>
                  <a:pt x="27675" y="2542"/>
                  <a:pt x="27659" y="2555"/>
                  <a:pt x="27641" y="2567"/>
                </a:cubicBezTo>
                <a:cubicBezTo>
                  <a:pt x="27624" y="2578"/>
                  <a:pt x="27606" y="2588"/>
                  <a:pt x="27586" y="2596"/>
                </a:cubicBezTo>
                <a:cubicBezTo>
                  <a:pt x="27567" y="2604"/>
                  <a:pt x="27547" y="2610"/>
                  <a:pt x="27527" y="2614"/>
                </a:cubicBezTo>
                <a:cubicBezTo>
                  <a:pt x="27506" y="2618"/>
                  <a:pt x="27486" y="2620"/>
                  <a:pt x="27465" y="2620"/>
                </a:cubicBezTo>
                <a:lnTo>
                  <a:pt x="318" y="2620"/>
                </a:lnTo>
                <a:cubicBezTo>
                  <a:pt x="297" y="2620"/>
                  <a:pt x="276" y="2618"/>
                  <a:pt x="256" y="2614"/>
                </a:cubicBezTo>
                <a:cubicBezTo>
                  <a:pt x="235" y="2610"/>
                  <a:pt x="215" y="2604"/>
                  <a:pt x="196" y="2596"/>
                </a:cubicBezTo>
                <a:cubicBezTo>
                  <a:pt x="177" y="2588"/>
                  <a:pt x="159" y="2578"/>
                  <a:pt x="141" y="2567"/>
                </a:cubicBezTo>
                <a:cubicBezTo>
                  <a:pt x="124" y="2555"/>
                  <a:pt x="108" y="2542"/>
                  <a:pt x="93" y="2527"/>
                </a:cubicBezTo>
                <a:cubicBezTo>
                  <a:pt x="78" y="2513"/>
                  <a:pt x="65" y="2496"/>
                  <a:pt x="54" y="2479"/>
                </a:cubicBezTo>
                <a:cubicBezTo>
                  <a:pt x="42" y="2462"/>
                  <a:pt x="32" y="2444"/>
                  <a:pt x="24" y="2424"/>
                </a:cubicBezTo>
                <a:cubicBezTo>
                  <a:pt x="16" y="2405"/>
                  <a:pt x="10" y="2385"/>
                  <a:pt x="6" y="2365"/>
                </a:cubicBezTo>
                <a:cubicBezTo>
                  <a:pt x="2" y="2344"/>
                  <a:pt x="0" y="2324"/>
                  <a:pt x="0" y="2303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4" name="Free-form: Shape 423"/>
          <p:cNvSpPr/>
          <p:nvPr/>
        </p:nvSpPr>
        <p:spPr>
          <a:xfrm>
            <a:off x="243068" y="1285560"/>
            <a:ext cx="5738692" cy="1543680"/>
          </a:xfrm>
          <a:custGeom>
            <a:avLst/>
            <a:gdLst/>
            <a:ahLst/>
            <a:cxnLst/>
            <a:rect l="0" t="0" r="r" b="b"/>
            <a:pathLst>
              <a:path w="13521" h="4288">
                <a:moveTo>
                  <a:pt x="0" y="4076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2" y="131"/>
                </a:cubicBezTo>
                <a:cubicBezTo>
                  <a:pt x="16" y="118"/>
                  <a:pt x="21" y="106"/>
                  <a:pt x="27" y="94"/>
                </a:cubicBezTo>
                <a:cubicBezTo>
                  <a:pt x="33" y="83"/>
                  <a:pt x="39" y="72"/>
                  <a:pt x="47" y="62"/>
                </a:cubicBezTo>
                <a:cubicBezTo>
                  <a:pt x="54" y="53"/>
                  <a:pt x="62" y="44"/>
                  <a:pt x="71" y="36"/>
                </a:cubicBezTo>
                <a:cubicBezTo>
                  <a:pt x="79" y="28"/>
                  <a:pt x="88" y="22"/>
                  <a:pt x="98" y="16"/>
                </a:cubicBezTo>
                <a:cubicBezTo>
                  <a:pt x="108" y="11"/>
                  <a:pt x="118" y="7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2"/>
                  <a:pt x="13351" y="4"/>
                </a:cubicBezTo>
                <a:cubicBezTo>
                  <a:pt x="13365" y="7"/>
                  <a:pt x="13378" y="11"/>
                  <a:pt x="13391" y="16"/>
                </a:cubicBezTo>
                <a:cubicBezTo>
                  <a:pt x="13404" y="22"/>
                  <a:pt x="13416" y="28"/>
                  <a:pt x="13427" y="36"/>
                </a:cubicBezTo>
                <a:cubicBezTo>
                  <a:pt x="13439" y="44"/>
                  <a:pt x="13450" y="53"/>
                  <a:pt x="13459" y="62"/>
                </a:cubicBezTo>
                <a:cubicBezTo>
                  <a:pt x="13469" y="72"/>
                  <a:pt x="13478" y="83"/>
                  <a:pt x="13486" y="94"/>
                </a:cubicBezTo>
                <a:cubicBezTo>
                  <a:pt x="13493" y="106"/>
                  <a:pt x="13500" y="118"/>
                  <a:pt x="13505" y="131"/>
                </a:cubicBezTo>
                <a:cubicBezTo>
                  <a:pt x="13511" y="144"/>
                  <a:pt x="13515" y="157"/>
                  <a:pt x="13517" y="171"/>
                </a:cubicBezTo>
                <a:cubicBezTo>
                  <a:pt x="13520" y="184"/>
                  <a:pt x="13521" y="198"/>
                  <a:pt x="13521" y="212"/>
                </a:cubicBezTo>
                <a:lnTo>
                  <a:pt x="13521" y="4076"/>
                </a:lnTo>
                <a:cubicBezTo>
                  <a:pt x="13521" y="4090"/>
                  <a:pt x="13520" y="4104"/>
                  <a:pt x="13517" y="4117"/>
                </a:cubicBezTo>
                <a:cubicBezTo>
                  <a:pt x="13515" y="4131"/>
                  <a:pt x="13511" y="4144"/>
                  <a:pt x="13505" y="4157"/>
                </a:cubicBezTo>
                <a:cubicBezTo>
                  <a:pt x="13500" y="4170"/>
                  <a:pt x="13493" y="4182"/>
                  <a:pt x="13486" y="4194"/>
                </a:cubicBezTo>
                <a:cubicBezTo>
                  <a:pt x="13478" y="4205"/>
                  <a:pt x="13469" y="4216"/>
                  <a:pt x="13459" y="4226"/>
                </a:cubicBezTo>
                <a:cubicBezTo>
                  <a:pt x="13450" y="4235"/>
                  <a:pt x="13439" y="4244"/>
                  <a:pt x="13427" y="4252"/>
                </a:cubicBezTo>
                <a:cubicBezTo>
                  <a:pt x="13416" y="4260"/>
                  <a:pt x="13404" y="4266"/>
                  <a:pt x="13391" y="4272"/>
                </a:cubicBezTo>
                <a:cubicBezTo>
                  <a:pt x="13378" y="4277"/>
                  <a:pt x="13365" y="4281"/>
                  <a:pt x="13351" y="4284"/>
                </a:cubicBezTo>
                <a:cubicBezTo>
                  <a:pt x="13337" y="4286"/>
                  <a:pt x="13324" y="4288"/>
                  <a:pt x="13310" y="4288"/>
                </a:cubicBezTo>
                <a:lnTo>
                  <a:pt x="159" y="4288"/>
                </a:lnTo>
                <a:cubicBezTo>
                  <a:pt x="148" y="4288"/>
                  <a:pt x="138" y="4286"/>
                  <a:pt x="128" y="4284"/>
                </a:cubicBezTo>
                <a:cubicBezTo>
                  <a:pt x="118" y="4281"/>
                  <a:pt x="108" y="4277"/>
                  <a:pt x="98" y="4272"/>
                </a:cubicBezTo>
                <a:cubicBezTo>
                  <a:pt x="88" y="4266"/>
                  <a:pt x="79" y="4260"/>
                  <a:pt x="71" y="4252"/>
                </a:cubicBezTo>
                <a:cubicBezTo>
                  <a:pt x="62" y="4244"/>
                  <a:pt x="54" y="4235"/>
                  <a:pt x="47" y="4226"/>
                </a:cubicBezTo>
                <a:cubicBezTo>
                  <a:pt x="39" y="4216"/>
                  <a:pt x="33" y="4205"/>
                  <a:pt x="27" y="4194"/>
                </a:cubicBezTo>
                <a:cubicBezTo>
                  <a:pt x="21" y="4182"/>
                  <a:pt x="16" y="4170"/>
                  <a:pt x="12" y="4157"/>
                </a:cubicBezTo>
                <a:cubicBezTo>
                  <a:pt x="8" y="4144"/>
                  <a:pt x="5" y="4131"/>
                  <a:pt x="3" y="4117"/>
                </a:cubicBezTo>
                <a:cubicBezTo>
                  <a:pt x="1" y="4104"/>
                  <a:pt x="0" y="4090"/>
                  <a:pt x="0" y="40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5" name="Free-form: Shape 424"/>
          <p:cNvSpPr/>
          <p:nvPr/>
        </p:nvSpPr>
        <p:spPr>
          <a:xfrm>
            <a:off x="261739" y="1285560"/>
            <a:ext cx="76680" cy="1543680"/>
          </a:xfrm>
          <a:custGeom>
            <a:avLst/>
            <a:gdLst/>
            <a:ahLst/>
            <a:cxnLst/>
            <a:rect l="0" t="0" r="r" b="b"/>
            <a:pathLst>
              <a:path w="213" h="4288">
                <a:moveTo>
                  <a:pt x="0" y="0"/>
                </a:moveTo>
                <a:lnTo>
                  <a:pt x="213" y="0"/>
                </a:lnTo>
                <a:lnTo>
                  <a:pt x="213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6" name="Free-form: Shape 425"/>
          <p:cNvSpPr/>
          <p:nvPr/>
        </p:nvSpPr>
        <p:spPr>
          <a:xfrm>
            <a:off x="371160" y="128250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60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2"/>
                  <a:pt x="1101" y="4"/>
                </a:cubicBezTo>
                <a:cubicBezTo>
                  <a:pt x="1114" y="7"/>
                  <a:pt x="1128" y="11"/>
                  <a:pt x="1140" y="16"/>
                </a:cubicBezTo>
                <a:cubicBezTo>
                  <a:pt x="1153" y="22"/>
                  <a:pt x="1165" y="28"/>
                  <a:pt x="1177" y="36"/>
                </a:cubicBezTo>
                <a:cubicBezTo>
                  <a:pt x="1189" y="44"/>
                  <a:pt x="1199" y="53"/>
                  <a:pt x="1209" y="62"/>
                </a:cubicBezTo>
                <a:cubicBezTo>
                  <a:pt x="1219" y="72"/>
                  <a:pt x="1228" y="83"/>
                  <a:pt x="1235" y="94"/>
                </a:cubicBezTo>
                <a:cubicBezTo>
                  <a:pt x="1243" y="106"/>
                  <a:pt x="1250" y="118"/>
                  <a:pt x="1255" y="131"/>
                </a:cubicBezTo>
                <a:cubicBezTo>
                  <a:pt x="1260" y="144"/>
                  <a:pt x="1264" y="157"/>
                  <a:pt x="1267" y="171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60"/>
                </a:lnTo>
                <a:cubicBezTo>
                  <a:pt x="1271" y="1074"/>
                  <a:pt x="1270" y="1087"/>
                  <a:pt x="1267" y="1101"/>
                </a:cubicBezTo>
                <a:cubicBezTo>
                  <a:pt x="1264" y="1115"/>
                  <a:pt x="1260" y="1128"/>
                  <a:pt x="1255" y="1141"/>
                </a:cubicBezTo>
                <a:cubicBezTo>
                  <a:pt x="1250" y="1154"/>
                  <a:pt x="1243" y="1166"/>
                  <a:pt x="1235" y="1177"/>
                </a:cubicBezTo>
                <a:cubicBezTo>
                  <a:pt x="1228" y="1189"/>
                  <a:pt x="1219" y="1200"/>
                  <a:pt x="1209" y="1209"/>
                </a:cubicBezTo>
                <a:cubicBezTo>
                  <a:pt x="1199" y="1219"/>
                  <a:pt x="1189" y="1228"/>
                  <a:pt x="1177" y="1236"/>
                </a:cubicBezTo>
                <a:cubicBezTo>
                  <a:pt x="1165" y="1243"/>
                  <a:pt x="1153" y="1250"/>
                  <a:pt x="1140" y="1255"/>
                </a:cubicBezTo>
                <a:cubicBezTo>
                  <a:pt x="1128" y="1261"/>
                  <a:pt x="1114" y="1265"/>
                  <a:pt x="1101" y="1267"/>
                </a:cubicBezTo>
                <a:cubicBezTo>
                  <a:pt x="1087" y="1270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0" y="1267"/>
                </a:cubicBezTo>
                <a:cubicBezTo>
                  <a:pt x="157" y="1265"/>
                  <a:pt x="144" y="1261"/>
                  <a:pt x="131" y="1255"/>
                </a:cubicBezTo>
                <a:cubicBezTo>
                  <a:pt x="118" y="1250"/>
                  <a:pt x="106" y="1243"/>
                  <a:pt x="94" y="1236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2" y="1200"/>
                  <a:pt x="43" y="1189"/>
                  <a:pt x="36" y="1177"/>
                </a:cubicBezTo>
                <a:cubicBezTo>
                  <a:pt x="28" y="1166"/>
                  <a:pt x="21" y="1154"/>
                  <a:pt x="16" y="1141"/>
                </a:cubicBezTo>
                <a:cubicBezTo>
                  <a:pt x="11" y="1128"/>
                  <a:pt x="7" y="1115"/>
                  <a:pt x="4" y="1101"/>
                </a:cubicBezTo>
                <a:cubicBezTo>
                  <a:pt x="1" y="1087"/>
                  <a:pt x="0" y="1074"/>
                  <a:pt x="0" y="1060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571320" y="569160"/>
            <a:ext cx="5899051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Discussion - Cross-Disease Insights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564120" y="140742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81000" y="1312020"/>
            <a:ext cx="298056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Shared Stress-Response Pathways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81000" y="1660500"/>
            <a:ext cx="470481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Cross-disease integration identified shared, opposite, and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81000" y="1908180"/>
            <a:ext cx="440646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unique DEGs between HD and lung cancer, revealing</a:t>
            </a:r>
          </a:p>
        </p:txBody>
      </p:sp>
      <p:sp>
        <p:nvSpPr>
          <p:cNvPr id="432" name="Free-form: Shape 431"/>
          <p:cNvSpPr/>
          <p:nvPr/>
        </p:nvSpPr>
        <p:spPr>
          <a:xfrm>
            <a:off x="6229079" y="1285560"/>
            <a:ext cx="5591761" cy="1543680"/>
          </a:xfrm>
          <a:custGeom>
            <a:avLst/>
            <a:gdLst/>
            <a:ahLst/>
            <a:cxnLst/>
            <a:rect l="0" t="0" r="r" b="b"/>
            <a:pathLst>
              <a:path w="13521" h="4288">
                <a:moveTo>
                  <a:pt x="0" y="4076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2" y="131"/>
                </a:cubicBezTo>
                <a:cubicBezTo>
                  <a:pt x="16" y="118"/>
                  <a:pt x="21" y="106"/>
                  <a:pt x="27" y="94"/>
                </a:cubicBezTo>
                <a:cubicBezTo>
                  <a:pt x="33" y="83"/>
                  <a:pt x="39" y="72"/>
                  <a:pt x="47" y="62"/>
                </a:cubicBezTo>
                <a:cubicBezTo>
                  <a:pt x="54" y="53"/>
                  <a:pt x="62" y="44"/>
                  <a:pt x="71" y="36"/>
                </a:cubicBezTo>
                <a:cubicBezTo>
                  <a:pt x="79" y="28"/>
                  <a:pt x="89" y="22"/>
                  <a:pt x="98" y="16"/>
                </a:cubicBezTo>
                <a:cubicBezTo>
                  <a:pt x="108" y="11"/>
                  <a:pt x="118" y="7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2"/>
                  <a:pt x="13351" y="4"/>
                </a:cubicBezTo>
                <a:cubicBezTo>
                  <a:pt x="13365" y="7"/>
                  <a:pt x="13378" y="11"/>
                  <a:pt x="13391" y="16"/>
                </a:cubicBezTo>
                <a:cubicBezTo>
                  <a:pt x="13404" y="22"/>
                  <a:pt x="13416" y="28"/>
                  <a:pt x="13427" y="36"/>
                </a:cubicBezTo>
                <a:cubicBezTo>
                  <a:pt x="13439" y="44"/>
                  <a:pt x="13450" y="53"/>
                  <a:pt x="13459" y="62"/>
                </a:cubicBezTo>
                <a:cubicBezTo>
                  <a:pt x="13469" y="72"/>
                  <a:pt x="13478" y="83"/>
                  <a:pt x="13486" y="94"/>
                </a:cubicBezTo>
                <a:cubicBezTo>
                  <a:pt x="13494" y="106"/>
                  <a:pt x="13500" y="118"/>
                  <a:pt x="13505" y="131"/>
                </a:cubicBezTo>
                <a:cubicBezTo>
                  <a:pt x="13511" y="144"/>
                  <a:pt x="13515" y="157"/>
                  <a:pt x="13517" y="171"/>
                </a:cubicBezTo>
                <a:cubicBezTo>
                  <a:pt x="13520" y="184"/>
                  <a:pt x="13521" y="198"/>
                  <a:pt x="13521" y="212"/>
                </a:cubicBezTo>
                <a:lnTo>
                  <a:pt x="13521" y="4076"/>
                </a:lnTo>
                <a:cubicBezTo>
                  <a:pt x="13521" y="4090"/>
                  <a:pt x="13520" y="4104"/>
                  <a:pt x="13517" y="4117"/>
                </a:cubicBezTo>
                <a:cubicBezTo>
                  <a:pt x="13515" y="4131"/>
                  <a:pt x="13511" y="4144"/>
                  <a:pt x="13505" y="4157"/>
                </a:cubicBezTo>
                <a:cubicBezTo>
                  <a:pt x="13500" y="4170"/>
                  <a:pt x="13494" y="4182"/>
                  <a:pt x="13486" y="4194"/>
                </a:cubicBezTo>
                <a:cubicBezTo>
                  <a:pt x="13478" y="4205"/>
                  <a:pt x="13469" y="4216"/>
                  <a:pt x="13459" y="4226"/>
                </a:cubicBezTo>
                <a:cubicBezTo>
                  <a:pt x="13450" y="4235"/>
                  <a:pt x="13439" y="4244"/>
                  <a:pt x="13427" y="4252"/>
                </a:cubicBezTo>
                <a:cubicBezTo>
                  <a:pt x="13416" y="4260"/>
                  <a:pt x="13404" y="4266"/>
                  <a:pt x="13391" y="4272"/>
                </a:cubicBezTo>
                <a:cubicBezTo>
                  <a:pt x="13378" y="4277"/>
                  <a:pt x="13365" y="4281"/>
                  <a:pt x="13351" y="4284"/>
                </a:cubicBezTo>
                <a:cubicBezTo>
                  <a:pt x="13337" y="4286"/>
                  <a:pt x="13324" y="4288"/>
                  <a:pt x="13310" y="4288"/>
                </a:cubicBezTo>
                <a:lnTo>
                  <a:pt x="159" y="4288"/>
                </a:lnTo>
                <a:cubicBezTo>
                  <a:pt x="149" y="4288"/>
                  <a:pt x="138" y="4286"/>
                  <a:pt x="128" y="4284"/>
                </a:cubicBezTo>
                <a:cubicBezTo>
                  <a:pt x="118" y="4281"/>
                  <a:pt x="108" y="4277"/>
                  <a:pt x="98" y="4272"/>
                </a:cubicBezTo>
                <a:cubicBezTo>
                  <a:pt x="89" y="4266"/>
                  <a:pt x="79" y="4260"/>
                  <a:pt x="71" y="4252"/>
                </a:cubicBezTo>
                <a:cubicBezTo>
                  <a:pt x="62" y="4244"/>
                  <a:pt x="54" y="4235"/>
                  <a:pt x="47" y="4226"/>
                </a:cubicBezTo>
                <a:cubicBezTo>
                  <a:pt x="39" y="4216"/>
                  <a:pt x="33" y="4205"/>
                  <a:pt x="27" y="4194"/>
                </a:cubicBezTo>
                <a:cubicBezTo>
                  <a:pt x="21" y="4182"/>
                  <a:pt x="16" y="4170"/>
                  <a:pt x="12" y="4157"/>
                </a:cubicBezTo>
                <a:cubicBezTo>
                  <a:pt x="8" y="4144"/>
                  <a:pt x="5" y="4131"/>
                  <a:pt x="3" y="4117"/>
                </a:cubicBezTo>
                <a:cubicBezTo>
                  <a:pt x="1" y="4104"/>
                  <a:pt x="0" y="4090"/>
                  <a:pt x="0" y="40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3" name="Free-form: Shape 432"/>
          <p:cNvSpPr/>
          <p:nvPr/>
        </p:nvSpPr>
        <p:spPr>
          <a:xfrm>
            <a:off x="6210000" y="1285560"/>
            <a:ext cx="76680" cy="1543680"/>
          </a:xfrm>
          <a:custGeom>
            <a:avLst/>
            <a:gdLst/>
            <a:ahLst/>
            <a:cxnLst/>
            <a:rect l="0" t="0" r="r" b="b"/>
            <a:pathLst>
              <a:path w="213" h="4288">
                <a:moveTo>
                  <a:pt x="0" y="0"/>
                </a:moveTo>
                <a:lnTo>
                  <a:pt x="213" y="0"/>
                </a:lnTo>
                <a:lnTo>
                  <a:pt x="213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4" name="Free-form: Shape 433"/>
          <p:cNvSpPr/>
          <p:nvPr/>
        </p:nvSpPr>
        <p:spPr>
          <a:xfrm>
            <a:off x="6328393" y="1281041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60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2"/>
                  <a:pt x="1101" y="4"/>
                </a:cubicBezTo>
                <a:cubicBezTo>
                  <a:pt x="1114" y="7"/>
                  <a:pt x="1128" y="11"/>
                  <a:pt x="1140" y="16"/>
                </a:cubicBezTo>
                <a:cubicBezTo>
                  <a:pt x="1153" y="22"/>
                  <a:pt x="1166" y="28"/>
                  <a:pt x="1177" y="36"/>
                </a:cubicBezTo>
                <a:cubicBezTo>
                  <a:pt x="1189" y="44"/>
                  <a:pt x="1199" y="53"/>
                  <a:pt x="1209" y="62"/>
                </a:cubicBezTo>
                <a:cubicBezTo>
                  <a:pt x="1219" y="72"/>
                  <a:pt x="1228" y="83"/>
                  <a:pt x="1235" y="94"/>
                </a:cubicBezTo>
                <a:cubicBezTo>
                  <a:pt x="1243" y="106"/>
                  <a:pt x="1250" y="118"/>
                  <a:pt x="1255" y="131"/>
                </a:cubicBezTo>
                <a:cubicBezTo>
                  <a:pt x="1260" y="144"/>
                  <a:pt x="1264" y="157"/>
                  <a:pt x="1267" y="171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60"/>
                </a:lnTo>
                <a:cubicBezTo>
                  <a:pt x="1271" y="1074"/>
                  <a:pt x="1270" y="1087"/>
                  <a:pt x="1267" y="1101"/>
                </a:cubicBezTo>
                <a:cubicBezTo>
                  <a:pt x="1264" y="1115"/>
                  <a:pt x="1260" y="1128"/>
                  <a:pt x="1255" y="1141"/>
                </a:cubicBezTo>
                <a:cubicBezTo>
                  <a:pt x="1250" y="1154"/>
                  <a:pt x="1243" y="1166"/>
                  <a:pt x="1235" y="1177"/>
                </a:cubicBezTo>
                <a:cubicBezTo>
                  <a:pt x="1228" y="1189"/>
                  <a:pt x="1219" y="1200"/>
                  <a:pt x="1209" y="1209"/>
                </a:cubicBezTo>
                <a:cubicBezTo>
                  <a:pt x="1199" y="1219"/>
                  <a:pt x="1189" y="1228"/>
                  <a:pt x="1177" y="1236"/>
                </a:cubicBezTo>
                <a:cubicBezTo>
                  <a:pt x="1166" y="1243"/>
                  <a:pt x="1153" y="1250"/>
                  <a:pt x="1140" y="1255"/>
                </a:cubicBezTo>
                <a:cubicBezTo>
                  <a:pt x="1128" y="1261"/>
                  <a:pt x="1114" y="1265"/>
                  <a:pt x="1101" y="1267"/>
                </a:cubicBezTo>
                <a:cubicBezTo>
                  <a:pt x="1087" y="1270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70"/>
                  <a:pt x="171" y="1267"/>
                </a:cubicBezTo>
                <a:cubicBezTo>
                  <a:pt x="157" y="1265"/>
                  <a:pt x="144" y="1261"/>
                  <a:pt x="131" y="1255"/>
                </a:cubicBezTo>
                <a:cubicBezTo>
                  <a:pt x="118" y="1250"/>
                  <a:pt x="106" y="1243"/>
                  <a:pt x="94" y="1236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2" y="1200"/>
                  <a:pt x="44" y="1189"/>
                  <a:pt x="36" y="1177"/>
                </a:cubicBezTo>
                <a:cubicBezTo>
                  <a:pt x="28" y="1166"/>
                  <a:pt x="22" y="1154"/>
                  <a:pt x="16" y="1141"/>
                </a:cubicBezTo>
                <a:cubicBezTo>
                  <a:pt x="11" y="1128"/>
                  <a:pt x="7" y="1115"/>
                  <a:pt x="4" y="1101"/>
                </a:cubicBezTo>
                <a:cubicBezTo>
                  <a:pt x="2" y="1087"/>
                  <a:pt x="0" y="1074"/>
                  <a:pt x="0" y="1060"/>
                </a:cubicBezTo>
                <a:close/>
              </a:path>
            </a:pathLst>
          </a:custGeom>
          <a:solidFill>
            <a:srgbClr val="E8F1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5" name="TextBox 434"/>
          <p:cNvSpPr txBox="1"/>
          <p:nvPr/>
        </p:nvSpPr>
        <p:spPr>
          <a:xfrm>
            <a:off x="981000" y="2155860"/>
            <a:ext cx="432009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overlapping stress-response and metabolic pathways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6508393" y="1405961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6938233" y="1310561"/>
            <a:ext cx="274100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Validated Biological Signatures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6938233" y="1659041"/>
            <a:ext cx="4331314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GO/KEGG enrichment confirmed known biological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signatures: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neurodegeneration-related pathways in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HD and immune/proliferation pathways in cancer</a:t>
            </a:r>
          </a:p>
        </p:txBody>
      </p:sp>
      <p:sp>
        <p:nvSpPr>
          <p:cNvPr id="440" name="Free-form: Shape 439"/>
          <p:cNvSpPr/>
          <p:nvPr/>
        </p:nvSpPr>
        <p:spPr>
          <a:xfrm>
            <a:off x="243068" y="3057480"/>
            <a:ext cx="5738692" cy="1543320"/>
          </a:xfrm>
          <a:custGeom>
            <a:avLst/>
            <a:gdLst/>
            <a:ahLst/>
            <a:cxnLst/>
            <a:rect l="0" t="0" r="r" b="b"/>
            <a:pathLst>
              <a:path w="13521" h="4287">
                <a:moveTo>
                  <a:pt x="0" y="4075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7" y="94"/>
                </a:cubicBezTo>
                <a:cubicBezTo>
                  <a:pt x="33" y="82"/>
                  <a:pt x="39" y="71"/>
                  <a:pt x="47" y="62"/>
                </a:cubicBezTo>
                <a:cubicBezTo>
                  <a:pt x="54" y="52"/>
                  <a:pt x="62" y="43"/>
                  <a:pt x="71" y="35"/>
                </a:cubicBezTo>
                <a:cubicBezTo>
                  <a:pt x="79" y="28"/>
                  <a:pt x="88" y="21"/>
                  <a:pt x="98" y="16"/>
                </a:cubicBezTo>
                <a:cubicBezTo>
                  <a:pt x="108" y="10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1"/>
                  <a:pt x="13351" y="4"/>
                </a:cubicBezTo>
                <a:cubicBezTo>
                  <a:pt x="13365" y="6"/>
                  <a:pt x="13378" y="10"/>
                  <a:pt x="13391" y="16"/>
                </a:cubicBezTo>
                <a:cubicBezTo>
                  <a:pt x="13404" y="21"/>
                  <a:pt x="13416" y="28"/>
                  <a:pt x="13427" y="35"/>
                </a:cubicBezTo>
                <a:cubicBezTo>
                  <a:pt x="13439" y="43"/>
                  <a:pt x="13450" y="52"/>
                  <a:pt x="13459" y="62"/>
                </a:cubicBezTo>
                <a:cubicBezTo>
                  <a:pt x="13469" y="71"/>
                  <a:pt x="13478" y="82"/>
                  <a:pt x="13486" y="94"/>
                </a:cubicBezTo>
                <a:cubicBezTo>
                  <a:pt x="13493" y="105"/>
                  <a:pt x="13500" y="117"/>
                  <a:pt x="13505" y="130"/>
                </a:cubicBezTo>
                <a:cubicBezTo>
                  <a:pt x="13511" y="143"/>
                  <a:pt x="13515" y="156"/>
                  <a:pt x="13517" y="170"/>
                </a:cubicBezTo>
                <a:cubicBezTo>
                  <a:pt x="13520" y="184"/>
                  <a:pt x="13521" y="197"/>
                  <a:pt x="13521" y="211"/>
                </a:cubicBezTo>
                <a:lnTo>
                  <a:pt x="13521" y="4075"/>
                </a:lnTo>
                <a:cubicBezTo>
                  <a:pt x="13521" y="4089"/>
                  <a:pt x="13520" y="4103"/>
                  <a:pt x="13517" y="4117"/>
                </a:cubicBezTo>
                <a:cubicBezTo>
                  <a:pt x="13515" y="4130"/>
                  <a:pt x="13511" y="4143"/>
                  <a:pt x="13505" y="4156"/>
                </a:cubicBezTo>
                <a:cubicBezTo>
                  <a:pt x="13500" y="4169"/>
                  <a:pt x="13493" y="4181"/>
                  <a:pt x="13486" y="4193"/>
                </a:cubicBezTo>
                <a:cubicBezTo>
                  <a:pt x="13478" y="4204"/>
                  <a:pt x="13469" y="4215"/>
                  <a:pt x="13459" y="4225"/>
                </a:cubicBezTo>
                <a:cubicBezTo>
                  <a:pt x="13450" y="4235"/>
                  <a:pt x="13439" y="4243"/>
                  <a:pt x="13427" y="4251"/>
                </a:cubicBezTo>
                <a:cubicBezTo>
                  <a:pt x="13416" y="4259"/>
                  <a:pt x="13404" y="4265"/>
                  <a:pt x="13391" y="4271"/>
                </a:cubicBezTo>
                <a:cubicBezTo>
                  <a:pt x="13378" y="4276"/>
                  <a:pt x="13365" y="4280"/>
                  <a:pt x="13351" y="4283"/>
                </a:cubicBezTo>
                <a:cubicBezTo>
                  <a:pt x="13337" y="4286"/>
                  <a:pt x="13324" y="4287"/>
                  <a:pt x="13310" y="4287"/>
                </a:cubicBezTo>
                <a:lnTo>
                  <a:pt x="159" y="4287"/>
                </a:lnTo>
                <a:cubicBezTo>
                  <a:pt x="148" y="4287"/>
                  <a:pt x="138" y="4286"/>
                  <a:pt x="128" y="4283"/>
                </a:cubicBezTo>
                <a:cubicBezTo>
                  <a:pt x="118" y="4280"/>
                  <a:pt x="108" y="4276"/>
                  <a:pt x="98" y="4271"/>
                </a:cubicBezTo>
                <a:cubicBezTo>
                  <a:pt x="88" y="4265"/>
                  <a:pt x="79" y="4259"/>
                  <a:pt x="71" y="4251"/>
                </a:cubicBezTo>
                <a:cubicBezTo>
                  <a:pt x="62" y="4243"/>
                  <a:pt x="54" y="4235"/>
                  <a:pt x="47" y="4225"/>
                </a:cubicBezTo>
                <a:cubicBezTo>
                  <a:pt x="39" y="4215"/>
                  <a:pt x="33" y="4204"/>
                  <a:pt x="27" y="4193"/>
                </a:cubicBezTo>
                <a:cubicBezTo>
                  <a:pt x="21" y="4181"/>
                  <a:pt x="16" y="4169"/>
                  <a:pt x="12" y="4156"/>
                </a:cubicBezTo>
                <a:cubicBezTo>
                  <a:pt x="8" y="4143"/>
                  <a:pt x="5" y="4130"/>
                  <a:pt x="3" y="4117"/>
                </a:cubicBezTo>
                <a:cubicBezTo>
                  <a:pt x="1" y="4103"/>
                  <a:pt x="0" y="4089"/>
                  <a:pt x="0" y="40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1" name="Free-form: Shape 440"/>
          <p:cNvSpPr/>
          <p:nvPr/>
        </p:nvSpPr>
        <p:spPr>
          <a:xfrm>
            <a:off x="261741" y="3057480"/>
            <a:ext cx="76680" cy="1543320"/>
          </a:xfrm>
          <a:custGeom>
            <a:avLst/>
            <a:gdLst/>
            <a:ahLst/>
            <a:cxnLst/>
            <a:rect l="0" t="0" r="r" b="b"/>
            <a:pathLst>
              <a:path w="213" h="4287">
                <a:moveTo>
                  <a:pt x="0" y="0"/>
                </a:moveTo>
                <a:lnTo>
                  <a:pt x="213" y="0"/>
                </a:lnTo>
                <a:lnTo>
                  <a:pt x="213" y="4287"/>
                </a:lnTo>
                <a:lnTo>
                  <a:pt x="0" y="4287"/>
                </a:lnTo>
                <a:lnTo>
                  <a:pt x="0" y="0"/>
                </a:ln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2" name="Free-form: Shape 441"/>
          <p:cNvSpPr/>
          <p:nvPr/>
        </p:nvSpPr>
        <p:spPr>
          <a:xfrm>
            <a:off x="371160" y="30544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7"/>
                  <a:pt x="28" y="105"/>
                  <a:pt x="36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1"/>
                  <a:pt x="1101" y="4"/>
                </a:cubicBezTo>
                <a:cubicBezTo>
                  <a:pt x="1114" y="6"/>
                  <a:pt x="1128" y="10"/>
                  <a:pt x="1140" y="16"/>
                </a:cubicBezTo>
                <a:cubicBezTo>
                  <a:pt x="1153" y="21"/>
                  <a:pt x="1165" y="28"/>
                  <a:pt x="1177" y="35"/>
                </a:cubicBezTo>
                <a:cubicBezTo>
                  <a:pt x="1189" y="43"/>
                  <a:pt x="1199" y="52"/>
                  <a:pt x="1209" y="62"/>
                </a:cubicBezTo>
                <a:cubicBezTo>
                  <a:pt x="1219" y="71"/>
                  <a:pt x="1228" y="82"/>
                  <a:pt x="1235" y="94"/>
                </a:cubicBezTo>
                <a:cubicBezTo>
                  <a:pt x="1243" y="105"/>
                  <a:pt x="1250" y="117"/>
                  <a:pt x="1255" y="130"/>
                </a:cubicBezTo>
                <a:cubicBezTo>
                  <a:pt x="1260" y="143"/>
                  <a:pt x="1264" y="156"/>
                  <a:pt x="1267" y="170"/>
                </a:cubicBezTo>
                <a:cubicBezTo>
                  <a:pt x="1270" y="184"/>
                  <a:pt x="1271" y="197"/>
                  <a:pt x="1271" y="211"/>
                </a:cubicBezTo>
                <a:lnTo>
                  <a:pt x="1271" y="1059"/>
                </a:lnTo>
                <a:cubicBezTo>
                  <a:pt x="1271" y="1073"/>
                  <a:pt x="1270" y="1087"/>
                  <a:pt x="1267" y="1100"/>
                </a:cubicBezTo>
                <a:cubicBezTo>
                  <a:pt x="1264" y="1114"/>
                  <a:pt x="1260" y="1127"/>
                  <a:pt x="1255" y="1140"/>
                </a:cubicBezTo>
                <a:cubicBezTo>
                  <a:pt x="1250" y="1153"/>
                  <a:pt x="1243" y="1165"/>
                  <a:pt x="1235" y="1177"/>
                </a:cubicBezTo>
                <a:cubicBezTo>
                  <a:pt x="1228" y="1188"/>
                  <a:pt x="1219" y="1199"/>
                  <a:pt x="1209" y="1209"/>
                </a:cubicBezTo>
                <a:cubicBezTo>
                  <a:pt x="1199" y="1218"/>
                  <a:pt x="1189" y="1227"/>
                  <a:pt x="1177" y="1235"/>
                </a:cubicBezTo>
                <a:cubicBezTo>
                  <a:pt x="1165" y="1243"/>
                  <a:pt x="1153" y="1249"/>
                  <a:pt x="1140" y="1255"/>
                </a:cubicBezTo>
                <a:cubicBezTo>
                  <a:pt x="1128" y="1260"/>
                  <a:pt x="1114" y="1264"/>
                  <a:pt x="1101" y="1267"/>
                </a:cubicBezTo>
                <a:cubicBezTo>
                  <a:pt x="1087" y="1269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69"/>
                  <a:pt x="170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49"/>
                  <a:pt x="106" y="1243"/>
                  <a:pt x="94" y="1235"/>
                </a:cubicBezTo>
                <a:cubicBezTo>
                  <a:pt x="83" y="1227"/>
                  <a:pt x="72" y="1218"/>
                  <a:pt x="62" y="1209"/>
                </a:cubicBezTo>
                <a:cubicBezTo>
                  <a:pt x="52" y="1199"/>
                  <a:pt x="43" y="1188"/>
                  <a:pt x="36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1" y="1127"/>
                  <a:pt x="7" y="1114"/>
                  <a:pt x="4" y="1100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EEF1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4" name="TextBox 443"/>
          <p:cNvSpPr txBox="1"/>
          <p:nvPr/>
        </p:nvSpPr>
        <p:spPr>
          <a:xfrm>
            <a:off x="553320" y="317898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981000" y="3083940"/>
            <a:ext cx="124662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Key Strengths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981000" y="3432420"/>
            <a:ext cx="500406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Full automation, reproducibility, robust QC, modular design,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981000" y="3679740"/>
            <a:ext cx="446757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and flexibility to scale across datasets demonstrate the</a:t>
            </a:r>
          </a:p>
        </p:txBody>
      </p:sp>
      <p:sp>
        <p:nvSpPr>
          <p:cNvPr id="448" name="Free-form: Shape 447"/>
          <p:cNvSpPr/>
          <p:nvPr/>
        </p:nvSpPr>
        <p:spPr>
          <a:xfrm>
            <a:off x="6229079" y="3057480"/>
            <a:ext cx="5606327" cy="1543320"/>
          </a:xfrm>
          <a:custGeom>
            <a:avLst/>
            <a:gdLst/>
            <a:ahLst/>
            <a:cxnLst/>
            <a:rect l="0" t="0" r="r" b="b"/>
            <a:pathLst>
              <a:path w="13521" h="4287">
                <a:moveTo>
                  <a:pt x="0" y="4075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2" y="130"/>
                </a:cubicBezTo>
                <a:cubicBezTo>
                  <a:pt x="16" y="117"/>
                  <a:pt x="21" y="105"/>
                  <a:pt x="27" y="94"/>
                </a:cubicBezTo>
                <a:cubicBezTo>
                  <a:pt x="33" y="82"/>
                  <a:pt x="39" y="71"/>
                  <a:pt x="47" y="62"/>
                </a:cubicBezTo>
                <a:cubicBezTo>
                  <a:pt x="54" y="52"/>
                  <a:pt x="62" y="43"/>
                  <a:pt x="71" y="35"/>
                </a:cubicBezTo>
                <a:cubicBezTo>
                  <a:pt x="79" y="28"/>
                  <a:pt x="89" y="21"/>
                  <a:pt x="98" y="16"/>
                </a:cubicBezTo>
                <a:cubicBezTo>
                  <a:pt x="108" y="10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13310" y="0"/>
                </a:lnTo>
                <a:cubicBezTo>
                  <a:pt x="13324" y="0"/>
                  <a:pt x="13337" y="1"/>
                  <a:pt x="13351" y="4"/>
                </a:cubicBezTo>
                <a:cubicBezTo>
                  <a:pt x="13365" y="6"/>
                  <a:pt x="13378" y="10"/>
                  <a:pt x="13391" y="16"/>
                </a:cubicBezTo>
                <a:cubicBezTo>
                  <a:pt x="13404" y="21"/>
                  <a:pt x="13416" y="28"/>
                  <a:pt x="13427" y="35"/>
                </a:cubicBezTo>
                <a:cubicBezTo>
                  <a:pt x="13439" y="43"/>
                  <a:pt x="13450" y="52"/>
                  <a:pt x="13459" y="62"/>
                </a:cubicBezTo>
                <a:cubicBezTo>
                  <a:pt x="13469" y="71"/>
                  <a:pt x="13478" y="82"/>
                  <a:pt x="13486" y="94"/>
                </a:cubicBezTo>
                <a:cubicBezTo>
                  <a:pt x="13494" y="105"/>
                  <a:pt x="13500" y="117"/>
                  <a:pt x="13505" y="130"/>
                </a:cubicBezTo>
                <a:cubicBezTo>
                  <a:pt x="13511" y="143"/>
                  <a:pt x="13515" y="156"/>
                  <a:pt x="13517" y="170"/>
                </a:cubicBezTo>
                <a:cubicBezTo>
                  <a:pt x="13520" y="184"/>
                  <a:pt x="13521" y="197"/>
                  <a:pt x="13521" y="211"/>
                </a:cubicBezTo>
                <a:lnTo>
                  <a:pt x="13521" y="4075"/>
                </a:lnTo>
                <a:cubicBezTo>
                  <a:pt x="13521" y="4089"/>
                  <a:pt x="13520" y="4103"/>
                  <a:pt x="13517" y="4117"/>
                </a:cubicBezTo>
                <a:cubicBezTo>
                  <a:pt x="13515" y="4130"/>
                  <a:pt x="13511" y="4143"/>
                  <a:pt x="13505" y="4156"/>
                </a:cubicBezTo>
                <a:cubicBezTo>
                  <a:pt x="13500" y="4169"/>
                  <a:pt x="13494" y="4181"/>
                  <a:pt x="13486" y="4193"/>
                </a:cubicBezTo>
                <a:cubicBezTo>
                  <a:pt x="13478" y="4204"/>
                  <a:pt x="13469" y="4215"/>
                  <a:pt x="13459" y="4225"/>
                </a:cubicBezTo>
                <a:cubicBezTo>
                  <a:pt x="13450" y="4235"/>
                  <a:pt x="13439" y="4243"/>
                  <a:pt x="13427" y="4251"/>
                </a:cubicBezTo>
                <a:cubicBezTo>
                  <a:pt x="13416" y="4259"/>
                  <a:pt x="13404" y="4265"/>
                  <a:pt x="13391" y="4271"/>
                </a:cubicBezTo>
                <a:cubicBezTo>
                  <a:pt x="13378" y="4276"/>
                  <a:pt x="13365" y="4280"/>
                  <a:pt x="13351" y="4283"/>
                </a:cubicBezTo>
                <a:cubicBezTo>
                  <a:pt x="13337" y="4286"/>
                  <a:pt x="13324" y="4287"/>
                  <a:pt x="13310" y="4287"/>
                </a:cubicBezTo>
                <a:lnTo>
                  <a:pt x="159" y="4287"/>
                </a:lnTo>
                <a:cubicBezTo>
                  <a:pt x="149" y="4287"/>
                  <a:pt x="138" y="4286"/>
                  <a:pt x="128" y="4283"/>
                </a:cubicBezTo>
                <a:cubicBezTo>
                  <a:pt x="118" y="4280"/>
                  <a:pt x="108" y="4276"/>
                  <a:pt x="98" y="4271"/>
                </a:cubicBezTo>
                <a:cubicBezTo>
                  <a:pt x="89" y="4265"/>
                  <a:pt x="79" y="4259"/>
                  <a:pt x="71" y="4251"/>
                </a:cubicBezTo>
                <a:cubicBezTo>
                  <a:pt x="62" y="4243"/>
                  <a:pt x="54" y="4235"/>
                  <a:pt x="47" y="4225"/>
                </a:cubicBezTo>
                <a:cubicBezTo>
                  <a:pt x="39" y="4215"/>
                  <a:pt x="33" y="4204"/>
                  <a:pt x="27" y="4193"/>
                </a:cubicBezTo>
                <a:cubicBezTo>
                  <a:pt x="21" y="4181"/>
                  <a:pt x="16" y="4169"/>
                  <a:pt x="12" y="4156"/>
                </a:cubicBezTo>
                <a:cubicBezTo>
                  <a:pt x="8" y="4143"/>
                  <a:pt x="5" y="4130"/>
                  <a:pt x="3" y="4117"/>
                </a:cubicBezTo>
                <a:cubicBezTo>
                  <a:pt x="1" y="4103"/>
                  <a:pt x="0" y="4089"/>
                  <a:pt x="0" y="407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9" name="Free-form: Shape 448"/>
          <p:cNvSpPr/>
          <p:nvPr/>
        </p:nvSpPr>
        <p:spPr>
          <a:xfrm>
            <a:off x="6210000" y="3057480"/>
            <a:ext cx="76680" cy="1543320"/>
          </a:xfrm>
          <a:custGeom>
            <a:avLst/>
            <a:gdLst/>
            <a:ahLst/>
            <a:cxnLst/>
            <a:rect l="0" t="0" r="r" b="b"/>
            <a:pathLst>
              <a:path w="213" h="4287">
                <a:moveTo>
                  <a:pt x="0" y="0"/>
                </a:moveTo>
                <a:lnTo>
                  <a:pt x="213" y="0"/>
                </a:lnTo>
                <a:lnTo>
                  <a:pt x="213" y="4287"/>
                </a:lnTo>
                <a:lnTo>
                  <a:pt x="0" y="4287"/>
                </a:lnTo>
                <a:lnTo>
                  <a:pt x="0" y="0"/>
                </a:lnTo>
                <a:close/>
              </a:path>
            </a:pathLst>
          </a:custGeom>
          <a:solidFill>
            <a:srgbClr val="2E5C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0" name="Free-form: Shape 449"/>
          <p:cNvSpPr/>
          <p:nvPr/>
        </p:nvSpPr>
        <p:spPr>
          <a:xfrm>
            <a:off x="6328393" y="3052961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1"/>
                </a:lnTo>
                <a:cubicBezTo>
                  <a:pt x="0" y="197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7"/>
                  <a:pt x="28" y="105"/>
                  <a:pt x="36" y="94"/>
                </a:cubicBezTo>
                <a:cubicBezTo>
                  <a:pt x="44" y="82"/>
                  <a:pt x="52" y="71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059" y="0"/>
                </a:lnTo>
                <a:cubicBezTo>
                  <a:pt x="1073" y="0"/>
                  <a:pt x="1087" y="1"/>
                  <a:pt x="1101" y="4"/>
                </a:cubicBezTo>
                <a:cubicBezTo>
                  <a:pt x="1114" y="6"/>
                  <a:pt x="1128" y="10"/>
                  <a:pt x="1140" y="16"/>
                </a:cubicBezTo>
                <a:cubicBezTo>
                  <a:pt x="1153" y="21"/>
                  <a:pt x="1166" y="28"/>
                  <a:pt x="1177" y="35"/>
                </a:cubicBezTo>
                <a:cubicBezTo>
                  <a:pt x="1189" y="43"/>
                  <a:pt x="1199" y="52"/>
                  <a:pt x="1209" y="62"/>
                </a:cubicBezTo>
                <a:cubicBezTo>
                  <a:pt x="1219" y="71"/>
                  <a:pt x="1228" y="82"/>
                  <a:pt x="1235" y="94"/>
                </a:cubicBezTo>
                <a:cubicBezTo>
                  <a:pt x="1243" y="105"/>
                  <a:pt x="1250" y="117"/>
                  <a:pt x="1255" y="130"/>
                </a:cubicBezTo>
                <a:cubicBezTo>
                  <a:pt x="1260" y="143"/>
                  <a:pt x="1264" y="156"/>
                  <a:pt x="1267" y="170"/>
                </a:cubicBezTo>
                <a:cubicBezTo>
                  <a:pt x="1270" y="184"/>
                  <a:pt x="1271" y="197"/>
                  <a:pt x="1271" y="211"/>
                </a:cubicBezTo>
                <a:lnTo>
                  <a:pt x="1271" y="1059"/>
                </a:lnTo>
                <a:cubicBezTo>
                  <a:pt x="1271" y="1073"/>
                  <a:pt x="1270" y="1087"/>
                  <a:pt x="1267" y="1100"/>
                </a:cubicBezTo>
                <a:cubicBezTo>
                  <a:pt x="1264" y="1114"/>
                  <a:pt x="1260" y="1127"/>
                  <a:pt x="1255" y="1140"/>
                </a:cubicBezTo>
                <a:cubicBezTo>
                  <a:pt x="1250" y="1153"/>
                  <a:pt x="1243" y="1165"/>
                  <a:pt x="1235" y="1177"/>
                </a:cubicBezTo>
                <a:cubicBezTo>
                  <a:pt x="1228" y="1188"/>
                  <a:pt x="1219" y="1199"/>
                  <a:pt x="1209" y="1209"/>
                </a:cubicBezTo>
                <a:cubicBezTo>
                  <a:pt x="1199" y="1218"/>
                  <a:pt x="1189" y="1227"/>
                  <a:pt x="1177" y="1235"/>
                </a:cubicBezTo>
                <a:cubicBezTo>
                  <a:pt x="1166" y="1243"/>
                  <a:pt x="1153" y="1249"/>
                  <a:pt x="1140" y="1255"/>
                </a:cubicBezTo>
                <a:cubicBezTo>
                  <a:pt x="1128" y="1260"/>
                  <a:pt x="1114" y="1264"/>
                  <a:pt x="1101" y="1267"/>
                </a:cubicBezTo>
                <a:cubicBezTo>
                  <a:pt x="1087" y="1269"/>
                  <a:pt x="1073" y="1271"/>
                  <a:pt x="1059" y="1271"/>
                </a:cubicBezTo>
                <a:lnTo>
                  <a:pt x="212" y="1271"/>
                </a:lnTo>
                <a:cubicBezTo>
                  <a:pt x="198" y="1271"/>
                  <a:pt x="184" y="1269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49"/>
                  <a:pt x="106" y="1243"/>
                  <a:pt x="94" y="1235"/>
                </a:cubicBezTo>
                <a:cubicBezTo>
                  <a:pt x="83" y="1227"/>
                  <a:pt x="72" y="1218"/>
                  <a:pt x="62" y="1209"/>
                </a:cubicBezTo>
                <a:cubicBezTo>
                  <a:pt x="52" y="1199"/>
                  <a:pt x="44" y="1188"/>
                  <a:pt x="36" y="1177"/>
                </a:cubicBezTo>
                <a:cubicBezTo>
                  <a:pt x="28" y="1165"/>
                  <a:pt x="22" y="1153"/>
                  <a:pt x="16" y="1140"/>
                </a:cubicBezTo>
                <a:cubicBezTo>
                  <a:pt x="11" y="1127"/>
                  <a:pt x="7" y="1114"/>
                  <a:pt x="4" y="1100"/>
                </a:cubicBezTo>
                <a:cubicBezTo>
                  <a:pt x="2" y="1087"/>
                  <a:pt x="0" y="1073"/>
                  <a:pt x="0" y="1059"/>
                </a:cubicBezTo>
                <a:close/>
              </a:path>
            </a:pathLst>
          </a:custGeom>
          <a:solidFill>
            <a:srgbClr val="E3EA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1" name="TextBox 450"/>
          <p:cNvSpPr txBox="1"/>
          <p:nvPr/>
        </p:nvSpPr>
        <p:spPr>
          <a:xfrm>
            <a:off x="981000" y="3927420"/>
            <a:ext cx="208711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pipeline's practical utility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6505873" y="3177521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4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6938233" y="3082481"/>
            <a:ext cx="235641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Acknowledged Limitations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6938233" y="3430961"/>
            <a:ext cx="493834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Dependence on metadata quality, potential misclassification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6938233" y="3678281"/>
            <a:ext cx="489717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of unusual tissue names, and linear assumptions in ComBat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6938233" y="3925961"/>
            <a:ext cx="236763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require careful consideration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454040" y="5056560"/>
            <a:ext cx="9114162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Overall: The pipeline provides a fast, reproducible, and biologically meaningful framework for transcriptomic </a:t>
            </a:r>
          </a:p>
          <a:p>
            <a:pPr algn="ctr"/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analysis and cross-disease comparison</a:t>
            </a:r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8" name="Free-form: Shape 457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1" name="TextBox 460"/>
          <p:cNvSpPr txBox="1"/>
          <p:nvPr/>
        </p:nvSpPr>
        <p:spPr>
          <a:xfrm>
            <a:off x="11492640" y="60832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Free-form: Shape 4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4" name="Free-form: Shape 463"/>
          <p:cNvSpPr/>
          <p:nvPr/>
        </p:nvSpPr>
        <p:spPr>
          <a:xfrm>
            <a:off x="158075" y="2384600"/>
            <a:ext cx="609840" cy="38520"/>
          </a:xfrm>
          <a:custGeom>
            <a:avLst/>
            <a:gdLst/>
            <a:ahLst/>
            <a:cxnLst/>
            <a:rect l="0" t="0" r="r" b="b"/>
            <a:pathLst>
              <a:path w="1694" h="107">
                <a:moveTo>
                  <a:pt x="0" y="0"/>
                </a:moveTo>
                <a:lnTo>
                  <a:pt x="1694" y="0"/>
                </a:lnTo>
                <a:lnTo>
                  <a:pt x="169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5" name="TextBox 464"/>
          <p:cNvSpPr txBox="1"/>
          <p:nvPr/>
        </p:nvSpPr>
        <p:spPr>
          <a:xfrm>
            <a:off x="158075" y="2679800"/>
            <a:ext cx="206676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Conclusion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158075" y="3420719"/>
            <a:ext cx="3398366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Key achievements of the automated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b</a:t>
            </a:r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ioinformatics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pipeline for cross-disease 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analysis</a:t>
            </a:r>
          </a:p>
        </p:txBody>
      </p:sp>
      <p:sp>
        <p:nvSpPr>
          <p:cNvPr id="467" name="Free-form: Shape 466"/>
          <p:cNvSpPr/>
          <p:nvPr/>
        </p:nvSpPr>
        <p:spPr>
          <a:xfrm>
            <a:off x="4291355" y="652689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2"/>
                  <a:pt x="997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9" y="144"/>
                  <a:pt x="1053" y="157"/>
                  <a:pt x="1055" y="171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1" y="954"/>
                  <a:pt x="1024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2"/>
                  <a:pt x="942" y="1038"/>
                  <a:pt x="929" y="1043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0" y="1056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7"/>
                  <a:pt x="62" y="998"/>
                </a:cubicBezTo>
                <a:cubicBezTo>
                  <a:pt x="52" y="988"/>
                  <a:pt x="43" y="977"/>
                  <a:pt x="36" y="966"/>
                </a:cubicBezTo>
                <a:cubicBezTo>
                  <a:pt x="28" y="954"/>
                  <a:pt x="21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1" y="876"/>
                  <a:pt x="0" y="862"/>
                  <a:pt x="0" y="848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9" name="TextBox 468"/>
          <p:cNvSpPr txBox="1"/>
          <p:nvPr/>
        </p:nvSpPr>
        <p:spPr>
          <a:xfrm>
            <a:off x="4449755" y="747009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4824875" y="682209"/>
            <a:ext cx="211423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Fully Automated Pipeline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4824875" y="992529"/>
            <a:ext cx="741228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Achieved end-to-end reproducible processing from GEO data retrieval to DEG generation</a:t>
            </a:r>
          </a:p>
        </p:txBody>
      </p:sp>
      <p:sp>
        <p:nvSpPr>
          <p:cNvPr id="472" name="Free-form: Shape 471"/>
          <p:cNvSpPr/>
          <p:nvPr/>
        </p:nvSpPr>
        <p:spPr>
          <a:xfrm>
            <a:off x="4291355" y="1681569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6"/>
                </a:moveTo>
                <a:lnTo>
                  <a:pt x="0" y="211"/>
                </a:lnTo>
                <a:cubicBezTo>
                  <a:pt x="0" y="198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5"/>
                </a:cubicBezTo>
                <a:cubicBezTo>
                  <a:pt x="977" y="43"/>
                  <a:pt x="988" y="52"/>
                  <a:pt x="997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1" y="105"/>
                  <a:pt x="1038" y="118"/>
                  <a:pt x="1043" y="130"/>
                </a:cubicBezTo>
                <a:cubicBezTo>
                  <a:pt x="1049" y="143"/>
                  <a:pt x="1053" y="156"/>
                  <a:pt x="1055" y="170"/>
                </a:cubicBezTo>
                <a:cubicBezTo>
                  <a:pt x="1058" y="184"/>
                  <a:pt x="1059" y="198"/>
                  <a:pt x="1059" y="211"/>
                </a:cubicBezTo>
                <a:lnTo>
                  <a:pt x="1059" y="846"/>
                </a:lnTo>
                <a:cubicBezTo>
                  <a:pt x="1059" y="860"/>
                  <a:pt x="1058" y="874"/>
                  <a:pt x="1055" y="888"/>
                </a:cubicBezTo>
                <a:cubicBezTo>
                  <a:pt x="1053" y="902"/>
                  <a:pt x="1049" y="916"/>
                  <a:pt x="1043" y="928"/>
                </a:cubicBezTo>
                <a:cubicBezTo>
                  <a:pt x="1038" y="941"/>
                  <a:pt x="1031" y="953"/>
                  <a:pt x="1024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3"/>
                  <a:pt x="21" y="941"/>
                  <a:pt x="16" y="928"/>
                </a:cubicBezTo>
                <a:cubicBezTo>
                  <a:pt x="11" y="916"/>
                  <a:pt x="7" y="902"/>
                  <a:pt x="4" y="888"/>
                </a:cubicBezTo>
                <a:cubicBezTo>
                  <a:pt x="1" y="874"/>
                  <a:pt x="0" y="860"/>
                  <a:pt x="0" y="846"/>
                </a:cubicBez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3" name="TextBox 472"/>
          <p:cNvSpPr txBox="1"/>
          <p:nvPr/>
        </p:nvSpPr>
        <p:spPr>
          <a:xfrm>
            <a:off x="4824875" y="1240209"/>
            <a:ext cx="370934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with automatic condition and batch detection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4438235" y="1775529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4824875" y="1711089"/>
            <a:ext cx="250549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Adaptive Preprocessing &amp; QC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4824875" y="2021409"/>
            <a:ext cx="723274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Intelligent preprocessing with log transformation, dual-rule filtering, and ComBat batch</a:t>
            </a:r>
          </a:p>
        </p:txBody>
      </p:sp>
      <p:sp>
        <p:nvSpPr>
          <p:cNvPr id="477" name="Free-form: Shape 476"/>
          <p:cNvSpPr/>
          <p:nvPr/>
        </p:nvSpPr>
        <p:spPr>
          <a:xfrm>
            <a:off x="4291355" y="2710089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1" y="185"/>
                  <a:pt x="4" y="172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2"/>
                  <a:pt x="997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9" y="144"/>
                  <a:pt x="1053" y="157"/>
                  <a:pt x="1055" y="172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1" y="954"/>
                  <a:pt x="1024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2"/>
                  <a:pt x="942" y="1038"/>
                  <a:pt x="929" y="1043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0" y="1056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7"/>
                  <a:pt x="62" y="998"/>
                </a:cubicBezTo>
                <a:cubicBezTo>
                  <a:pt x="52" y="988"/>
                  <a:pt x="43" y="977"/>
                  <a:pt x="36" y="966"/>
                </a:cubicBezTo>
                <a:cubicBezTo>
                  <a:pt x="28" y="954"/>
                  <a:pt x="21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1" y="876"/>
                  <a:pt x="0" y="862"/>
                  <a:pt x="0" y="848"/>
                </a:cubicBezTo>
                <a:close/>
              </a:path>
            </a:pathLst>
          </a:custGeom>
          <a:solidFill>
            <a:srgbClr val="B8C5B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8" name="TextBox 477"/>
          <p:cNvSpPr txBox="1"/>
          <p:nvPr/>
        </p:nvSpPr>
        <p:spPr>
          <a:xfrm>
            <a:off x="4824875" y="2269089"/>
            <a:ext cx="480259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correction ensured clean, high-quality expression matrices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4440035" y="2804409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4824875" y="2739609"/>
            <a:ext cx="181286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Robust DEG Analysis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4824875" y="3049929"/>
            <a:ext cx="712804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Limma-based differential expression produced biologically meaningful DEGs for both</a:t>
            </a:r>
          </a:p>
        </p:txBody>
      </p:sp>
      <p:sp>
        <p:nvSpPr>
          <p:cNvPr id="482" name="Free-form: Shape 481"/>
          <p:cNvSpPr/>
          <p:nvPr/>
        </p:nvSpPr>
        <p:spPr>
          <a:xfrm>
            <a:off x="4291355" y="3738969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1"/>
                </a:lnTo>
                <a:cubicBezTo>
                  <a:pt x="0" y="198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5"/>
                </a:cubicBezTo>
                <a:cubicBezTo>
                  <a:pt x="977" y="43"/>
                  <a:pt x="988" y="52"/>
                  <a:pt x="997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1" y="105"/>
                  <a:pt x="1038" y="118"/>
                  <a:pt x="1043" y="130"/>
                </a:cubicBezTo>
                <a:cubicBezTo>
                  <a:pt x="1049" y="143"/>
                  <a:pt x="1053" y="156"/>
                  <a:pt x="1055" y="170"/>
                </a:cubicBezTo>
                <a:cubicBezTo>
                  <a:pt x="1058" y="184"/>
                  <a:pt x="1059" y="198"/>
                  <a:pt x="1059" y="211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3" y="902"/>
                  <a:pt x="1049" y="916"/>
                  <a:pt x="1043" y="928"/>
                </a:cubicBezTo>
                <a:cubicBezTo>
                  <a:pt x="1038" y="941"/>
                  <a:pt x="1031" y="953"/>
                  <a:pt x="1024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3"/>
                  <a:pt x="21" y="941"/>
                  <a:pt x="16" y="928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7"/>
                </a:cubicBezTo>
                <a:close/>
              </a:path>
            </a:pathLst>
          </a:custGeom>
          <a:solidFill>
            <a:srgbClr val="2E5C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3" name="TextBox 482"/>
          <p:cNvSpPr txBox="1"/>
          <p:nvPr/>
        </p:nvSpPr>
        <p:spPr>
          <a:xfrm>
            <a:off x="4824875" y="3297609"/>
            <a:ext cx="305211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lung cancer and Huntington's disease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4435715" y="3832929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4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824875" y="3768489"/>
            <a:ext cx="213199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Cross-Disease Integration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4824875" y="4078809"/>
            <a:ext cx="728244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Successfully identified shared pathways, opposite trends, and disease-specific molecular</a:t>
            </a:r>
          </a:p>
        </p:txBody>
      </p:sp>
      <p:sp>
        <p:nvSpPr>
          <p:cNvPr id="487" name="Free-form: Shape 486"/>
          <p:cNvSpPr/>
          <p:nvPr/>
        </p:nvSpPr>
        <p:spPr>
          <a:xfrm>
            <a:off x="4291355" y="4767489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2"/>
                  <a:pt x="997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9" y="144"/>
                  <a:pt x="1053" y="157"/>
                  <a:pt x="1055" y="171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1" y="954"/>
                  <a:pt x="1024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2"/>
                  <a:pt x="942" y="1038"/>
                  <a:pt x="929" y="1043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2" y="1060"/>
                </a:lnTo>
                <a:cubicBezTo>
                  <a:pt x="198" y="1060"/>
                  <a:pt x="184" y="1058"/>
                  <a:pt x="170" y="1056"/>
                </a:cubicBezTo>
                <a:cubicBezTo>
                  <a:pt x="157" y="1053"/>
                  <a:pt x="144" y="1049"/>
                  <a:pt x="131" y="1043"/>
                </a:cubicBezTo>
                <a:cubicBezTo>
                  <a:pt x="118" y="1038"/>
                  <a:pt x="106" y="1032"/>
                  <a:pt x="94" y="1024"/>
                </a:cubicBezTo>
                <a:cubicBezTo>
                  <a:pt x="83" y="1016"/>
                  <a:pt x="72" y="1007"/>
                  <a:pt x="62" y="998"/>
                </a:cubicBezTo>
                <a:cubicBezTo>
                  <a:pt x="52" y="988"/>
                  <a:pt x="43" y="977"/>
                  <a:pt x="36" y="966"/>
                </a:cubicBezTo>
                <a:cubicBezTo>
                  <a:pt x="28" y="954"/>
                  <a:pt x="21" y="942"/>
                  <a:pt x="16" y="929"/>
                </a:cubicBezTo>
                <a:cubicBezTo>
                  <a:pt x="11" y="916"/>
                  <a:pt x="7" y="903"/>
                  <a:pt x="4" y="889"/>
                </a:cubicBezTo>
                <a:cubicBezTo>
                  <a:pt x="1" y="876"/>
                  <a:pt x="0" y="862"/>
                  <a:pt x="0" y="848"/>
                </a:cubicBez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8" name="TextBox 487"/>
          <p:cNvSpPr txBox="1"/>
          <p:nvPr/>
        </p:nvSpPr>
        <p:spPr>
          <a:xfrm>
            <a:off x="4824875" y="4326489"/>
            <a:ext cx="408926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signatures between cancer and neurodegeneration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4440035" y="4861809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5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4824875" y="4797009"/>
            <a:ext cx="169597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Scalable Framework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4824875" y="5107329"/>
            <a:ext cx="693459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Provides a reliable, modular tool for systematic multi-dataset transcriptome analysis</a:t>
            </a:r>
          </a:p>
        </p:txBody>
      </p:sp>
      <p:sp>
        <p:nvSpPr>
          <p:cNvPr id="492" name="Free-form: Shape 491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3" name="TextBox 492"/>
          <p:cNvSpPr txBox="1"/>
          <p:nvPr/>
        </p:nvSpPr>
        <p:spPr>
          <a:xfrm>
            <a:off x="4824875" y="5355009"/>
            <a:ext cx="344164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applicable to diverse disease comparisons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1499480" y="60832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Free-form: Shape 4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8" name="Free-form: Shape 497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571320" y="569160"/>
            <a:ext cx="2883803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Future Directions</a:t>
            </a:r>
          </a:p>
        </p:txBody>
      </p:sp>
      <p:sp>
        <p:nvSpPr>
          <p:cNvPr id="500" name="Free-form: Shape 499"/>
          <p:cNvSpPr/>
          <p:nvPr/>
        </p:nvSpPr>
        <p:spPr>
          <a:xfrm>
            <a:off x="224079" y="178326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1"/>
                </a:lnTo>
                <a:cubicBezTo>
                  <a:pt x="0" y="197"/>
                  <a:pt x="2" y="184"/>
                  <a:pt x="5" y="170"/>
                </a:cubicBezTo>
                <a:cubicBezTo>
                  <a:pt x="8" y="156"/>
                  <a:pt x="12" y="143"/>
                  <a:pt x="17" y="130"/>
                </a:cubicBezTo>
                <a:cubicBezTo>
                  <a:pt x="22" y="117"/>
                  <a:pt x="29" y="105"/>
                  <a:pt x="37" y="94"/>
                </a:cubicBezTo>
                <a:cubicBezTo>
                  <a:pt x="44" y="82"/>
                  <a:pt x="53" y="71"/>
                  <a:pt x="63" y="62"/>
                </a:cubicBezTo>
                <a:cubicBezTo>
                  <a:pt x="73" y="52"/>
                  <a:pt x="84" y="43"/>
                  <a:pt x="95" y="35"/>
                </a:cubicBezTo>
                <a:cubicBezTo>
                  <a:pt x="107" y="28"/>
                  <a:pt x="119" y="21"/>
                  <a:pt x="132" y="16"/>
                </a:cubicBezTo>
                <a:cubicBezTo>
                  <a:pt x="145" y="10"/>
                  <a:pt x="158" y="6"/>
                  <a:pt x="171" y="4"/>
                </a:cubicBezTo>
                <a:cubicBezTo>
                  <a:pt x="185" y="1"/>
                  <a:pt x="199" y="0"/>
                  <a:pt x="213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6"/>
                  <a:pt x="916" y="10"/>
                  <a:pt x="929" y="16"/>
                </a:cubicBezTo>
                <a:cubicBezTo>
                  <a:pt x="942" y="21"/>
                  <a:pt x="954" y="28"/>
                  <a:pt x="965" y="35"/>
                </a:cubicBezTo>
                <a:cubicBezTo>
                  <a:pt x="977" y="43"/>
                  <a:pt x="988" y="52"/>
                  <a:pt x="997" y="62"/>
                </a:cubicBezTo>
                <a:cubicBezTo>
                  <a:pt x="1007" y="71"/>
                  <a:pt x="1016" y="82"/>
                  <a:pt x="1024" y="94"/>
                </a:cubicBezTo>
                <a:cubicBezTo>
                  <a:pt x="1031" y="105"/>
                  <a:pt x="1038" y="117"/>
                  <a:pt x="1043" y="130"/>
                </a:cubicBezTo>
                <a:cubicBezTo>
                  <a:pt x="1049" y="143"/>
                  <a:pt x="1053" y="156"/>
                  <a:pt x="1055" y="170"/>
                </a:cubicBezTo>
                <a:cubicBezTo>
                  <a:pt x="1058" y="184"/>
                  <a:pt x="1059" y="197"/>
                  <a:pt x="1059" y="211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3" y="902"/>
                  <a:pt x="1049" y="915"/>
                  <a:pt x="1043" y="928"/>
                </a:cubicBezTo>
                <a:cubicBezTo>
                  <a:pt x="1038" y="941"/>
                  <a:pt x="1031" y="953"/>
                  <a:pt x="1024" y="965"/>
                </a:cubicBezTo>
                <a:cubicBezTo>
                  <a:pt x="1016" y="976"/>
                  <a:pt x="1007" y="987"/>
                  <a:pt x="997" y="997"/>
                </a:cubicBezTo>
                <a:cubicBezTo>
                  <a:pt x="988" y="1007"/>
                  <a:pt x="977" y="1016"/>
                  <a:pt x="965" y="1023"/>
                </a:cubicBezTo>
                <a:cubicBezTo>
                  <a:pt x="954" y="1031"/>
                  <a:pt x="942" y="1037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3" y="1059"/>
                </a:lnTo>
                <a:cubicBezTo>
                  <a:pt x="199" y="1059"/>
                  <a:pt x="185" y="1058"/>
                  <a:pt x="171" y="1055"/>
                </a:cubicBezTo>
                <a:cubicBezTo>
                  <a:pt x="158" y="1052"/>
                  <a:pt x="145" y="1048"/>
                  <a:pt x="132" y="1043"/>
                </a:cubicBezTo>
                <a:cubicBezTo>
                  <a:pt x="119" y="1037"/>
                  <a:pt x="107" y="1031"/>
                  <a:pt x="95" y="1023"/>
                </a:cubicBezTo>
                <a:cubicBezTo>
                  <a:pt x="84" y="1016"/>
                  <a:pt x="73" y="1007"/>
                  <a:pt x="63" y="997"/>
                </a:cubicBezTo>
                <a:cubicBezTo>
                  <a:pt x="53" y="987"/>
                  <a:pt x="44" y="976"/>
                  <a:pt x="37" y="965"/>
                </a:cubicBezTo>
                <a:cubicBezTo>
                  <a:pt x="29" y="953"/>
                  <a:pt x="22" y="941"/>
                  <a:pt x="17" y="928"/>
                </a:cubicBezTo>
                <a:cubicBezTo>
                  <a:pt x="12" y="915"/>
                  <a:pt x="8" y="902"/>
                  <a:pt x="5" y="889"/>
                </a:cubicBezTo>
                <a:cubicBezTo>
                  <a:pt x="2" y="875"/>
                  <a:pt x="0" y="861"/>
                  <a:pt x="0" y="847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24079" y="1393380"/>
            <a:ext cx="367344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Strengthening Dataset Quality &amp; Analysis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382479" y="187722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757599" y="1820340"/>
            <a:ext cx="140532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Larger Datasets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757599" y="2161260"/>
            <a:ext cx="4617739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Use larger GEO datasets with more samples to increase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statistical power and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improve DEG detection reliability</a:t>
            </a:r>
          </a:p>
        </p:txBody>
      </p:sp>
      <p:sp>
        <p:nvSpPr>
          <p:cNvPr id="505" name="Free-form: Shape 504"/>
          <p:cNvSpPr/>
          <p:nvPr/>
        </p:nvSpPr>
        <p:spPr>
          <a:xfrm>
            <a:off x="224079" y="28499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2"/>
                </a:lnTo>
                <a:cubicBezTo>
                  <a:pt x="0" y="198"/>
                  <a:pt x="2" y="184"/>
                  <a:pt x="5" y="170"/>
                </a:cubicBezTo>
                <a:cubicBezTo>
                  <a:pt x="8" y="157"/>
                  <a:pt x="12" y="143"/>
                  <a:pt x="17" y="131"/>
                </a:cubicBezTo>
                <a:cubicBezTo>
                  <a:pt x="22" y="118"/>
                  <a:pt x="29" y="106"/>
                  <a:pt x="37" y="94"/>
                </a:cubicBezTo>
                <a:cubicBezTo>
                  <a:pt x="44" y="82"/>
                  <a:pt x="53" y="72"/>
                  <a:pt x="63" y="62"/>
                </a:cubicBezTo>
                <a:cubicBezTo>
                  <a:pt x="73" y="52"/>
                  <a:pt x="84" y="43"/>
                  <a:pt x="95" y="36"/>
                </a:cubicBezTo>
                <a:cubicBezTo>
                  <a:pt x="107" y="28"/>
                  <a:pt x="119" y="21"/>
                  <a:pt x="132" y="16"/>
                </a:cubicBezTo>
                <a:cubicBezTo>
                  <a:pt x="145" y="11"/>
                  <a:pt x="158" y="7"/>
                  <a:pt x="171" y="4"/>
                </a:cubicBezTo>
                <a:cubicBezTo>
                  <a:pt x="185" y="1"/>
                  <a:pt x="199" y="0"/>
                  <a:pt x="213" y="0"/>
                </a:cubicBezTo>
                <a:lnTo>
                  <a:pt x="848" y="0"/>
                </a:lnTo>
                <a:cubicBezTo>
                  <a:pt x="862" y="0"/>
                  <a:pt x="875" y="1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1"/>
                  <a:pt x="954" y="28"/>
                  <a:pt x="965" y="36"/>
                </a:cubicBezTo>
                <a:cubicBezTo>
                  <a:pt x="977" y="43"/>
                  <a:pt x="988" y="52"/>
                  <a:pt x="997" y="62"/>
                </a:cubicBezTo>
                <a:cubicBezTo>
                  <a:pt x="1007" y="72"/>
                  <a:pt x="1016" y="82"/>
                  <a:pt x="1024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9" y="143"/>
                  <a:pt x="1053" y="157"/>
                  <a:pt x="1055" y="170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7"/>
                </a:lnTo>
                <a:cubicBezTo>
                  <a:pt x="1059" y="860"/>
                  <a:pt x="1058" y="874"/>
                  <a:pt x="1055" y="888"/>
                </a:cubicBezTo>
                <a:cubicBezTo>
                  <a:pt x="1053" y="902"/>
                  <a:pt x="1049" y="915"/>
                  <a:pt x="1043" y="928"/>
                </a:cubicBezTo>
                <a:cubicBezTo>
                  <a:pt x="1038" y="940"/>
                  <a:pt x="1031" y="953"/>
                  <a:pt x="1024" y="964"/>
                </a:cubicBezTo>
                <a:cubicBezTo>
                  <a:pt x="1016" y="976"/>
                  <a:pt x="1007" y="986"/>
                  <a:pt x="997" y="996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1"/>
                  <a:pt x="942" y="1038"/>
                  <a:pt x="929" y="1043"/>
                </a:cubicBezTo>
                <a:cubicBezTo>
                  <a:pt x="916" y="1048"/>
                  <a:pt x="903" y="1052"/>
                  <a:pt x="889" y="1055"/>
                </a:cubicBezTo>
                <a:cubicBezTo>
                  <a:pt x="875" y="1058"/>
                  <a:pt x="862" y="1059"/>
                  <a:pt x="848" y="1059"/>
                </a:cubicBezTo>
                <a:lnTo>
                  <a:pt x="213" y="1059"/>
                </a:lnTo>
                <a:cubicBezTo>
                  <a:pt x="199" y="1059"/>
                  <a:pt x="185" y="1058"/>
                  <a:pt x="171" y="1055"/>
                </a:cubicBezTo>
                <a:cubicBezTo>
                  <a:pt x="158" y="1052"/>
                  <a:pt x="145" y="1048"/>
                  <a:pt x="132" y="1043"/>
                </a:cubicBezTo>
                <a:cubicBezTo>
                  <a:pt x="119" y="1038"/>
                  <a:pt x="107" y="1031"/>
                  <a:pt x="95" y="1024"/>
                </a:cubicBezTo>
                <a:cubicBezTo>
                  <a:pt x="84" y="1016"/>
                  <a:pt x="73" y="1007"/>
                  <a:pt x="63" y="996"/>
                </a:cubicBezTo>
                <a:cubicBezTo>
                  <a:pt x="53" y="986"/>
                  <a:pt x="44" y="976"/>
                  <a:pt x="37" y="964"/>
                </a:cubicBezTo>
                <a:cubicBezTo>
                  <a:pt x="29" y="953"/>
                  <a:pt x="22" y="940"/>
                  <a:pt x="17" y="928"/>
                </a:cubicBezTo>
                <a:cubicBezTo>
                  <a:pt x="12" y="915"/>
                  <a:pt x="8" y="902"/>
                  <a:pt x="5" y="888"/>
                </a:cubicBezTo>
                <a:cubicBezTo>
                  <a:pt x="2" y="874"/>
                  <a:pt x="0" y="860"/>
                  <a:pt x="0" y="847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370959" y="294426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757599" y="2887020"/>
            <a:ext cx="279243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Enhanced Pathway Enrichment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757599" y="3227940"/>
            <a:ext cx="5152180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Improve sensitivity using relaxed FDR cut-offs, GSEA/GSVA </a:t>
            </a:r>
          </a:p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methods, and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careful gene ID validation</a:t>
            </a:r>
          </a:p>
        </p:txBody>
      </p:sp>
      <p:sp>
        <p:nvSpPr>
          <p:cNvPr id="510" name="Free-form: Shape 509"/>
          <p:cNvSpPr/>
          <p:nvPr/>
        </p:nvSpPr>
        <p:spPr>
          <a:xfrm>
            <a:off x="224079" y="3916620"/>
            <a:ext cx="381240" cy="381600"/>
          </a:xfrm>
          <a:custGeom>
            <a:avLst/>
            <a:gdLst/>
            <a:ahLst/>
            <a:cxnLst/>
            <a:rect l="0" t="0" r="r" b="b"/>
            <a:pathLst>
              <a:path w="1059" h="1060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2" y="185"/>
                  <a:pt x="5" y="172"/>
                </a:cubicBezTo>
                <a:cubicBezTo>
                  <a:pt x="8" y="158"/>
                  <a:pt x="12" y="144"/>
                  <a:pt x="17" y="131"/>
                </a:cubicBezTo>
                <a:cubicBezTo>
                  <a:pt x="22" y="118"/>
                  <a:pt x="29" y="106"/>
                  <a:pt x="37" y="94"/>
                </a:cubicBezTo>
                <a:cubicBezTo>
                  <a:pt x="44" y="83"/>
                  <a:pt x="53" y="72"/>
                  <a:pt x="63" y="62"/>
                </a:cubicBezTo>
                <a:cubicBezTo>
                  <a:pt x="73" y="52"/>
                  <a:pt x="84" y="44"/>
                  <a:pt x="95" y="36"/>
                </a:cubicBezTo>
                <a:cubicBezTo>
                  <a:pt x="107" y="28"/>
                  <a:pt x="119" y="22"/>
                  <a:pt x="132" y="16"/>
                </a:cubicBezTo>
                <a:cubicBezTo>
                  <a:pt x="145" y="11"/>
                  <a:pt x="158" y="7"/>
                  <a:pt x="171" y="4"/>
                </a:cubicBezTo>
                <a:cubicBezTo>
                  <a:pt x="185" y="2"/>
                  <a:pt x="199" y="0"/>
                  <a:pt x="213" y="0"/>
                </a:cubicBezTo>
                <a:lnTo>
                  <a:pt x="848" y="0"/>
                </a:lnTo>
                <a:cubicBezTo>
                  <a:pt x="862" y="0"/>
                  <a:pt x="875" y="2"/>
                  <a:pt x="889" y="4"/>
                </a:cubicBezTo>
                <a:cubicBezTo>
                  <a:pt x="903" y="7"/>
                  <a:pt x="916" y="11"/>
                  <a:pt x="929" y="16"/>
                </a:cubicBezTo>
                <a:cubicBezTo>
                  <a:pt x="942" y="22"/>
                  <a:pt x="954" y="28"/>
                  <a:pt x="965" y="36"/>
                </a:cubicBezTo>
                <a:cubicBezTo>
                  <a:pt x="977" y="44"/>
                  <a:pt x="988" y="52"/>
                  <a:pt x="997" y="62"/>
                </a:cubicBezTo>
                <a:cubicBezTo>
                  <a:pt x="1007" y="72"/>
                  <a:pt x="1016" y="83"/>
                  <a:pt x="1024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9" y="144"/>
                  <a:pt x="1053" y="158"/>
                  <a:pt x="1055" y="172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2"/>
                  <a:pt x="1058" y="876"/>
                  <a:pt x="1055" y="889"/>
                </a:cubicBezTo>
                <a:cubicBezTo>
                  <a:pt x="1053" y="903"/>
                  <a:pt x="1049" y="916"/>
                  <a:pt x="1043" y="929"/>
                </a:cubicBezTo>
                <a:cubicBezTo>
                  <a:pt x="1038" y="942"/>
                  <a:pt x="1031" y="954"/>
                  <a:pt x="1024" y="966"/>
                </a:cubicBezTo>
                <a:cubicBezTo>
                  <a:pt x="1016" y="977"/>
                  <a:pt x="1007" y="988"/>
                  <a:pt x="997" y="998"/>
                </a:cubicBezTo>
                <a:cubicBezTo>
                  <a:pt x="988" y="1007"/>
                  <a:pt x="977" y="1016"/>
                  <a:pt x="965" y="1024"/>
                </a:cubicBezTo>
                <a:cubicBezTo>
                  <a:pt x="954" y="1032"/>
                  <a:pt x="942" y="1038"/>
                  <a:pt x="929" y="1043"/>
                </a:cubicBezTo>
                <a:cubicBezTo>
                  <a:pt x="916" y="1049"/>
                  <a:pt x="903" y="1053"/>
                  <a:pt x="889" y="1056"/>
                </a:cubicBezTo>
                <a:cubicBezTo>
                  <a:pt x="875" y="1058"/>
                  <a:pt x="862" y="1060"/>
                  <a:pt x="848" y="1060"/>
                </a:cubicBezTo>
                <a:lnTo>
                  <a:pt x="213" y="1060"/>
                </a:lnTo>
                <a:cubicBezTo>
                  <a:pt x="199" y="1060"/>
                  <a:pt x="185" y="1058"/>
                  <a:pt x="171" y="1056"/>
                </a:cubicBezTo>
                <a:cubicBezTo>
                  <a:pt x="158" y="1053"/>
                  <a:pt x="145" y="1049"/>
                  <a:pt x="132" y="1043"/>
                </a:cubicBezTo>
                <a:cubicBezTo>
                  <a:pt x="119" y="1038"/>
                  <a:pt x="107" y="1032"/>
                  <a:pt x="95" y="1024"/>
                </a:cubicBezTo>
                <a:cubicBezTo>
                  <a:pt x="84" y="1016"/>
                  <a:pt x="73" y="1007"/>
                  <a:pt x="63" y="998"/>
                </a:cubicBezTo>
                <a:cubicBezTo>
                  <a:pt x="53" y="988"/>
                  <a:pt x="44" y="977"/>
                  <a:pt x="37" y="966"/>
                </a:cubicBezTo>
                <a:cubicBezTo>
                  <a:pt x="29" y="954"/>
                  <a:pt x="22" y="942"/>
                  <a:pt x="17" y="929"/>
                </a:cubicBezTo>
                <a:cubicBezTo>
                  <a:pt x="12" y="916"/>
                  <a:pt x="8" y="903"/>
                  <a:pt x="5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372759" y="401094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3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757599" y="3953700"/>
            <a:ext cx="244727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Advanced Batch Correction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757599" y="4294620"/>
            <a:ext cx="628537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Leverage detailed brain-region metadata and explore advanced methods like</a:t>
            </a:r>
          </a:p>
        </p:txBody>
      </p:sp>
      <p:sp>
        <p:nvSpPr>
          <p:cNvPr id="515" name="Free-form: Shape 514"/>
          <p:cNvSpPr/>
          <p:nvPr/>
        </p:nvSpPr>
        <p:spPr>
          <a:xfrm>
            <a:off x="887387" y="5062500"/>
            <a:ext cx="10733413" cy="640620"/>
          </a:xfrm>
          <a:custGeom>
            <a:avLst/>
            <a:gdLst/>
            <a:ahLst/>
            <a:cxnLst/>
            <a:rect l="0" t="0" r="r" b="b"/>
            <a:pathLst>
              <a:path w="14818" h="2435">
                <a:moveTo>
                  <a:pt x="0" y="2223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4"/>
                </a:cubicBezTo>
                <a:cubicBezTo>
                  <a:pt x="14661" y="7"/>
                  <a:pt x="14674" y="11"/>
                  <a:pt x="14687" y="16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2"/>
                  <a:pt x="14756" y="62"/>
                </a:cubicBezTo>
                <a:cubicBezTo>
                  <a:pt x="14765" y="72"/>
                  <a:pt x="14774" y="83"/>
                  <a:pt x="14782" y="94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4"/>
                  <a:pt x="14818" y="198"/>
                  <a:pt x="14818" y="212"/>
                </a:cubicBezTo>
                <a:lnTo>
                  <a:pt x="14818" y="2223"/>
                </a:lnTo>
                <a:cubicBezTo>
                  <a:pt x="14818" y="2237"/>
                  <a:pt x="14816" y="2250"/>
                  <a:pt x="14814" y="2264"/>
                </a:cubicBezTo>
                <a:cubicBezTo>
                  <a:pt x="14811" y="2278"/>
                  <a:pt x="14807" y="2291"/>
                  <a:pt x="14802" y="2304"/>
                </a:cubicBezTo>
                <a:cubicBezTo>
                  <a:pt x="14796" y="2317"/>
                  <a:pt x="14790" y="2329"/>
                  <a:pt x="14782" y="2340"/>
                </a:cubicBezTo>
                <a:cubicBezTo>
                  <a:pt x="14774" y="2352"/>
                  <a:pt x="14765" y="2363"/>
                  <a:pt x="14756" y="2372"/>
                </a:cubicBezTo>
                <a:cubicBezTo>
                  <a:pt x="14746" y="2382"/>
                  <a:pt x="14735" y="2391"/>
                  <a:pt x="14724" y="2399"/>
                </a:cubicBezTo>
                <a:cubicBezTo>
                  <a:pt x="14712" y="2406"/>
                  <a:pt x="14700" y="2413"/>
                  <a:pt x="14687" y="2418"/>
                </a:cubicBezTo>
                <a:cubicBezTo>
                  <a:pt x="14674" y="2424"/>
                  <a:pt x="14661" y="2428"/>
                  <a:pt x="14647" y="2430"/>
                </a:cubicBezTo>
                <a:cubicBezTo>
                  <a:pt x="14634" y="2433"/>
                  <a:pt x="14620" y="2435"/>
                  <a:pt x="14606" y="2435"/>
                </a:cubicBezTo>
                <a:lnTo>
                  <a:pt x="212" y="2435"/>
                </a:lnTo>
                <a:cubicBezTo>
                  <a:pt x="198" y="2435"/>
                  <a:pt x="184" y="2433"/>
                  <a:pt x="170" y="2430"/>
                </a:cubicBezTo>
                <a:cubicBezTo>
                  <a:pt x="157" y="2428"/>
                  <a:pt x="144" y="2424"/>
                  <a:pt x="131" y="2418"/>
                </a:cubicBezTo>
                <a:cubicBezTo>
                  <a:pt x="118" y="2413"/>
                  <a:pt x="106" y="2406"/>
                  <a:pt x="94" y="2399"/>
                </a:cubicBezTo>
                <a:cubicBezTo>
                  <a:pt x="83" y="2391"/>
                  <a:pt x="72" y="2382"/>
                  <a:pt x="62" y="2372"/>
                </a:cubicBezTo>
                <a:cubicBezTo>
                  <a:pt x="52" y="2363"/>
                  <a:pt x="43" y="2352"/>
                  <a:pt x="36" y="2340"/>
                </a:cubicBezTo>
                <a:cubicBezTo>
                  <a:pt x="28" y="2329"/>
                  <a:pt x="21" y="2317"/>
                  <a:pt x="16" y="2304"/>
                </a:cubicBezTo>
                <a:cubicBezTo>
                  <a:pt x="11" y="2291"/>
                  <a:pt x="7" y="2278"/>
                  <a:pt x="4" y="2264"/>
                </a:cubicBezTo>
                <a:cubicBezTo>
                  <a:pt x="1" y="2250"/>
                  <a:pt x="0" y="2237"/>
                  <a:pt x="0" y="2223"/>
                </a:cubicBezTo>
                <a:close/>
              </a:path>
            </a:pathLst>
          </a:custGeom>
          <a:solidFill>
            <a:srgbClr val="F5E6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757599" y="4542300"/>
            <a:ext cx="294420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Harmony and RUV for HD datasets</a:t>
            </a:r>
          </a:p>
        </p:txBody>
      </p:sp>
      <p:sp>
        <p:nvSpPr>
          <p:cNvPr id="517" name="Free-form: Shape 516"/>
          <p:cNvSpPr/>
          <p:nvPr/>
        </p:nvSpPr>
        <p:spPr>
          <a:xfrm>
            <a:off x="5939079" y="178326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7"/>
                  <a:pt x="28" y="105"/>
                  <a:pt x="36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847" y="0"/>
                </a:lnTo>
                <a:cubicBezTo>
                  <a:pt x="861" y="0"/>
                  <a:pt x="874" y="1"/>
                  <a:pt x="888" y="4"/>
                </a:cubicBezTo>
                <a:cubicBezTo>
                  <a:pt x="902" y="6"/>
                  <a:pt x="915" y="10"/>
                  <a:pt x="928" y="16"/>
                </a:cubicBezTo>
                <a:cubicBezTo>
                  <a:pt x="941" y="21"/>
                  <a:pt x="953" y="28"/>
                  <a:pt x="964" y="35"/>
                </a:cubicBezTo>
                <a:cubicBezTo>
                  <a:pt x="976" y="43"/>
                  <a:pt x="987" y="52"/>
                  <a:pt x="996" y="62"/>
                </a:cubicBezTo>
                <a:cubicBezTo>
                  <a:pt x="1006" y="71"/>
                  <a:pt x="1015" y="82"/>
                  <a:pt x="1023" y="94"/>
                </a:cubicBezTo>
                <a:cubicBezTo>
                  <a:pt x="1030" y="105"/>
                  <a:pt x="1037" y="117"/>
                  <a:pt x="1042" y="130"/>
                </a:cubicBezTo>
                <a:cubicBezTo>
                  <a:pt x="1048" y="143"/>
                  <a:pt x="1052" y="156"/>
                  <a:pt x="1055" y="170"/>
                </a:cubicBezTo>
                <a:cubicBezTo>
                  <a:pt x="1058" y="184"/>
                  <a:pt x="1059" y="197"/>
                  <a:pt x="1059" y="211"/>
                </a:cubicBezTo>
                <a:lnTo>
                  <a:pt x="1059" y="847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2" y="902"/>
                  <a:pt x="1048" y="915"/>
                  <a:pt x="1042" y="928"/>
                </a:cubicBezTo>
                <a:cubicBezTo>
                  <a:pt x="1037" y="941"/>
                  <a:pt x="1030" y="953"/>
                  <a:pt x="1023" y="965"/>
                </a:cubicBezTo>
                <a:cubicBezTo>
                  <a:pt x="1015" y="976"/>
                  <a:pt x="1006" y="987"/>
                  <a:pt x="996" y="997"/>
                </a:cubicBezTo>
                <a:cubicBezTo>
                  <a:pt x="987" y="1007"/>
                  <a:pt x="976" y="1016"/>
                  <a:pt x="964" y="1023"/>
                </a:cubicBezTo>
                <a:cubicBezTo>
                  <a:pt x="953" y="1031"/>
                  <a:pt x="941" y="1037"/>
                  <a:pt x="928" y="1043"/>
                </a:cubicBezTo>
                <a:cubicBezTo>
                  <a:pt x="915" y="1048"/>
                  <a:pt x="902" y="1052"/>
                  <a:pt x="888" y="1055"/>
                </a:cubicBezTo>
                <a:cubicBezTo>
                  <a:pt x="874" y="1058"/>
                  <a:pt x="861" y="1059"/>
                  <a:pt x="847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7"/>
                  <a:pt x="106" y="1031"/>
                  <a:pt x="94" y="1023"/>
                </a:cubicBezTo>
                <a:cubicBezTo>
                  <a:pt x="83" y="1016"/>
                  <a:pt x="72" y="1007"/>
                  <a:pt x="62" y="997"/>
                </a:cubicBezTo>
                <a:cubicBezTo>
                  <a:pt x="52" y="987"/>
                  <a:pt x="43" y="976"/>
                  <a:pt x="36" y="965"/>
                </a:cubicBezTo>
                <a:cubicBezTo>
                  <a:pt x="28" y="953"/>
                  <a:pt x="21" y="941"/>
                  <a:pt x="16" y="928"/>
                </a:cubicBezTo>
                <a:cubicBezTo>
                  <a:pt x="11" y="915"/>
                  <a:pt x="7" y="902"/>
                  <a:pt x="4" y="889"/>
                </a:cubicBezTo>
                <a:cubicBezTo>
                  <a:pt x="1" y="875"/>
                  <a:pt x="0" y="861"/>
                  <a:pt x="0" y="847"/>
                </a:cubicBezTo>
                <a:close/>
              </a:path>
            </a:pathLst>
          </a:custGeom>
          <a:solidFill>
            <a:srgbClr val="E8F1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8" name="TextBox 517"/>
          <p:cNvSpPr txBox="1"/>
          <p:nvPr/>
        </p:nvSpPr>
        <p:spPr>
          <a:xfrm>
            <a:off x="5939079" y="1393380"/>
            <a:ext cx="343940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Cross-Disease Integration &amp; Validation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6083439" y="187722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4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6472599" y="1820340"/>
            <a:ext cx="216726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Multi-Omics Integration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6468999" y="2149825"/>
            <a:ext cx="5614297" cy="14773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Strengthen HD-lung cancer comparisons through meta-analysis, 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network-based approaches (WGCNA, STRING), and proteomics/metabolomics data</a:t>
            </a:r>
          </a:p>
          <a:p>
            <a:endParaRPr lang="en-US" sz="1600" dirty="0">
              <a:latin typeface="Times New Roman" panose="02020603050405020304" charset="0"/>
              <a:ea typeface="CrimsonPro"/>
              <a:cs typeface="Times New Roman" panose="02020603050405020304" charset="0"/>
            </a:endParaRPr>
          </a:p>
          <a:p>
            <a:endParaRPr lang="en-US" sz="1600" dirty="0">
              <a:latin typeface="Times New Roman" panose="02020603050405020304" charset="0"/>
              <a:ea typeface="CrimsonPro"/>
              <a:cs typeface="Times New Roman" panose="02020603050405020304" charset="0"/>
            </a:endParaRPr>
          </a:p>
          <a:p>
            <a:endParaRPr lang="en-US" sz="1600" b="0" u="none" strike="noStrike" dirty="0">
              <a:effectLst/>
              <a:uFillTx/>
              <a:latin typeface="Times New Roman" panose="02020603050405020304" charset="0"/>
              <a:ea typeface="CrimsonPro"/>
              <a:cs typeface="Times New Roman" panose="02020603050405020304" charset="0"/>
            </a:endParaRPr>
          </a:p>
        </p:txBody>
      </p:sp>
      <p:sp>
        <p:nvSpPr>
          <p:cNvPr id="522" name="Free-form: Shape 521"/>
          <p:cNvSpPr/>
          <p:nvPr/>
        </p:nvSpPr>
        <p:spPr>
          <a:xfrm>
            <a:off x="5926689" y="28499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847" y="0"/>
                </a:lnTo>
                <a:cubicBezTo>
                  <a:pt x="861" y="0"/>
                  <a:pt x="874" y="1"/>
                  <a:pt x="888" y="4"/>
                </a:cubicBezTo>
                <a:cubicBezTo>
                  <a:pt x="902" y="7"/>
                  <a:pt x="915" y="11"/>
                  <a:pt x="928" y="16"/>
                </a:cubicBezTo>
                <a:cubicBezTo>
                  <a:pt x="941" y="21"/>
                  <a:pt x="953" y="28"/>
                  <a:pt x="964" y="36"/>
                </a:cubicBezTo>
                <a:cubicBezTo>
                  <a:pt x="976" y="43"/>
                  <a:pt x="987" y="52"/>
                  <a:pt x="996" y="62"/>
                </a:cubicBezTo>
                <a:cubicBezTo>
                  <a:pt x="1006" y="72"/>
                  <a:pt x="1015" y="82"/>
                  <a:pt x="1023" y="94"/>
                </a:cubicBezTo>
                <a:cubicBezTo>
                  <a:pt x="1030" y="106"/>
                  <a:pt x="1037" y="118"/>
                  <a:pt x="1042" y="131"/>
                </a:cubicBezTo>
                <a:cubicBezTo>
                  <a:pt x="1048" y="143"/>
                  <a:pt x="1052" y="157"/>
                  <a:pt x="1055" y="170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7"/>
                </a:lnTo>
                <a:cubicBezTo>
                  <a:pt x="1059" y="860"/>
                  <a:pt x="1058" y="874"/>
                  <a:pt x="1055" y="888"/>
                </a:cubicBezTo>
                <a:cubicBezTo>
                  <a:pt x="1052" y="902"/>
                  <a:pt x="1048" y="915"/>
                  <a:pt x="1042" y="928"/>
                </a:cubicBezTo>
                <a:cubicBezTo>
                  <a:pt x="1037" y="940"/>
                  <a:pt x="1030" y="953"/>
                  <a:pt x="1023" y="964"/>
                </a:cubicBezTo>
                <a:cubicBezTo>
                  <a:pt x="1015" y="976"/>
                  <a:pt x="1006" y="986"/>
                  <a:pt x="996" y="996"/>
                </a:cubicBezTo>
                <a:cubicBezTo>
                  <a:pt x="987" y="1007"/>
                  <a:pt x="976" y="1016"/>
                  <a:pt x="964" y="1024"/>
                </a:cubicBezTo>
                <a:cubicBezTo>
                  <a:pt x="953" y="1031"/>
                  <a:pt x="941" y="1038"/>
                  <a:pt x="928" y="1043"/>
                </a:cubicBezTo>
                <a:cubicBezTo>
                  <a:pt x="915" y="1048"/>
                  <a:pt x="902" y="1052"/>
                  <a:pt x="888" y="1055"/>
                </a:cubicBezTo>
                <a:cubicBezTo>
                  <a:pt x="874" y="1058"/>
                  <a:pt x="861" y="1059"/>
                  <a:pt x="847" y="1059"/>
                </a:cubicBezTo>
                <a:lnTo>
                  <a:pt x="212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4" y="1048"/>
                  <a:pt x="131" y="1043"/>
                </a:cubicBezTo>
                <a:cubicBezTo>
                  <a:pt x="118" y="1038"/>
                  <a:pt x="106" y="1031"/>
                  <a:pt x="94" y="1024"/>
                </a:cubicBezTo>
                <a:cubicBezTo>
                  <a:pt x="83" y="1016"/>
                  <a:pt x="72" y="1007"/>
                  <a:pt x="62" y="996"/>
                </a:cubicBezTo>
                <a:cubicBezTo>
                  <a:pt x="52" y="986"/>
                  <a:pt x="43" y="976"/>
                  <a:pt x="36" y="964"/>
                </a:cubicBezTo>
                <a:cubicBezTo>
                  <a:pt x="28" y="953"/>
                  <a:pt x="21" y="940"/>
                  <a:pt x="16" y="928"/>
                </a:cubicBezTo>
                <a:cubicBezTo>
                  <a:pt x="11" y="915"/>
                  <a:pt x="7" y="902"/>
                  <a:pt x="4" y="888"/>
                </a:cubicBezTo>
                <a:cubicBezTo>
                  <a:pt x="1" y="874"/>
                  <a:pt x="0" y="860"/>
                  <a:pt x="0" y="847"/>
                </a:cubicBezTo>
                <a:close/>
              </a:path>
            </a:pathLst>
          </a:custGeom>
          <a:solidFill>
            <a:srgbClr val="E8F1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4" name="TextBox 523"/>
          <p:cNvSpPr txBox="1"/>
          <p:nvPr/>
        </p:nvSpPr>
        <p:spPr>
          <a:xfrm>
            <a:off x="6087759" y="2944260"/>
            <a:ext cx="10259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5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6472599" y="2887020"/>
            <a:ext cx="215270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Experimental Validation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6468999" y="3215036"/>
            <a:ext cx="5304461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Perform qPCR validation and literature-supported functional tests for 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key DEGs and pathways identified in the analysis</a:t>
            </a:r>
          </a:p>
          <a:p>
            <a:endParaRPr lang="en-US" sz="1600" b="0" u="none" strike="noStrike" dirty="0">
              <a:effectLst/>
              <a:uFillTx/>
              <a:latin typeface="Times New Roman" panose="02020603050405020304" charset="0"/>
              <a:ea typeface="CrimsonPro"/>
              <a:cs typeface="Times New Roman" panose="02020603050405020304" charset="0"/>
            </a:endParaRPr>
          </a:p>
        </p:txBody>
      </p:sp>
      <p:sp>
        <p:nvSpPr>
          <p:cNvPr id="528" name="TextBox 527"/>
          <p:cNvSpPr txBox="1"/>
          <p:nvPr/>
        </p:nvSpPr>
        <p:spPr>
          <a:xfrm>
            <a:off x="1044187" y="5191399"/>
            <a:ext cx="10576613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Goal: Build a robust, validated framework for systematic multi-disease</a:t>
            </a:r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transcriptomic analysis with clinical translation potential</a:t>
            </a:r>
          </a:p>
          <a:p>
            <a:endParaRPr lang="en-US" sz="1600" b="0" u="none" strike="noStrike" dirty="0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9" name="Free-form: Shape 528"/>
          <p:cNvSpPr/>
          <p:nvPr/>
        </p:nvSpPr>
        <p:spPr>
          <a:xfrm>
            <a:off x="571320" y="5895720"/>
            <a:ext cx="11049480" cy="10080"/>
          </a:xfrm>
          <a:custGeom>
            <a:avLst/>
            <a:gdLst/>
            <a:ahLst/>
            <a:cxnLst/>
            <a:rect l="0" t="0" r="r" b="b"/>
            <a:pathLst>
              <a:path w="30693" h="28">
                <a:moveTo>
                  <a:pt x="0" y="0"/>
                </a:moveTo>
                <a:lnTo>
                  <a:pt x="30693" y="0"/>
                </a:lnTo>
                <a:lnTo>
                  <a:pt x="306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11487960" y="60832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Free-form: Shape 5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5" name="Free-form: Shape 534"/>
          <p:cNvSpPr/>
          <p:nvPr/>
        </p:nvSpPr>
        <p:spPr>
          <a:xfrm>
            <a:off x="571320" y="106668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6" name="Free-form: Shape 535"/>
          <p:cNvSpPr/>
          <p:nvPr/>
        </p:nvSpPr>
        <p:spPr>
          <a:xfrm>
            <a:off x="590040" y="2208858"/>
            <a:ext cx="8553960" cy="1400760"/>
          </a:xfrm>
          <a:custGeom>
            <a:avLst/>
            <a:gdLst/>
            <a:ahLst/>
            <a:cxnLst/>
            <a:rect l="0" t="0" r="r" b="b"/>
            <a:pathLst>
              <a:path w="23761" h="3891">
                <a:moveTo>
                  <a:pt x="0" y="3679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6" y="157"/>
                  <a:pt x="9" y="144"/>
                  <a:pt x="13" y="131"/>
                </a:cubicBezTo>
                <a:cubicBezTo>
                  <a:pt x="17" y="118"/>
                  <a:pt x="21" y="106"/>
                  <a:pt x="27" y="95"/>
                </a:cubicBezTo>
                <a:cubicBezTo>
                  <a:pt x="33" y="83"/>
                  <a:pt x="40" y="72"/>
                  <a:pt x="47" y="62"/>
                </a:cubicBezTo>
                <a:cubicBezTo>
                  <a:pt x="54" y="53"/>
                  <a:pt x="62" y="44"/>
                  <a:pt x="71" y="36"/>
                </a:cubicBezTo>
                <a:cubicBezTo>
                  <a:pt x="80" y="28"/>
                  <a:pt x="89" y="22"/>
                  <a:pt x="98" y="17"/>
                </a:cubicBezTo>
                <a:cubicBezTo>
                  <a:pt x="108" y="11"/>
                  <a:pt x="118" y="7"/>
                  <a:pt x="128" y="5"/>
                </a:cubicBezTo>
                <a:cubicBezTo>
                  <a:pt x="139" y="2"/>
                  <a:pt x="149" y="0"/>
                  <a:pt x="159" y="0"/>
                </a:cubicBezTo>
                <a:lnTo>
                  <a:pt x="23549" y="0"/>
                </a:lnTo>
                <a:cubicBezTo>
                  <a:pt x="23563" y="0"/>
                  <a:pt x="23577" y="2"/>
                  <a:pt x="23591" y="5"/>
                </a:cubicBezTo>
                <a:cubicBezTo>
                  <a:pt x="23604" y="7"/>
                  <a:pt x="23618" y="11"/>
                  <a:pt x="23630" y="17"/>
                </a:cubicBezTo>
                <a:cubicBezTo>
                  <a:pt x="23643" y="22"/>
                  <a:pt x="23655" y="28"/>
                  <a:pt x="23667" y="36"/>
                </a:cubicBezTo>
                <a:cubicBezTo>
                  <a:pt x="23679" y="44"/>
                  <a:pt x="23689" y="53"/>
                  <a:pt x="23699" y="62"/>
                </a:cubicBezTo>
                <a:cubicBezTo>
                  <a:pt x="23709" y="72"/>
                  <a:pt x="23718" y="83"/>
                  <a:pt x="23725" y="95"/>
                </a:cubicBezTo>
                <a:cubicBezTo>
                  <a:pt x="23733" y="106"/>
                  <a:pt x="23740" y="118"/>
                  <a:pt x="23745" y="131"/>
                </a:cubicBezTo>
                <a:cubicBezTo>
                  <a:pt x="23750" y="144"/>
                  <a:pt x="23754" y="157"/>
                  <a:pt x="23757" y="171"/>
                </a:cubicBezTo>
                <a:cubicBezTo>
                  <a:pt x="23760" y="185"/>
                  <a:pt x="23761" y="198"/>
                  <a:pt x="23761" y="212"/>
                </a:cubicBezTo>
                <a:lnTo>
                  <a:pt x="23761" y="3679"/>
                </a:lnTo>
                <a:cubicBezTo>
                  <a:pt x="23761" y="3693"/>
                  <a:pt x="23760" y="3707"/>
                  <a:pt x="23757" y="3721"/>
                </a:cubicBezTo>
                <a:cubicBezTo>
                  <a:pt x="23754" y="3734"/>
                  <a:pt x="23750" y="3747"/>
                  <a:pt x="23745" y="3760"/>
                </a:cubicBezTo>
                <a:cubicBezTo>
                  <a:pt x="23740" y="3773"/>
                  <a:pt x="23733" y="3785"/>
                  <a:pt x="23725" y="3797"/>
                </a:cubicBezTo>
                <a:cubicBezTo>
                  <a:pt x="23718" y="3808"/>
                  <a:pt x="23709" y="3819"/>
                  <a:pt x="23699" y="3829"/>
                </a:cubicBezTo>
                <a:cubicBezTo>
                  <a:pt x="23689" y="3839"/>
                  <a:pt x="23679" y="3847"/>
                  <a:pt x="23667" y="3855"/>
                </a:cubicBezTo>
                <a:cubicBezTo>
                  <a:pt x="23655" y="3863"/>
                  <a:pt x="23643" y="3869"/>
                  <a:pt x="23630" y="3875"/>
                </a:cubicBezTo>
                <a:cubicBezTo>
                  <a:pt x="23618" y="3880"/>
                  <a:pt x="23604" y="3884"/>
                  <a:pt x="23591" y="3887"/>
                </a:cubicBezTo>
                <a:cubicBezTo>
                  <a:pt x="23577" y="3890"/>
                  <a:pt x="23563" y="3891"/>
                  <a:pt x="23549" y="3891"/>
                </a:cubicBezTo>
                <a:lnTo>
                  <a:pt x="159" y="3891"/>
                </a:lnTo>
                <a:cubicBezTo>
                  <a:pt x="149" y="3891"/>
                  <a:pt x="139" y="3890"/>
                  <a:pt x="128" y="3887"/>
                </a:cubicBezTo>
                <a:cubicBezTo>
                  <a:pt x="118" y="3884"/>
                  <a:pt x="108" y="3880"/>
                  <a:pt x="98" y="3875"/>
                </a:cubicBezTo>
                <a:cubicBezTo>
                  <a:pt x="89" y="3869"/>
                  <a:pt x="80" y="3863"/>
                  <a:pt x="71" y="3855"/>
                </a:cubicBezTo>
                <a:cubicBezTo>
                  <a:pt x="62" y="3847"/>
                  <a:pt x="54" y="3839"/>
                  <a:pt x="47" y="3829"/>
                </a:cubicBezTo>
                <a:cubicBezTo>
                  <a:pt x="40" y="3819"/>
                  <a:pt x="33" y="3808"/>
                  <a:pt x="27" y="3797"/>
                </a:cubicBezTo>
                <a:cubicBezTo>
                  <a:pt x="21" y="3785"/>
                  <a:pt x="17" y="3773"/>
                  <a:pt x="13" y="3760"/>
                </a:cubicBezTo>
                <a:cubicBezTo>
                  <a:pt x="9" y="3747"/>
                  <a:pt x="6" y="3734"/>
                  <a:pt x="4" y="3721"/>
                </a:cubicBezTo>
                <a:cubicBezTo>
                  <a:pt x="2" y="3707"/>
                  <a:pt x="0" y="3693"/>
                  <a:pt x="0" y="3679"/>
                </a:cubicBez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7" name="Free-form: Shape 536"/>
          <p:cNvSpPr/>
          <p:nvPr/>
        </p:nvSpPr>
        <p:spPr>
          <a:xfrm>
            <a:off x="571320" y="2208858"/>
            <a:ext cx="76320" cy="1400760"/>
          </a:xfrm>
          <a:custGeom>
            <a:avLst/>
            <a:gdLst/>
            <a:ahLst/>
            <a:cxnLst/>
            <a:rect l="0" t="0" r="r" b="b"/>
            <a:pathLst>
              <a:path w="212" h="3891">
                <a:moveTo>
                  <a:pt x="0" y="0"/>
                </a:moveTo>
                <a:lnTo>
                  <a:pt x="212" y="0"/>
                </a:lnTo>
                <a:lnTo>
                  <a:pt x="212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8" name="Free-form: Shape 537"/>
          <p:cNvSpPr/>
          <p:nvPr/>
        </p:nvSpPr>
        <p:spPr>
          <a:xfrm>
            <a:off x="590040" y="3837858"/>
            <a:ext cx="8553960" cy="1391040"/>
          </a:xfrm>
          <a:custGeom>
            <a:avLst/>
            <a:gdLst/>
            <a:ahLst/>
            <a:cxnLst/>
            <a:rect l="0" t="0" r="r" b="b"/>
            <a:pathLst>
              <a:path w="23761" h="3864">
                <a:moveTo>
                  <a:pt x="0" y="3652"/>
                </a:moveTo>
                <a:lnTo>
                  <a:pt x="0" y="212"/>
                </a:lnTo>
                <a:cubicBezTo>
                  <a:pt x="0" y="198"/>
                  <a:pt x="2" y="184"/>
                  <a:pt x="4" y="170"/>
                </a:cubicBezTo>
                <a:cubicBezTo>
                  <a:pt x="6" y="157"/>
                  <a:pt x="9" y="143"/>
                  <a:pt x="13" y="131"/>
                </a:cubicBezTo>
                <a:cubicBezTo>
                  <a:pt x="17" y="118"/>
                  <a:pt x="21" y="106"/>
                  <a:pt x="27" y="94"/>
                </a:cubicBezTo>
                <a:cubicBezTo>
                  <a:pt x="33" y="82"/>
                  <a:pt x="40" y="72"/>
                  <a:pt x="47" y="62"/>
                </a:cubicBezTo>
                <a:cubicBezTo>
                  <a:pt x="54" y="52"/>
                  <a:pt x="62" y="43"/>
                  <a:pt x="71" y="36"/>
                </a:cubicBezTo>
                <a:cubicBezTo>
                  <a:pt x="80" y="28"/>
                  <a:pt x="89" y="21"/>
                  <a:pt x="98" y="16"/>
                </a:cubicBezTo>
                <a:cubicBezTo>
                  <a:pt x="108" y="11"/>
                  <a:pt x="118" y="7"/>
                  <a:pt x="128" y="4"/>
                </a:cubicBezTo>
                <a:cubicBezTo>
                  <a:pt x="139" y="1"/>
                  <a:pt x="149" y="0"/>
                  <a:pt x="159" y="0"/>
                </a:cubicBezTo>
                <a:lnTo>
                  <a:pt x="23549" y="0"/>
                </a:lnTo>
                <a:cubicBezTo>
                  <a:pt x="23563" y="0"/>
                  <a:pt x="23577" y="1"/>
                  <a:pt x="23591" y="4"/>
                </a:cubicBezTo>
                <a:cubicBezTo>
                  <a:pt x="23604" y="7"/>
                  <a:pt x="23618" y="11"/>
                  <a:pt x="23630" y="16"/>
                </a:cubicBezTo>
                <a:cubicBezTo>
                  <a:pt x="23643" y="21"/>
                  <a:pt x="23655" y="28"/>
                  <a:pt x="23667" y="36"/>
                </a:cubicBezTo>
                <a:cubicBezTo>
                  <a:pt x="23679" y="43"/>
                  <a:pt x="23689" y="52"/>
                  <a:pt x="23699" y="62"/>
                </a:cubicBezTo>
                <a:cubicBezTo>
                  <a:pt x="23709" y="72"/>
                  <a:pt x="23718" y="82"/>
                  <a:pt x="23725" y="94"/>
                </a:cubicBezTo>
                <a:cubicBezTo>
                  <a:pt x="23733" y="105"/>
                  <a:pt x="23740" y="118"/>
                  <a:pt x="23745" y="131"/>
                </a:cubicBezTo>
                <a:cubicBezTo>
                  <a:pt x="23750" y="143"/>
                  <a:pt x="23754" y="157"/>
                  <a:pt x="23757" y="170"/>
                </a:cubicBezTo>
                <a:cubicBezTo>
                  <a:pt x="23760" y="184"/>
                  <a:pt x="23761" y="198"/>
                  <a:pt x="23761" y="212"/>
                </a:cubicBezTo>
                <a:lnTo>
                  <a:pt x="23761" y="3652"/>
                </a:lnTo>
                <a:cubicBezTo>
                  <a:pt x="23761" y="3666"/>
                  <a:pt x="23760" y="3680"/>
                  <a:pt x="23757" y="3693"/>
                </a:cubicBezTo>
                <a:cubicBezTo>
                  <a:pt x="23754" y="3707"/>
                  <a:pt x="23750" y="3720"/>
                  <a:pt x="23745" y="3733"/>
                </a:cubicBezTo>
                <a:cubicBezTo>
                  <a:pt x="23740" y="3746"/>
                  <a:pt x="23733" y="3758"/>
                  <a:pt x="23725" y="3770"/>
                </a:cubicBezTo>
                <a:cubicBezTo>
                  <a:pt x="23718" y="3781"/>
                  <a:pt x="23709" y="3792"/>
                  <a:pt x="23699" y="3802"/>
                </a:cubicBezTo>
                <a:cubicBezTo>
                  <a:pt x="23689" y="3812"/>
                  <a:pt x="23679" y="3820"/>
                  <a:pt x="23667" y="3828"/>
                </a:cubicBezTo>
                <a:cubicBezTo>
                  <a:pt x="23655" y="3836"/>
                  <a:pt x="23643" y="3842"/>
                  <a:pt x="23630" y="3848"/>
                </a:cubicBezTo>
                <a:cubicBezTo>
                  <a:pt x="23618" y="3853"/>
                  <a:pt x="23604" y="3857"/>
                  <a:pt x="23591" y="3860"/>
                </a:cubicBezTo>
                <a:cubicBezTo>
                  <a:pt x="23577" y="3862"/>
                  <a:pt x="23563" y="3864"/>
                  <a:pt x="23549" y="3864"/>
                </a:cubicBezTo>
                <a:lnTo>
                  <a:pt x="159" y="3864"/>
                </a:lnTo>
                <a:cubicBezTo>
                  <a:pt x="149" y="3864"/>
                  <a:pt x="139" y="3862"/>
                  <a:pt x="128" y="3860"/>
                </a:cubicBezTo>
                <a:cubicBezTo>
                  <a:pt x="118" y="3857"/>
                  <a:pt x="108" y="3853"/>
                  <a:pt x="98" y="3848"/>
                </a:cubicBezTo>
                <a:cubicBezTo>
                  <a:pt x="89" y="3842"/>
                  <a:pt x="80" y="3836"/>
                  <a:pt x="71" y="3828"/>
                </a:cubicBezTo>
                <a:cubicBezTo>
                  <a:pt x="62" y="3820"/>
                  <a:pt x="54" y="3812"/>
                  <a:pt x="47" y="3802"/>
                </a:cubicBezTo>
                <a:cubicBezTo>
                  <a:pt x="40" y="3792"/>
                  <a:pt x="33" y="3781"/>
                  <a:pt x="27" y="3770"/>
                </a:cubicBezTo>
                <a:cubicBezTo>
                  <a:pt x="21" y="3758"/>
                  <a:pt x="17" y="3746"/>
                  <a:pt x="13" y="3733"/>
                </a:cubicBezTo>
                <a:cubicBezTo>
                  <a:pt x="9" y="3720"/>
                  <a:pt x="6" y="3707"/>
                  <a:pt x="4" y="3693"/>
                </a:cubicBezTo>
                <a:cubicBezTo>
                  <a:pt x="2" y="3680"/>
                  <a:pt x="0" y="3666"/>
                  <a:pt x="0" y="3652"/>
                </a:cubicBez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9" name="Free-form: Shape 538"/>
          <p:cNvSpPr/>
          <p:nvPr/>
        </p:nvSpPr>
        <p:spPr>
          <a:xfrm>
            <a:off x="571320" y="3837858"/>
            <a:ext cx="76320" cy="1391040"/>
          </a:xfrm>
          <a:custGeom>
            <a:avLst/>
            <a:gdLst/>
            <a:ahLst/>
            <a:cxnLst/>
            <a:rect l="0" t="0" r="r" b="b"/>
            <a:pathLst>
              <a:path w="212" h="3864">
                <a:moveTo>
                  <a:pt x="0" y="0"/>
                </a:moveTo>
                <a:lnTo>
                  <a:pt x="212" y="0"/>
                </a:lnTo>
                <a:lnTo>
                  <a:pt x="212" y="3864"/>
                </a:lnTo>
                <a:lnTo>
                  <a:pt x="0" y="3864"/>
                </a:lnTo>
                <a:lnTo>
                  <a:pt x="0" y="0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1600" b="0" u="none" strike="noStrike"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2" name="TextBox 541"/>
          <p:cNvSpPr txBox="1"/>
          <p:nvPr/>
        </p:nvSpPr>
        <p:spPr>
          <a:xfrm>
            <a:off x="571320" y="569160"/>
            <a:ext cx="3101811" cy="492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200" b="0" u="none" strike="noStrike" dirty="0"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Acknowledgement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571320" y="1312439"/>
            <a:ext cx="9970556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would not have been possible without the unwavering support and collaborative efforts of our group members. It was truly a pleasure working together as a team.</a:t>
            </a:r>
          </a:p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 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38080" y="2466978"/>
            <a:ext cx="177612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Research Supervisors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01875" y="2971319"/>
            <a:ext cx="9640001" cy="492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We extend our deepest gratitude for their invaluable mentorship, expertise, and consistent support throughout this project. Their guidance greatly shaped both the  direction and the overall quality of this research project.</a:t>
            </a:r>
            <a:endParaRPr lang="en-US" sz="1600" b="0" u="none" strike="noStrike" dirty="0">
              <a:effectLst/>
              <a:uFillTx/>
              <a:latin typeface="Times New Roman" panose="02020603050405020304" charset="0"/>
              <a:ea typeface="CrimsonPro"/>
              <a:cs typeface="Times New Roman" panose="02020603050405020304" charset="0"/>
            </a:endParaRPr>
          </a:p>
        </p:txBody>
      </p:sp>
      <p:sp>
        <p:nvSpPr>
          <p:cNvPr id="548" name="TextBox 547"/>
          <p:cNvSpPr txBox="1"/>
          <p:nvPr/>
        </p:nvSpPr>
        <p:spPr>
          <a:xfrm>
            <a:off x="838080" y="4095978"/>
            <a:ext cx="266220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00" b="0" u="none" strike="noStrike" dirty="0">
                <a:solidFill>
                  <a:srgbClr val="EE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Collaborators &amp; Team Members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38080" y="4613553"/>
            <a:ext cx="9703796" cy="5029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Times New Roman" panose="02020603050405020304" charset="0"/>
                <a:ea typeface="CrimsonPro"/>
                <a:cs typeface="Times New Roman" panose="02020603050405020304" charset="0"/>
              </a:rPr>
              <a:t>We sincerely appreciate their technical assistance, insightful discussions, and collaborative spirit. Their contributions enriched this work and helped create a productive and inspiring research environment.</a:t>
            </a:r>
            <a:endParaRPr lang="en-US" sz="1600" b="0" u="none" strike="noStrike" dirty="0">
              <a:effectLst/>
              <a:uFillTx/>
              <a:latin typeface="Times New Roman" panose="02020603050405020304" charset="0"/>
              <a:ea typeface="CrimsonPro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Free-form: Shape 5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6" name="Free-form: Shape 555"/>
          <p:cNvSpPr/>
          <p:nvPr/>
        </p:nvSpPr>
        <p:spPr>
          <a:xfrm>
            <a:off x="5143320" y="6067080"/>
            <a:ext cx="1905480" cy="29160"/>
          </a:xfrm>
          <a:custGeom>
            <a:avLst/>
            <a:gdLst/>
            <a:ahLst/>
            <a:cxnLst/>
            <a:rect l="0" t="0" r="r" b="b"/>
            <a:pathLst>
              <a:path w="5293" h="81">
                <a:moveTo>
                  <a:pt x="0" y="0"/>
                </a:moveTo>
                <a:lnTo>
                  <a:pt x="5293" y="0"/>
                </a:lnTo>
                <a:lnTo>
                  <a:pt x="52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A775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8" name="TextBox 557"/>
          <p:cNvSpPr txBox="1"/>
          <p:nvPr/>
        </p:nvSpPr>
        <p:spPr>
          <a:xfrm>
            <a:off x="11461680" y="6178680"/>
            <a:ext cx="159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999999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20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4070880" y="2609640"/>
            <a:ext cx="3933360" cy="101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Thank You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5592960" y="3909960"/>
            <a:ext cx="1006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666666"/>
                </a:solidFill>
                <a:effectLst/>
                <a:uFillTx/>
                <a:latin typeface="Times New Roman" panose="02020603050405020304" charset="0"/>
                <a:ea typeface="CrimsonPro"/>
                <a:cs typeface="Times New Roman" panose="02020603050405020304" charset="0"/>
              </a:rPr>
              <a:t>Questions?</a:t>
            </a:r>
          </a:p>
        </p:txBody>
      </p:sp>
      <p:sp>
        <p:nvSpPr>
          <p:cNvPr id="2" name="Rectangle 1"/>
          <p:cNvSpPr/>
          <p:nvPr/>
        </p:nvSpPr>
        <p:spPr>
          <a:xfrm>
            <a:off x="437882" y="5653825"/>
            <a:ext cx="3632998" cy="3219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latin typeface="Times New Roman" panose="02020603050405020304" charset="0"/>
                <a:cs typeface="Times New Roman" panose="02020603050405020304" charset="0"/>
              </a:rPr>
              <a:t>Members: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60787401574805,&quot;left&quot;:44.98582677165354,&quot;top&quot;:141.73228346456693,&quot;width&quot;:502.3559055118111}"/>
</p:tagLst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1786</Words>
  <Application>Microsoft Macintosh PowerPoint</Application>
  <PresentationFormat>Widescreen</PresentationFormat>
  <Paragraphs>323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CrimsonPro</vt:lpstr>
      <vt:lpstr>DejaVu Sans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Office User</cp:lastModifiedBy>
  <cp:revision>18</cp:revision>
  <dcterms:created xsi:type="dcterms:W3CDTF">2025-12-09T23:55:29Z</dcterms:created>
  <dcterms:modified xsi:type="dcterms:W3CDTF">2025-12-10T10:05:59Z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9759B322880D4787866514C5EC3922F8_12</vt:lpwstr>
  </property>
  <property fmtid="{D5CDD505-2E9C-101B-9397-08002B2CF9AE}" pid="3" name="KSOProductBuildVer">
    <vt:lpwstr>2057-12.2.0.23155</vt:lpwstr>
  </property>
</Properties>
</file>